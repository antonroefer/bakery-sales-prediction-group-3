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7.xml" ContentType="application/vnd.openxmlformats-officedocument.presentationml.notesSlide+xml"/>
  <Override PartName="/ppt/ink/ink3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6"/>
  </p:notesMasterIdLst>
  <p:sldIdLst>
    <p:sldId id="256" r:id="rId2"/>
    <p:sldId id="273" r:id="rId3"/>
    <p:sldId id="277" r:id="rId4"/>
    <p:sldId id="271" r:id="rId5"/>
    <p:sldId id="287" r:id="rId6"/>
    <p:sldId id="278" r:id="rId7"/>
    <p:sldId id="279" r:id="rId8"/>
    <p:sldId id="269" r:id="rId9"/>
    <p:sldId id="260" r:id="rId10"/>
    <p:sldId id="283" r:id="rId11"/>
    <p:sldId id="284" r:id="rId12"/>
    <p:sldId id="285" r:id="rId13"/>
    <p:sldId id="275" r:id="rId14"/>
    <p:sldId id="282" r:id="rId15"/>
    <p:sldId id="280" r:id="rId16"/>
    <p:sldId id="267" r:id="rId17"/>
    <p:sldId id="274" r:id="rId18"/>
    <p:sldId id="268" r:id="rId19"/>
    <p:sldId id="266" r:id="rId20"/>
    <p:sldId id="263" r:id="rId21"/>
    <p:sldId id="264" r:id="rId22"/>
    <p:sldId id="265" r:id="rId23"/>
    <p:sldId id="262" r:id="rId24"/>
    <p:sldId id="286" r:id="rId2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7" autoAdjust="0"/>
    <p:restoredTop sz="72409" autoAdjust="0"/>
  </p:normalViewPr>
  <p:slideViewPr>
    <p:cSldViewPr snapToGrid="0">
      <p:cViewPr>
        <p:scale>
          <a:sx n="33" d="100"/>
          <a:sy n="33" d="100"/>
        </p:scale>
        <p:origin x="1992" y="26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02/07/2025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photos thing is just a suggestion, </a:t>
            </a:r>
            <a:r>
              <a:rPr lang="en-US" dirty="0" err="1"/>
              <a:t>i</a:t>
            </a:r>
            <a:r>
              <a:rPr lang="en-US" dirty="0"/>
              <a:t> find it good idea since people from online never saw us, but I understand if you don’t like it. (stole your linked in photo for that lol)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the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footer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last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will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 In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inconsistencies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Though it’s nice to have this in the background when one is talking about the project in general, as a smooth transition to the next slide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Consumer Price Index (CPI) is a measure of the average change over time in the prices paid by consumers for a representative basket of consumer goods and services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6  season  - 0/1 variable from late Oct till late Dec</a:t>
            </a:r>
          </a:p>
          <a:p>
            <a:endParaRPr lang="en-GB" dirty="0"/>
          </a:p>
          <a:p>
            <a:r>
              <a:rPr lang="en-GB" dirty="0"/>
              <a:t>The 4 last of the </a:t>
            </a:r>
            <a:r>
              <a:rPr lang="en-GB" dirty="0" err="1"/>
              <a:t>givem</a:t>
            </a:r>
            <a:r>
              <a:rPr lang="en-GB" dirty="0"/>
              <a:t> were not initially made, I made them later while struggling to predict Group 6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7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B7AE-DCA0-C088-FA18-C941AC042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A508A-C9E2-6317-0313-B7D9B3E241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444DD-79C8-9EC0-30B1-0AE0D83A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Made several so we can choose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11FBC-1B5B-E39E-006F-B274AD735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031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to be added: Model details + </a:t>
            </a:r>
            <a:r>
              <a:rPr lang="en-US" dirty="0" err="1"/>
              <a:t>Hyperparams</a:t>
            </a:r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photos thing is just a suggestion, </a:t>
            </a:r>
            <a:r>
              <a:rPr lang="en-US" dirty="0" err="1"/>
              <a:t>i</a:t>
            </a:r>
            <a:r>
              <a:rPr lang="en-US" dirty="0"/>
              <a:t> find it good idea since people from online never saw us, but I understand if you don’t like it. (stole your linked in photo for that lol)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the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footer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last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will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 In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inconsistencies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E60D-B047-017F-1CC1-F6F8A2BCB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2BA61-FDF9-030A-F8DD-497EAE2C1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5209-BE17-2121-CBC6-5B90040C7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05A4A-660C-345E-B643-28CC68E0E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578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02.07.2025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02.07.2025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02.07.2025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02.07.2025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02.07.2025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02.07.2025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02.07.2025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0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537857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Advent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BCD2A-18DC-3E97-67D9-91008E963526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9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4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C3C5-6EFD-1B97-9AAA-CF5B412BEA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299683-6A2E-9766-C092-9F38A873A9E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4469D7-0090-1FCF-6B44-1C04D1D9F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4" y="2714324"/>
            <a:ext cx="5229022" cy="311943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DD2F842-E89B-1B52-F36F-3706BB779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77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E7B0D-EF2E-FEDD-F1E2-6440161D3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F2A1-9367-240D-9693-174005C6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6EF36-5AB5-BD61-139A-5291CC7A3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DF633-6812-8C55-E3F4-025DC1E19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868E9-8533-9A2A-29CA-130A8F95F610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3B71C7A-B971-5E9E-E5F2-720ABA542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262" y="1824036"/>
            <a:ext cx="6597072" cy="43513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5D9625-8304-B8A6-4306-D2881F22B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6120"/>
            <a:ext cx="5069662" cy="251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87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65EC40-4383-E05F-1116-971DFDA7AF0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BC01-A05E-750F-C2DE-497CA9583F5D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9083A-BE9E-C0CF-FE77-0E29A0512F8C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1033C-67BC-9764-3CEC-05688F5CF210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2FAF9E-1FFA-DA77-35CD-2C61E5B0CA7D}"/>
              </a:ext>
            </a:extLst>
          </p:cNvPr>
          <p:cNvSpPr txBox="1"/>
          <p:nvPr/>
        </p:nvSpPr>
        <p:spPr>
          <a:xfrm>
            <a:off x="9739510" y="4378949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5625916-4F74-97B2-CA33-FED8ADFE5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9429" y="3985911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DFB0E2C-9FD8-79D9-69B0-9DF171AE3039}"/>
              </a:ext>
            </a:extLst>
          </p:cNvPr>
          <p:cNvSpPr/>
          <p:nvPr/>
        </p:nvSpPr>
        <p:spPr>
          <a:xfrm>
            <a:off x="9139345" y="184291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sz="2400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F71682-02EA-F19A-3E6C-75AA394FC281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ED84A-8214-F476-2F15-1D9828652E0C}"/>
              </a:ext>
            </a:extLst>
          </p:cNvPr>
          <p:cNvSpPr txBox="1"/>
          <p:nvPr/>
        </p:nvSpPr>
        <p:spPr>
          <a:xfrm>
            <a:off x="3245824" y="1922363"/>
            <a:ext cx="4716147" cy="305635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Paste code here: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>
              <a:lnSpc>
                <a:spcPts val="1425"/>
              </a:lnSpc>
              <a:buNone/>
            </a:pPr>
            <a:endParaRPr lang="en-GB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90E0F4-DC7B-FB01-B08C-F930D3D2B032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62B335-4EB5-7EF3-EAB4-4A7EF923E377}"/>
              </a:ext>
            </a:extLst>
          </p:cNvPr>
          <p:cNvSpPr/>
          <p:nvPr/>
        </p:nvSpPr>
        <p:spPr>
          <a:xfrm>
            <a:off x="3223067" y="1614930"/>
            <a:ext cx="5914664" cy="444389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Loss plot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42BF3-911B-A19B-2353-A151027BAD55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4E986F-5C86-F6CB-4D08-9708A6683000}"/>
              </a:ext>
            </a:extLst>
          </p:cNvPr>
          <p:cNvSpPr/>
          <p:nvPr/>
        </p:nvSpPr>
        <p:spPr>
          <a:xfrm>
            <a:off x="5410565" y="1775931"/>
            <a:ext cx="5914664" cy="444389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MAPEs per prod group + </a:t>
            </a:r>
          </a:p>
          <a:p>
            <a:pPr algn="ctr"/>
            <a:r>
              <a:rPr lang="en-US" dirty="0"/>
              <a:t>real vs predicted data for validation dataset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8E0325-FA2E-8937-2771-8B89B3D9E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93373"/>
              </p:ext>
            </p:extLst>
          </p:nvPr>
        </p:nvGraphicFramePr>
        <p:xfrm>
          <a:off x="838200" y="2642838"/>
          <a:ext cx="3264465" cy="231259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47584">
                  <a:extLst>
                    <a:ext uri="{9D8B030D-6E8A-4147-A177-3AD203B41FA5}">
                      <a16:colId xmlns:a16="http://schemas.microsoft.com/office/drawing/2014/main" val="241538181"/>
                    </a:ext>
                  </a:extLst>
                </a:gridCol>
                <a:gridCol w="1516881">
                  <a:extLst>
                    <a:ext uri="{9D8B030D-6E8A-4147-A177-3AD203B41FA5}">
                      <a16:colId xmlns:a16="http://schemas.microsoft.com/office/drawing/2014/main" val="1421997003"/>
                    </a:ext>
                  </a:extLst>
                </a:gridCol>
              </a:tblGrid>
              <a:tr h="4125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MAPE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46026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6522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336285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0930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154091"/>
                  </a:ext>
                </a:extLst>
              </a:tr>
              <a:tr h="28319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51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 Predict Group 6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Biggest Improvement: Removing variables, simplifying the model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D92427E-BECE-FD08-4379-58F3CDFB7E67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Challenges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175437-8C7C-BB7F-11BE-9634A9F03D77}"/>
              </a:ext>
            </a:extLst>
          </p:cNvPr>
          <p:cNvGrpSpPr/>
          <p:nvPr/>
        </p:nvGrpSpPr>
        <p:grpSpPr>
          <a:xfrm>
            <a:off x="9097729" y="1177488"/>
            <a:ext cx="1595548" cy="1756414"/>
            <a:chOff x="5966837" y="4599935"/>
            <a:chExt cx="1595548" cy="175641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6D9126-266E-3DB6-1D11-ECE38E8A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95"/>
            <a:stretch>
              <a:fillRect/>
            </a:stretch>
          </p:blipFill>
          <p:spPr>
            <a:xfrm>
              <a:off x="5966837" y="4894728"/>
              <a:ext cx="1595548" cy="146162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F0E0502-D00B-2C08-CA98-AAB364AFDD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5708" y="4599935"/>
              <a:ext cx="737806" cy="2861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3B43-3D6D-3AE0-F5E9-98AFED55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642" y="2766218"/>
            <a:ext cx="10515600" cy="1325563"/>
          </a:xfrm>
        </p:spPr>
        <p:txBody>
          <a:bodyPr/>
          <a:lstStyle/>
          <a:p>
            <a:r>
              <a:rPr lang="en-US" dirty="0"/>
              <a:t>AFTER THIS SLIDE ALL THE UNUSED SLIDES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2FF45-92F5-0725-AFA6-3D55E0F6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75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 – option 1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17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-1297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4F7B3-7E84-BDB7-EE3A-B17750D62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CE0A70-2ABA-2EA3-66C5-4004AAA2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9B9EAB-729B-286E-841D-270974CDD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24</a:t>
            </a:fld>
            <a:endParaRPr lang="de-D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95C1F2-6B30-2F7A-2778-93CE3CD56B4A}"/>
              </a:ext>
            </a:extLst>
          </p:cNvPr>
          <p:cNvSpPr txBox="1"/>
          <p:nvPr/>
        </p:nvSpPr>
        <p:spPr>
          <a:xfrm>
            <a:off x="10152105" y="4233003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847370-ACF1-23B8-CEEC-E23AFA3FB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2024" y="3839965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2CA44A45-087A-C3C2-2F29-FDA950B19C98}"/>
              </a:ext>
            </a:extLst>
          </p:cNvPr>
          <p:cNvGrpSpPr/>
          <p:nvPr/>
        </p:nvGrpSpPr>
        <p:grpSpPr>
          <a:xfrm>
            <a:off x="3071962" y="1900172"/>
            <a:ext cx="6694805" cy="3425895"/>
            <a:chOff x="2058288" y="1690688"/>
            <a:chExt cx="6694805" cy="34258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33F92DB-B4B3-6464-9CD4-B65592C22CEA}"/>
                </a:ext>
              </a:extLst>
            </p:cNvPr>
            <p:cNvSpPr txBox="1"/>
            <p:nvPr/>
          </p:nvSpPr>
          <p:spPr>
            <a:xfrm>
              <a:off x="2058288" y="4680283"/>
              <a:ext cx="15079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Input Layer</a:t>
              </a:r>
              <a:endParaRPr lang="en-GB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13096-728C-D0D0-6365-4D06BEE23123}"/>
                </a:ext>
              </a:extLst>
            </p:cNvPr>
            <p:cNvSpPr txBox="1"/>
            <p:nvPr/>
          </p:nvSpPr>
          <p:spPr>
            <a:xfrm>
              <a:off x="4448910" y="4734732"/>
              <a:ext cx="1905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Hidden Layers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088378-9253-79E8-0EE5-53520AD1447D}"/>
                </a:ext>
              </a:extLst>
            </p:cNvPr>
            <p:cNvSpPr txBox="1"/>
            <p:nvPr/>
          </p:nvSpPr>
          <p:spPr>
            <a:xfrm>
              <a:off x="6931654" y="4747251"/>
              <a:ext cx="1821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Output Layer</a:t>
              </a:r>
              <a:endParaRPr lang="en-GB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BDEA889-EEB6-9B48-CC68-CDB7B6A3F6EB}"/>
                </a:ext>
              </a:extLst>
            </p:cNvPr>
            <p:cNvSpPr/>
            <p:nvPr/>
          </p:nvSpPr>
          <p:spPr>
            <a:xfrm>
              <a:off x="7291135" y="2177716"/>
              <a:ext cx="1050757" cy="250256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923FBCA-5D58-5EF5-9D30-BCE8F455DF56}"/>
                </a:ext>
              </a:extLst>
            </p:cNvPr>
            <p:cNvGrpSpPr/>
            <p:nvPr/>
          </p:nvGrpSpPr>
          <p:grpSpPr>
            <a:xfrm>
              <a:off x="2379133" y="2305550"/>
              <a:ext cx="866273" cy="1648872"/>
              <a:chOff x="1766256" y="2357642"/>
              <a:chExt cx="866273" cy="164887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3061EA9-C787-4181-650A-EEFD172A41E1}"/>
                  </a:ext>
                </a:extLst>
              </p:cNvPr>
              <p:cNvSpPr/>
              <p:nvPr/>
            </p:nvSpPr>
            <p:spPr>
              <a:xfrm>
                <a:off x="1766256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E7341E-6507-1310-04A4-F3A16DA1B026}"/>
                  </a:ext>
                </a:extLst>
              </p:cNvPr>
              <p:cNvSpPr txBox="1"/>
              <p:nvPr/>
            </p:nvSpPr>
            <p:spPr>
              <a:xfrm>
                <a:off x="1980817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97B4C84-D3AF-6BD7-C794-550C32EFB3E6}"/>
                </a:ext>
              </a:extLst>
            </p:cNvPr>
            <p:cNvGrpSpPr/>
            <p:nvPr/>
          </p:nvGrpSpPr>
          <p:grpSpPr>
            <a:xfrm>
              <a:off x="3376863" y="1690688"/>
              <a:ext cx="1050758" cy="2989596"/>
              <a:chOff x="3376863" y="1690688"/>
              <a:chExt cx="1050758" cy="298959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0C766B-C4A1-6C16-BB67-22B0344A12E6}"/>
                  </a:ext>
                </a:extLst>
              </p:cNvPr>
              <p:cNvSpPr/>
              <p:nvPr/>
            </p:nvSpPr>
            <p:spPr>
              <a:xfrm>
                <a:off x="3376864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FAC438F-1331-50AE-818F-FD64636F5AE7}"/>
                  </a:ext>
                </a:extLst>
              </p:cNvPr>
              <p:cNvSpPr/>
              <p:nvPr/>
            </p:nvSpPr>
            <p:spPr>
              <a:xfrm>
                <a:off x="3376863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212044-FC3C-455B-A6AD-B48C1BEE026F}"/>
                  </a:ext>
                </a:extLst>
              </p:cNvPr>
              <p:cNvSpPr txBox="1"/>
              <p:nvPr/>
            </p:nvSpPr>
            <p:spPr>
              <a:xfrm>
                <a:off x="3603531" y="1690688"/>
                <a:ext cx="564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128</a:t>
                </a:r>
                <a:endParaRPr lang="en-GB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681D48A-3D3F-4F47-D619-545381DC7DAB}"/>
                </a:ext>
              </a:extLst>
            </p:cNvPr>
            <p:cNvGrpSpPr/>
            <p:nvPr/>
          </p:nvGrpSpPr>
          <p:grpSpPr>
            <a:xfrm>
              <a:off x="4608096" y="1705855"/>
              <a:ext cx="1050758" cy="2988893"/>
              <a:chOff x="5333999" y="1691391"/>
              <a:chExt cx="1050758" cy="298889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BF72721-3F6C-8728-1351-3E4093F51F5B}"/>
                  </a:ext>
                </a:extLst>
              </p:cNvPr>
              <p:cNvSpPr/>
              <p:nvPr/>
            </p:nvSpPr>
            <p:spPr>
              <a:xfrm>
                <a:off x="5334000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BCB588-1A2E-013A-BC93-AB356B50A8A1}"/>
                  </a:ext>
                </a:extLst>
              </p:cNvPr>
              <p:cNvSpPr/>
              <p:nvPr/>
            </p:nvSpPr>
            <p:spPr>
              <a:xfrm>
                <a:off x="5333999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E1A0C7-456B-847A-CC98-BE791AB5FBDA}"/>
                  </a:ext>
                </a:extLst>
              </p:cNvPr>
              <p:cNvSpPr txBox="1"/>
              <p:nvPr/>
            </p:nvSpPr>
            <p:spPr>
              <a:xfrm>
                <a:off x="5572688" y="1691391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64</a:t>
                </a:r>
                <a:endParaRPr lang="en-GB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3C09D6-7B79-2EDC-894C-0DD68A67B8DC}"/>
                </a:ext>
              </a:extLst>
            </p:cNvPr>
            <p:cNvGrpSpPr/>
            <p:nvPr/>
          </p:nvGrpSpPr>
          <p:grpSpPr>
            <a:xfrm>
              <a:off x="5880897" y="1690688"/>
              <a:ext cx="1050757" cy="2989595"/>
              <a:chOff x="7291136" y="1690688"/>
              <a:chExt cx="1050757" cy="298959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B25965-5B7A-D31B-B068-CFD89BD770D2}"/>
                  </a:ext>
                </a:extLst>
              </p:cNvPr>
              <p:cNvSpPr/>
              <p:nvPr/>
            </p:nvSpPr>
            <p:spPr>
              <a:xfrm>
                <a:off x="7291136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41B708B-3EB1-84B3-CCA7-DF33128B16C0}"/>
                  </a:ext>
                </a:extLst>
              </p:cNvPr>
              <p:cNvSpPr txBox="1"/>
              <p:nvPr/>
            </p:nvSpPr>
            <p:spPr>
              <a:xfrm>
                <a:off x="7634041" y="1690688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32</a:t>
                </a:r>
                <a:endParaRPr lang="en-GB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35CA1E-719D-2CF3-9AA9-FC73377CE196}"/>
                </a:ext>
              </a:extLst>
            </p:cNvPr>
            <p:cNvGrpSpPr/>
            <p:nvPr/>
          </p:nvGrpSpPr>
          <p:grpSpPr>
            <a:xfrm>
              <a:off x="7059637" y="2374647"/>
              <a:ext cx="866273" cy="1648872"/>
              <a:chOff x="1372715" y="2357642"/>
              <a:chExt cx="866273" cy="1648872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637D48E-57A3-4816-C433-3DA9E257891A}"/>
                  </a:ext>
                </a:extLst>
              </p:cNvPr>
              <p:cNvSpPr/>
              <p:nvPr/>
            </p:nvSpPr>
            <p:spPr>
              <a:xfrm>
                <a:off x="1372715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ED33CF-85BC-3F7B-B58E-D90BFC0FAF8D}"/>
                  </a:ext>
                </a:extLst>
              </p:cNvPr>
              <p:cNvSpPr txBox="1"/>
              <p:nvPr/>
            </p:nvSpPr>
            <p:spPr>
              <a:xfrm>
                <a:off x="1587276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15ADB37F-5D05-936D-6838-6E0BFBDA6C26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6498C1-B726-968C-45CE-1C366351198D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25AE7-D423-56C9-0A92-A5FFF3B48F4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16F47-98E5-2396-BCC3-0246C5EEB45D}"/>
              </a:ext>
            </a:extLst>
          </p:cNvPr>
          <p:cNvSpPr/>
          <p:nvPr/>
        </p:nvSpPr>
        <p:spPr>
          <a:xfrm>
            <a:off x="9551941" y="204765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CE0876-EABA-CF74-7594-600CE0B3BF8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2230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1564</TotalTime>
  <Words>1019</Words>
  <Application>Microsoft Office PowerPoint</Application>
  <PresentationFormat>Widescreen</PresentationFormat>
  <Paragraphs>205</Paragraphs>
  <Slides>24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Consolas</vt:lpstr>
      <vt:lpstr>Office Theme</vt:lpstr>
      <vt:lpstr>Bakery Sales Prediction</vt:lpstr>
      <vt:lpstr>Goal: to predict sales for 6 bakery product categories</vt:lpstr>
      <vt:lpstr>Additional variables</vt:lpstr>
      <vt:lpstr>Additional variables</vt:lpstr>
      <vt:lpstr>2 Bar charts for 1 variable for each category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</vt:lpstr>
      <vt:lpstr>Challenges</vt:lpstr>
      <vt:lpstr>PowerPoint Presentation</vt:lpstr>
      <vt:lpstr>AFTER THIS SLIDE ALL THE UNUSED SLIDES</vt:lpstr>
      <vt:lpstr>Dealing with missing values – option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Neural Network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9</cp:revision>
  <dcterms:created xsi:type="dcterms:W3CDTF">2025-06-28T09:13:20Z</dcterms:created>
  <dcterms:modified xsi:type="dcterms:W3CDTF">2025-07-03T02:18:18Z</dcterms:modified>
</cp:coreProperties>
</file>