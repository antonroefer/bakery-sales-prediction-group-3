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7.xml" ContentType="application/vnd.openxmlformats-officedocument.presentationml.notesSlide+xml"/>
  <Override PartName="/ppt/ink/ink3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7"/>
  </p:notesMasterIdLst>
  <p:sldIdLst>
    <p:sldId id="256" r:id="rId2"/>
    <p:sldId id="273" r:id="rId3"/>
    <p:sldId id="277" r:id="rId4"/>
    <p:sldId id="271" r:id="rId5"/>
    <p:sldId id="287" r:id="rId6"/>
    <p:sldId id="278" r:id="rId7"/>
    <p:sldId id="279" r:id="rId8"/>
    <p:sldId id="269" r:id="rId9"/>
    <p:sldId id="260" r:id="rId10"/>
    <p:sldId id="283" r:id="rId11"/>
    <p:sldId id="284" r:id="rId12"/>
    <p:sldId id="285" r:id="rId13"/>
    <p:sldId id="275" r:id="rId14"/>
    <p:sldId id="282" r:id="rId15"/>
    <p:sldId id="280" r:id="rId16"/>
    <p:sldId id="267" r:id="rId17"/>
    <p:sldId id="274" r:id="rId18"/>
    <p:sldId id="268" r:id="rId19"/>
    <p:sldId id="266" r:id="rId20"/>
    <p:sldId id="263" r:id="rId21"/>
    <p:sldId id="264" r:id="rId22"/>
    <p:sldId id="265" r:id="rId23"/>
    <p:sldId id="262" r:id="rId24"/>
    <p:sldId id="286" r:id="rId25"/>
    <p:sldId id="288" r:id="rId2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60A9"/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17" autoAdjust="0"/>
    <p:restoredTop sz="91597" autoAdjust="0"/>
  </p:normalViewPr>
  <p:slideViewPr>
    <p:cSldViewPr snapToGrid="0">
      <p:cViewPr>
        <p:scale>
          <a:sx n="49" d="100"/>
          <a:sy n="49" d="100"/>
        </p:scale>
        <p:origin x="1380" y="18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3:32.74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1 664 24575,'1'-36'0,"2"1"0,14-70 0,30-66 0,-44 159 0,19-79 0,-17 63 0,2 0 0,1 0 0,16-38 0,-22 62 0,1-1 0,0 1 0,0 0 0,0 0 0,1 0 0,0 0 0,-1 0 0,1 1 0,1 0 0,-1-1 0,0 2 0,1-1 0,-1 0 0,1 1 0,0 0 0,0 0 0,0 0 0,0 1 0,0 0 0,0 0 0,1 0 0,-1 0 0,0 1 0,0 0 0,1 0 0,-1 1 0,0-1 0,0 1 0,0 0 0,1 0 0,-1 1 0,0 0 0,0 0 0,-1 0 0,1 0 0,0 1 0,-1-1 0,1 1 0,-1 1 0,0-1 0,0 0 0,0 1 0,5 7 0,0 2 0,-1 1 0,0 1 0,-1-1 0,-1 1 0,8 27 0,10 23 0,-15-42 0,0 1 0,-1 0 0,-2 1 0,0-1 0,-2 1 0,0 1 0,-1 40 0,-2-44 0,1 0 0,1 0 0,1-1 0,12 42 0,-2-25 0,33 65 0,-40-89 49,0 1-1,-2 0 1,0 0 0,-1 1-1,0-1 1,2 28 0,-2 94-1514,-5-128 1224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5:06.89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568 1500 24575,'0'-3'0,"1"0"0,0-1 0,0 1 0,0 0 0,0 0 0,0 0 0,1 0 0,-1 0 0,1 0 0,0 0 0,0 1 0,0-1 0,0 0 0,0 1 0,1 0 0,-1-1 0,1 1 0,0 0 0,-1 1 0,7-4 0,5-3 0,0 1 0,28-10 0,-16 9 0,0 1 0,35-4 0,-31 6 0,34-9 0,-60 12 0,1 0 0,-1 0 0,1 0 0,-1 0 0,0-1 0,0 0 0,0 0 0,0 0 0,-1 0 0,1-1 0,-1 1 0,0-1 0,0 0 0,0 0 0,-1 0 0,1-1 0,-1 1 0,0 0 0,0-1 0,-1 1 0,1-1 0,-1 0 0,0 0 0,0 1 0,0-1 0,-1 0 0,0 0 0,0 0 0,0 0 0,-1 0 0,1 1 0,-1-1 0,-2-7 0,2 10 0,0 0 0,0 0 0,0 0 0,-1 0 0,1 0 0,0 0 0,-1 0 0,1 0 0,-1 0 0,0 1 0,0-1 0,0 0 0,0 1 0,0 0 0,0-1 0,0 1 0,0 0 0,0 0 0,0 0 0,-1 1 0,1-1 0,0 0 0,-1 1 0,1 0 0,0-1 0,-3 1 0,1 0 0,0 0 0,0 0 0,0 1 0,0-1 0,1 1 0,-1 0 0,0 0 0,0 0 0,1 0 0,-1 1 0,1 0 0,-1-1 0,1 1 0,0 1 0,-5 3 0,-24 28 0,23-23 0,-1 0 0,-12 10 0,4-4 0,0 0 0,-24 33 0,-6 6 0,33-41 0,3-2 0,0-1 0,-1 0 0,-21 15 0,-26 15 0,29-19 0,-61 34 0,47-39 0,37-16 0,1 0 0,-1 1 0,1 0 0,0 1 0,0 0 0,0 0 0,1 0 0,-1 1 0,-7 7 0,1-1 0,0 1 0,-26 16 0,4-3 0,30-21 0,1 0 0,-1 0 0,1 1 0,1 0 0,-1 0 0,-5 9 0,-12 16 0,-4-4 0,19-20 0,-1 0 0,1 0 0,1 1 0,-1-1 0,1 1 0,0 1 0,1-1 0,-1 1 0,-2 9 0,3-6 0,1 0 0,0 0 0,-2 22 0,5-30 0,-1 0 0,1 1 0,0-1 0,0 0 0,1 0 0,-1 1 0,1-1 0,-1 0 0,1 0 0,0 1 0,0-1 0,0 0 0,1 0 0,-1 0 0,1-1 0,0 1 0,3 5 0,-4-7 0,1-1 0,-1 1 0,0 0 0,0 0 0,1 0 0,-1-1 0,1 1 0,-1-1 0,0 1 0,1-1 0,-1 1 0,1-1 0,-1 0 0,1 0 0,0 0 0,-1 0 0,1 0 0,-1 0 0,1 0 0,-1 0 0,1-1 0,-1 1 0,1-1 0,-1 1 0,0-1 0,1 1 0,-1-1 0,0 0 0,1 0 0,1-1 0,5-4 0,0 0 0,0-1 0,11-12 0,-5 5 0,6-4 0,-1 0 0,0-2 0,-2 0 0,0-1 0,-1-1 0,-2 0 0,21-41 0,-26 42 0,2 1 0,0 0 0,1 1 0,1 0 0,1 0 0,1 2 0,25-26 0,99-102 0,-135 140 0,13-15 0,21-20 0,-33 36 0,-1 0 0,1 0 0,0 0 0,0 1 0,1-1 0,-1 1 0,0 1 0,1-1 0,0 1 0,10-3 0,-15 5 0,1-1 0,-1 1 0,1 0 0,-1 0 0,1 0 0,-1 0 0,0 0 0,1 0 0,-1 0 0,1 1 0,-1-1 0,1 1 0,-1-1 0,0 1 0,1-1 0,-1 1 0,0 0 0,1-1 0,-1 1 0,0 0 0,0 0 0,0 0 0,0 0 0,0 0 0,0 0 0,0 0 0,0 1 0,0-1 0,0 0 0,-1 0 0,1 1 0,-1-1 0,1 0 0,-1 1 0,1-1 0,-1 1 0,0-1 0,1 0 0,-1 1 0,0 1 0,1 7 0,-1-1 0,0 1 0,-1 0 0,-2 15 0,3-24 0,-2 8 0,-1 0 0,1 0 0,-2 0 0,1 0 0,-1-1 0,0 1 0,-1-1 0,-7 9 0,-52 62 0,24-31 0,2-1 0,-62 83 0,95-121 0,1-1 0,0 1 0,-4 10 0,7-14 0,-1 1 0,0-1 0,0 0 0,0 0 0,-1-1 0,0 1 0,0 0 0,0-1 0,0 0 0,-1 0 0,-7 7 0,10-10 0,0 0 0,0-1 0,0 1 0,0-1 0,0 0 0,1 1 0,-1-1 0,0 0 0,0 1 0,0-1 0,0 0 0,0 0 0,-1 0 0,1 0 0,0 0 0,0 0 0,0 0 0,0 0 0,0-1 0,0 1 0,0 0 0,0 0 0,0-1 0,1 1 0,-1-1 0,0 1 0,0-1 0,0 1 0,0-1 0,0 0 0,1 1 0,-1-1 0,0 0 0,1 0 0,-2-1 0,-2-3 0,0-1 0,1 0 0,-1 0 0,-3-10 0,1 3 0,-6-15 0,0 0 0,2-1 0,1 0 0,1-1 0,1 0 0,-3-50 0,6-188 0,6 157 0,-3 47 0,4 0 0,20-118 0,-17 160 0,1-1 0,1 2 0,1-1 0,1 1 0,1 1 0,22-34 0,-21 36 0,-2-1 0,0 0 0,12-36 0,13-64 0,-22 69 0,-4 17 17,52-207 303,-50 186-888,-2 0 1,2-82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3:32.74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1 664 24575,'1'-36'0,"2"1"0,14-70 0,30-66 0,-44 159 0,19-79 0,-17 63 0,2 0 0,1 0 0,16-38 0,-22 62 0,1-1 0,0 1 0,0 0 0,0 0 0,1 0 0,0 0 0,-1 0 0,1 1 0,1 0 0,-1-1 0,0 2 0,1-1 0,-1 0 0,1 1 0,0 0 0,0 0 0,0 0 0,0 1 0,0 0 0,0 0 0,1 0 0,-1 0 0,0 1 0,0 0 0,1 0 0,-1 1 0,0-1 0,0 1 0,0 0 0,1 0 0,-1 1 0,0 0 0,0 0 0,-1 0 0,1 0 0,0 1 0,-1-1 0,1 1 0,-1 1 0,0-1 0,0 0 0,0 1 0,5 7 0,0 2 0,-1 1 0,0 1 0,-1-1 0,-1 1 0,8 27 0,10 23 0,-15-42 0,0 1 0,-1 0 0,-2 1 0,0-1 0,-2 1 0,0 1 0,-1 40 0,-2-44 0,1 0 0,1 0 0,1-1 0,12 42 0,-2-25 0,33 65 0,-40-89 49,0 1-1,-2 0 1,0 0 0,-1 1-1,0-1 1,2 28 0,-2 94-1514,-5-128 1224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02BB35-AE6A-4528-8F32-D1F8A7B871D9}" type="datetimeFigureOut">
              <a:rPr lang="en-GB" smtClean="0"/>
              <a:t>03/07/2025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9340A9-5F99-47E5-A3AD-FD228EA849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05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28977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96166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856F8-5CD8-F8B6-9BD7-F33DF2041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EED72-A4E3-AA28-778E-36E3BCBA42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F33CED-9617-5AAB-0799-102A08F87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Consumer Price Index (CPI) is a measure of the average change over time in the prices paid by consumers for a representative basket of consumer goods and services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6  season  - 0/1 variable from late Oct till late Dec</a:t>
            </a:r>
          </a:p>
          <a:p>
            <a:endParaRPr lang="en-GB" dirty="0"/>
          </a:p>
          <a:p>
            <a:r>
              <a:rPr lang="en-GB" dirty="0"/>
              <a:t>The 4 last of the given were not initially made, I made them later while struggling to predict Group 6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624C15-78B6-8561-FE72-DA1CFC9D6D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19790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 score 2= December 1= November 0=anything else 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data.drop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(columns=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cols_to_remove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pandas as pd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seaborn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matplotlib.pyplot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Assuming your data is in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called 'data'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Melt data to have all groups in one plot for Silvester variable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[]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range(1, 7):  # Assuming 6 groups like your example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Filter data for current group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data[data[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f'Warengruppe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}'] == 1].copy()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Select relevant columns including Silvester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Adjust column names based on your actual data structure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melted_data.append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[['Silvester',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']])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Combine all group data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pd.concat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ignore_index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=True)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=(12, 8))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grouped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x='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hue='Silvester',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ci=95,  # 95% confidence interval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# Cap size for error bars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errwidth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=2)   # Width of error bars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by Product Group and New Year\'s Eve',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('Product Group',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plt.legend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(title='Silvester',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bbox_to_anchor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=(1.05, 1), loc='upper left')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Rotate x-axis labels if needed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Display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97427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8B7AE-DCA0-C088-FA18-C941AC042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2A508A-C9E2-6317-0313-B7D9B3E241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B444DD-79C8-9EC0-30B1-0AE0D83AB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Made several so we can choose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11FBC-1B5B-E39E-006F-B274AD735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70316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62BA-275E-ED3C-503B-602DB2EB9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81780-0695-C625-C9A1-6B6BB6400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313C76-CA38-E115-C0FB-070596656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</a:t>
            </a:r>
            <a:endParaRPr lang="el-GR" dirty="0"/>
          </a:p>
          <a:p>
            <a:endParaRPr lang="el-GR" dirty="0"/>
          </a:p>
          <a:p>
            <a:r>
              <a:rPr lang="en-US" dirty="0"/>
              <a:t>Suggestion is to keep only the missing values columns we worked on  and next to talk about wetter code </a:t>
            </a:r>
          </a:p>
          <a:p>
            <a:endParaRPr lang="en-US" dirty="0"/>
          </a:p>
          <a:p>
            <a:r>
              <a:rPr lang="en-US" dirty="0"/>
              <a:t>Prev slides saved in the end of the presentation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B1627-4A9C-B930-A008-40DA8CDB95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82708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6DA3C-7F4B-A86D-DEF4-340963E8A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86EDDE-05C4-D394-BDDC-5FECD21152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3AA61B-3DB8-2898-1177-E099909480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 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228FF-C3FB-82A6-7644-2DF9CB6CE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96394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(initial) dataset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4911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were normalized before entering the model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28627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3060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A59C-214E-3CE4-25F6-24FD5D270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AA0A43-913C-D15D-CAFA-9AA2BC5F3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A6CD0E-87C3-83FC-092B-F5B4E2239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9B197-3FD5-5FAF-46EB-BB71A17F5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72677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 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1628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D4BE6-5076-F4CC-4380-200C52174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87C50-F6AC-DBD0-504D-6644E03F6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9B0657-7A19-BB53-C960-5BB6C3C23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 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43FD0-5253-3770-56C4-FFDF19AB27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27489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sure if we need a whole slide about it, what do you think about it popping in and out of the slide with the full dataset?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91850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EE60D-B047-017F-1CC1-F6F8A2BCB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12BA61-FDF9-030A-F8DD-497EAE2C14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BC5209-BE17-2121-CBC6-5B90040C7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105A4A-660C-345E-B643-28CC68E0E8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0578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3A2FB-7B54-F24F-6B88-D45735426C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DEA4-F72C-6897-4521-D6EAB1BC5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D2AEB-8776-1402-1F5F-5E744C31D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F1CC-ABF1-4C16-BBB2-7CC8083DBD41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D83C00-33BA-1ABD-75EA-E819FE341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A5E78-1034-3619-9391-70CA48C0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0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46B21-CE45-0D46-AFE3-79E3E5B72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89DCF-2B5F-B299-DBA1-6E8DA05A8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49839-AE28-AA6A-A504-B8764F5CB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9A6BA-2653-433C-BA9E-57AD9EE3A712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836CE-BDD9-2ED3-2B89-AEF26313A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28BF0-A96D-93BE-3882-AE032734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3225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85667-0B0D-B9E6-1969-69225C29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E13A3-D678-5246-5DB9-67DCC0DFD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DDEB-61E2-C5FB-D3A2-9C30CD890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226A6-5467-47C4-B46A-D1C4752B6C50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CB505-175A-72AD-9EDB-1B2764C31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58C09-3197-1BC6-A73B-93718CDD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238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BC866-0963-7F17-2DCB-6A2AA433E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C8175-79DB-C56A-CD77-A062CCD732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B7B6D0-EDB4-58A7-A71E-6F540E423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976942-E221-87FC-8600-005112E8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D014D-DF7A-4A17-BE70-CBDCCD05F312}" type="datetime1">
              <a:rPr lang="de-DE" smtClean="0"/>
              <a:t>03.07.2025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3A49A-9F2E-8A8D-22E4-0C9740563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DE499-46D0-A794-5D6E-67AEAF60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528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91101-CB46-BA65-DA47-28FB466B7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2478A4-C4A8-20DA-DB09-6B97098E1C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7D7718-A1CD-4D0E-3635-095129B10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751E9A-E2F8-45BC-B59C-BCE7375FEA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702472-2E17-14F9-5B01-679633B921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0A6722-0515-72CF-891D-58D2C406F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58879-59D9-4DFD-ACCE-8F9DA76AC11D}" type="datetime1">
              <a:rPr lang="de-DE" smtClean="0"/>
              <a:t>03.07.2025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959112-E2DF-4694-186B-DD6790A15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5838F4-E07F-3FA7-9544-32DEF452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9717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E07E1-D69E-0030-1965-A9912445F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C1CF2-8B6A-FEE8-FF2D-ACF53C355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68223-0355-4A47-87D8-E56CD5791C42}" type="datetime1">
              <a:rPr lang="de-DE" smtClean="0"/>
              <a:t>03.07.2025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B55EBE-5C7A-4634-DF58-83DDBA5A9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C150F-F995-23DB-7249-8BF2AC039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4120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F8939D-9E67-9F19-8158-42A04A59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8DA-2725-48DA-8CAB-E21C779E0A52}" type="datetime1">
              <a:rPr lang="de-DE" smtClean="0"/>
              <a:t>03.07.2025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EDC254-EBDA-4966-46ED-78DD13733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85E6E-619C-35F5-FB80-2AFD82506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998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B8F4C-7F9F-D7FB-005A-68B0B23C6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DD27E-1764-0D7E-DFB3-8F5B5601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D53F77-6A23-1BCA-C7AC-E55EF3D416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DA56A1-37E3-7252-0650-C7397F41F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DFF235-647B-4139-A6C7-FD3E9D31CB9A}" type="datetime1">
              <a:rPr lang="de-DE" smtClean="0"/>
              <a:t>03.07.2025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60EA3-FD08-06B2-7BCC-D9BF590DF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88CD5-5F29-58C3-10AB-7EEC817ED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692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88F22-89DC-1E38-3634-F87F50161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1A75F-7FEA-5A52-5607-25872F667B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72322E-BD5C-AA1F-C482-AF052F98A3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305227-BC7E-6B03-B00C-648DB79EC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839DE-6FAF-4E43-BF2D-2423A301DC2E}" type="datetime1">
              <a:rPr lang="de-DE" smtClean="0"/>
              <a:t>03.07.2025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FC2D4-5494-48CE-AA38-077C537B1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382BC5-9637-C944-9499-322229CD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9659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ED6A1-697E-11BA-EFB1-C0AB7CCC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D1F21F-ECC5-5F46-5611-19C8CCAE6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F0B46-AF2E-FE51-71F7-2CA5ED66E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46073-F360-4B03-9A78-9F6E24BF38BF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4CA1E-EAFD-631C-3A89-289919284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9AF63-1A23-FCB1-2B9D-DD64C9D53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719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622714-D201-DEE1-73CA-08AAB521A1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81EAFE-9EBD-2151-C303-754CD1BE20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090B9-E52A-AC88-C95B-6D558F0C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47668-F355-4DBF-B716-42DB1C64DFB7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779B4-E2D4-4868-AE8E-236E94CCD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6A677-BBC7-1E3D-01BF-433D165B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720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2B0337-54D4-2915-8075-016A11098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BA36B3-0D68-F688-3A2A-9FD9F4FC2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8077C-320F-1A59-1AA4-7C2DAC35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0A0AA2-7FF6-400D-97F4-AF38EF94CB43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02414-A2AD-140E-E1F8-A2C906A59A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37F22-BA21-A18F-6B5A-D08977035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31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61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0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2.xml"/><Relationship Id="rId5" Type="http://schemas.openxmlformats.org/officeDocument/2006/relationships/image" Target="../media/image70.png"/><Relationship Id="rId4" Type="http://schemas.openxmlformats.org/officeDocument/2006/relationships/customXml" Target="../ink/ink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4" name="Picture 20" descr="illustration in cartoon style. brezel with salt. on a white background.  11153303 PNG">
            <a:extLst>
              <a:ext uri="{FF2B5EF4-FFF2-40B4-BE49-F238E27FC236}">
                <a16:creationId xmlns:a16="http://schemas.microsoft.com/office/drawing/2014/main" id="{D19955E8-8EDA-1402-9EED-D1126852B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679676">
            <a:off x="7726690" y="3497834"/>
            <a:ext cx="1258333" cy="1237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simplicity croissant bread freehand continuous line drawing 13643870 PNG">
            <a:extLst>
              <a:ext uri="{FF2B5EF4-FFF2-40B4-BE49-F238E27FC236}">
                <a16:creationId xmlns:a16="http://schemas.microsoft.com/office/drawing/2014/main" id="{B3DC8308-9CEA-617F-FD27-04657563CA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3200">
            <a:off x="4592105" y="4009121"/>
            <a:ext cx="1609200" cy="1270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989A6D-E7A9-3A11-8D56-AD01986116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23050"/>
            <a:ext cx="9144000" cy="2387600"/>
          </a:xfrm>
        </p:spPr>
        <p:txBody>
          <a:bodyPr>
            <a:normAutofit/>
          </a:bodyPr>
          <a:lstStyle/>
          <a:p>
            <a:r>
              <a:rPr lang="en-GB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Bakery Sales Prediction</a:t>
            </a:r>
            <a:endParaRPr lang="de-DE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23E5C8-4847-18A4-FBCF-D0E62F56B550}"/>
              </a:ext>
            </a:extLst>
          </p:cNvPr>
          <p:cNvSpPr txBox="1"/>
          <p:nvPr/>
        </p:nvSpPr>
        <p:spPr>
          <a:xfrm>
            <a:off x="2505307" y="1452205"/>
            <a:ext cx="71813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Introduction to Data Science and Machine Learning</a:t>
            </a:r>
          </a:p>
          <a:p>
            <a:endParaRPr lang="en-GB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A1E64F4-AF6D-8E07-F5EB-730E7DE8D301}"/>
              </a:ext>
            </a:extLst>
          </p:cNvPr>
          <p:cNvSpPr/>
          <p:nvPr/>
        </p:nvSpPr>
        <p:spPr>
          <a:xfrm>
            <a:off x="4221270" y="3818022"/>
            <a:ext cx="1127343" cy="1093344"/>
          </a:xfrm>
          <a:prstGeom prst="ellipse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D1A099-B2B7-0C7E-C6D3-F474F283BF42}"/>
              </a:ext>
            </a:extLst>
          </p:cNvPr>
          <p:cNvSpPr/>
          <p:nvPr/>
        </p:nvSpPr>
        <p:spPr>
          <a:xfrm>
            <a:off x="7177405" y="3859215"/>
            <a:ext cx="1127343" cy="1093344"/>
          </a:xfrm>
          <a:prstGeom prst="ellipse">
            <a:avLst/>
          </a:prstGeom>
          <a:blipFill dpi="0" rotWithShape="1">
            <a:blip r:embed="rId6"/>
            <a:srcRect/>
            <a:stretch>
              <a:fillRect t="-1000" r="-1000" b="-1000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DB8F9E-5BC6-9219-ED43-781B6F6A3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1230" y="5286789"/>
            <a:ext cx="9144000" cy="426848"/>
          </a:xfrm>
        </p:spPr>
        <p:txBody>
          <a:bodyPr/>
          <a:lstStyle/>
          <a:p>
            <a:r>
              <a:rPr lang="de-DE" dirty="0"/>
              <a:t>Georgia Avgerinou                Anton R</a:t>
            </a:r>
            <a:r>
              <a:rPr lang="en-GB" dirty="0"/>
              <a:t>öfer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CD3132-F2CC-EE39-909D-5E59C66B426E}"/>
              </a:ext>
            </a:extLst>
          </p:cNvPr>
          <p:cNvSpPr txBox="1"/>
          <p:nvPr/>
        </p:nvSpPr>
        <p:spPr>
          <a:xfrm>
            <a:off x="4234880" y="6352143"/>
            <a:ext cx="4076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Kiel, July 2025</a:t>
            </a:r>
            <a:endParaRPr lang="de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CF95C9-E092-F7C8-D6F9-A30D01E6B467}"/>
              </a:ext>
            </a:extLst>
          </p:cNvPr>
          <p:cNvSpPr txBox="1"/>
          <p:nvPr/>
        </p:nvSpPr>
        <p:spPr>
          <a:xfrm>
            <a:off x="3225230" y="3148404"/>
            <a:ext cx="6096000" cy="426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Group 3</a:t>
            </a:r>
          </a:p>
        </p:txBody>
      </p:sp>
    </p:spTree>
    <p:extLst>
      <p:ext uri="{BB962C8B-B14F-4D97-AF65-F5344CB8AC3E}">
        <p14:creationId xmlns:p14="http://schemas.microsoft.com/office/powerpoint/2010/main" val="361356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68E07-38A7-7EE4-60A0-C3FEFA15C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924" y="1276509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Goal: </a:t>
            </a:r>
            <a:r>
              <a:rPr lang="en-US" sz="3600" dirty="0"/>
              <a:t>to </a:t>
            </a:r>
            <a:r>
              <a:rPr lang="en-GB" sz="3600" dirty="0"/>
              <a:t>predict sales for 6 bakery product categories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628862-0955-FC02-520E-463E0A0F8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</a:t>
            </a:fld>
            <a:endParaRPr lang="de-DE"/>
          </a:p>
        </p:txBody>
      </p:sp>
      <p:pic>
        <p:nvPicPr>
          <p:cNvPr id="2050" name="Picture 2" descr="Charterfee ILCA Kieler Woche 2025 international | Charterfee ILCA 4 |  KiWo.int.4">
            <a:extLst>
              <a:ext uri="{FF2B5EF4-FFF2-40B4-BE49-F238E27FC236}">
                <a16:creationId xmlns:a16="http://schemas.microsoft.com/office/drawing/2014/main" id="{97B25243-8AC5-E4A6-AB3B-121006D51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6028" y="3892415"/>
            <a:ext cx="1101394" cy="1101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oogle Shape;9708;p62">
            <a:extLst>
              <a:ext uri="{FF2B5EF4-FFF2-40B4-BE49-F238E27FC236}">
                <a16:creationId xmlns:a16="http://schemas.microsoft.com/office/drawing/2014/main" id="{4C09F53A-7676-FBB8-D3B0-D4129BB44D69}"/>
              </a:ext>
            </a:extLst>
          </p:cNvPr>
          <p:cNvGrpSpPr/>
          <p:nvPr/>
        </p:nvGrpSpPr>
        <p:grpSpPr>
          <a:xfrm>
            <a:off x="7748280" y="3062137"/>
            <a:ext cx="1070469" cy="820905"/>
            <a:chOff x="7550258" y="3832670"/>
            <a:chExt cx="371395" cy="301279"/>
          </a:xfrm>
          <a:solidFill>
            <a:srgbClr val="1C60A9"/>
          </a:solidFill>
        </p:grpSpPr>
        <p:sp>
          <p:nvSpPr>
            <p:cNvPr id="22" name="Google Shape;9709;p62">
              <a:extLst>
                <a:ext uri="{FF2B5EF4-FFF2-40B4-BE49-F238E27FC236}">
                  <a16:creationId xmlns:a16="http://schemas.microsoft.com/office/drawing/2014/main" id="{75BAFF35-68BB-88CB-4C31-F839C1DFD63C}"/>
                </a:ext>
              </a:extLst>
            </p:cNvPr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9710;p62">
              <a:extLst>
                <a:ext uri="{FF2B5EF4-FFF2-40B4-BE49-F238E27FC236}">
                  <a16:creationId xmlns:a16="http://schemas.microsoft.com/office/drawing/2014/main" id="{5EA29391-CC22-DDF7-B82A-2777D47C2455}"/>
                </a:ext>
              </a:extLst>
            </p:cNvPr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9711;p62">
              <a:extLst>
                <a:ext uri="{FF2B5EF4-FFF2-40B4-BE49-F238E27FC236}">
                  <a16:creationId xmlns:a16="http://schemas.microsoft.com/office/drawing/2014/main" id="{CB90A08D-D03F-4A80-4FC5-C5E18C2631E7}"/>
                </a:ext>
              </a:extLst>
            </p:cNvPr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9712;p62">
              <a:extLst>
                <a:ext uri="{FF2B5EF4-FFF2-40B4-BE49-F238E27FC236}">
                  <a16:creationId xmlns:a16="http://schemas.microsoft.com/office/drawing/2014/main" id="{E17C2A5F-BDFE-1C78-DA37-6F8752CAFA61}"/>
                </a:ext>
              </a:extLst>
            </p:cNvPr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9713;p62">
              <a:extLst>
                <a:ext uri="{FF2B5EF4-FFF2-40B4-BE49-F238E27FC236}">
                  <a16:creationId xmlns:a16="http://schemas.microsoft.com/office/drawing/2014/main" id="{E11CBC8D-7A0A-7CCA-C3B9-D36CC88B6341}"/>
                </a:ext>
              </a:extLst>
            </p:cNvPr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9714;p62">
              <a:extLst>
                <a:ext uri="{FF2B5EF4-FFF2-40B4-BE49-F238E27FC236}">
                  <a16:creationId xmlns:a16="http://schemas.microsoft.com/office/drawing/2014/main" id="{4A00DCA6-EFDC-4D53-FF4B-D4AEDCABBC61}"/>
                </a:ext>
              </a:extLst>
            </p:cNvPr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9715;p62">
              <a:extLst>
                <a:ext uri="{FF2B5EF4-FFF2-40B4-BE49-F238E27FC236}">
                  <a16:creationId xmlns:a16="http://schemas.microsoft.com/office/drawing/2014/main" id="{DE56B0EF-04A8-35B5-A47A-70EA4160F28F}"/>
                </a:ext>
              </a:extLst>
            </p:cNvPr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9716;p62">
              <a:extLst>
                <a:ext uri="{FF2B5EF4-FFF2-40B4-BE49-F238E27FC236}">
                  <a16:creationId xmlns:a16="http://schemas.microsoft.com/office/drawing/2014/main" id="{AC966AF8-3349-AABC-2AB3-15CD6B73B4DD}"/>
                </a:ext>
              </a:extLst>
            </p:cNvPr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9717;p62">
              <a:extLst>
                <a:ext uri="{FF2B5EF4-FFF2-40B4-BE49-F238E27FC236}">
                  <a16:creationId xmlns:a16="http://schemas.microsoft.com/office/drawing/2014/main" id="{321043A2-F5E9-4D32-DDC8-C7A6D41B8374}"/>
                </a:ext>
              </a:extLst>
            </p:cNvPr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9718;p62">
              <a:extLst>
                <a:ext uri="{FF2B5EF4-FFF2-40B4-BE49-F238E27FC236}">
                  <a16:creationId xmlns:a16="http://schemas.microsoft.com/office/drawing/2014/main" id="{947C375B-E86A-36A5-CCDB-D528D0779805}"/>
                </a:ext>
              </a:extLst>
            </p:cNvPr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9719;p62">
              <a:extLst>
                <a:ext uri="{FF2B5EF4-FFF2-40B4-BE49-F238E27FC236}">
                  <a16:creationId xmlns:a16="http://schemas.microsoft.com/office/drawing/2014/main" id="{65677A43-6DFF-D821-3256-D8089057C856}"/>
                </a:ext>
              </a:extLst>
            </p:cNvPr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720;p62">
              <a:extLst>
                <a:ext uri="{FF2B5EF4-FFF2-40B4-BE49-F238E27FC236}">
                  <a16:creationId xmlns:a16="http://schemas.microsoft.com/office/drawing/2014/main" id="{B62A5765-522C-BAF4-BFE6-F9AFDF3CDE5C}"/>
                </a:ext>
              </a:extLst>
            </p:cNvPr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721;p62">
              <a:extLst>
                <a:ext uri="{FF2B5EF4-FFF2-40B4-BE49-F238E27FC236}">
                  <a16:creationId xmlns:a16="http://schemas.microsoft.com/office/drawing/2014/main" id="{B90F3C7D-7C55-8A4A-E30F-B9C5F15D5C72}"/>
                </a:ext>
              </a:extLst>
            </p:cNvPr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9722;p62">
              <a:extLst>
                <a:ext uri="{FF2B5EF4-FFF2-40B4-BE49-F238E27FC236}">
                  <a16:creationId xmlns:a16="http://schemas.microsoft.com/office/drawing/2014/main" id="{D21BB981-7669-A359-6E7F-59168102D21B}"/>
                </a:ext>
              </a:extLst>
            </p:cNvPr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723;p62">
              <a:extLst>
                <a:ext uri="{FF2B5EF4-FFF2-40B4-BE49-F238E27FC236}">
                  <a16:creationId xmlns:a16="http://schemas.microsoft.com/office/drawing/2014/main" id="{6D6233A2-3447-B27D-E49E-464D8A4F1E1C}"/>
                </a:ext>
              </a:extLst>
            </p:cNvPr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9724;p62">
              <a:extLst>
                <a:ext uri="{FF2B5EF4-FFF2-40B4-BE49-F238E27FC236}">
                  <a16:creationId xmlns:a16="http://schemas.microsoft.com/office/drawing/2014/main" id="{F1AB9EC9-EF0A-E905-3893-23EF41ECF9E9}"/>
                </a:ext>
              </a:extLst>
            </p:cNvPr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9725;p62">
              <a:extLst>
                <a:ext uri="{FF2B5EF4-FFF2-40B4-BE49-F238E27FC236}">
                  <a16:creationId xmlns:a16="http://schemas.microsoft.com/office/drawing/2014/main" id="{53D433A5-5FEE-12A0-FFE3-23F66719F1FA}"/>
                </a:ext>
              </a:extLst>
            </p:cNvPr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9726;p62">
              <a:extLst>
                <a:ext uri="{FF2B5EF4-FFF2-40B4-BE49-F238E27FC236}">
                  <a16:creationId xmlns:a16="http://schemas.microsoft.com/office/drawing/2014/main" id="{15102A54-A5AF-AA26-C3BE-CC13CDA5EA8E}"/>
                </a:ext>
              </a:extLst>
            </p:cNvPr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" name="Google Shape;9736;p62">
            <a:extLst>
              <a:ext uri="{FF2B5EF4-FFF2-40B4-BE49-F238E27FC236}">
                <a16:creationId xmlns:a16="http://schemas.microsoft.com/office/drawing/2014/main" id="{E2603761-3E10-2B92-DEA5-677F51BA390B}"/>
              </a:ext>
            </a:extLst>
          </p:cNvPr>
          <p:cNvGrpSpPr/>
          <p:nvPr/>
        </p:nvGrpSpPr>
        <p:grpSpPr>
          <a:xfrm>
            <a:off x="8733844" y="3697370"/>
            <a:ext cx="1070469" cy="941481"/>
            <a:chOff x="5778676" y="3826972"/>
            <a:chExt cx="349052" cy="313055"/>
          </a:xfrm>
          <a:solidFill>
            <a:srgbClr val="1C60A9"/>
          </a:solidFill>
        </p:grpSpPr>
        <p:sp>
          <p:nvSpPr>
            <p:cNvPr id="41" name="Google Shape;9737;p62">
              <a:extLst>
                <a:ext uri="{FF2B5EF4-FFF2-40B4-BE49-F238E27FC236}">
                  <a16:creationId xmlns:a16="http://schemas.microsoft.com/office/drawing/2014/main" id="{79568E75-18A2-FCC4-F010-7EA86F8613D5}"/>
                </a:ext>
              </a:extLst>
            </p:cNvPr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738;p62">
              <a:extLst>
                <a:ext uri="{FF2B5EF4-FFF2-40B4-BE49-F238E27FC236}">
                  <a16:creationId xmlns:a16="http://schemas.microsoft.com/office/drawing/2014/main" id="{9C891B2B-F43A-36CB-AA26-49E529332AD1}"/>
                </a:ext>
              </a:extLst>
            </p:cNvPr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739;p62">
              <a:extLst>
                <a:ext uri="{FF2B5EF4-FFF2-40B4-BE49-F238E27FC236}">
                  <a16:creationId xmlns:a16="http://schemas.microsoft.com/office/drawing/2014/main" id="{4FA8796F-BBC7-C687-4387-142074A23721}"/>
                </a:ext>
              </a:extLst>
            </p:cNvPr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740;p62">
              <a:extLst>
                <a:ext uri="{FF2B5EF4-FFF2-40B4-BE49-F238E27FC236}">
                  <a16:creationId xmlns:a16="http://schemas.microsoft.com/office/drawing/2014/main" id="{A69A45E0-FFFA-1A8C-F7FE-FE32627C670D}"/>
                </a:ext>
              </a:extLst>
            </p:cNvPr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741;p62">
              <a:extLst>
                <a:ext uri="{FF2B5EF4-FFF2-40B4-BE49-F238E27FC236}">
                  <a16:creationId xmlns:a16="http://schemas.microsoft.com/office/drawing/2014/main" id="{0B5823C7-331B-730A-5801-81928F531CAB}"/>
                </a:ext>
              </a:extLst>
            </p:cNvPr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" name="Google Shape;8840;p61">
            <a:extLst>
              <a:ext uri="{FF2B5EF4-FFF2-40B4-BE49-F238E27FC236}">
                <a16:creationId xmlns:a16="http://schemas.microsoft.com/office/drawing/2014/main" id="{3AB73C61-2092-CABF-6099-FCAEE939B4EB}"/>
              </a:ext>
            </a:extLst>
          </p:cNvPr>
          <p:cNvGrpSpPr/>
          <p:nvPr/>
        </p:nvGrpSpPr>
        <p:grpSpPr>
          <a:xfrm>
            <a:off x="2951090" y="2987840"/>
            <a:ext cx="1070469" cy="1164538"/>
            <a:chOff x="852385" y="1510916"/>
            <a:chExt cx="353145" cy="351998"/>
          </a:xfrm>
          <a:solidFill>
            <a:srgbClr val="1C60A9"/>
          </a:solidFill>
        </p:grpSpPr>
        <p:sp>
          <p:nvSpPr>
            <p:cNvPr id="47" name="Google Shape;8841;p61">
              <a:extLst>
                <a:ext uri="{FF2B5EF4-FFF2-40B4-BE49-F238E27FC236}">
                  <a16:creationId xmlns:a16="http://schemas.microsoft.com/office/drawing/2014/main" id="{399BFD79-D546-2AA3-BD74-8C4F7EB84765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8842;p61">
              <a:extLst>
                <a:ext uri="{FF2B5EF4-FFF2-40B4-BE49-F238E27FC236}">
                  <a16:creationId xmlns:a16="http://schemas.microsoft.com/office/drawing/2014/main" id="{8A34ABFA-0AF5-2732-E6EF-4DCCBA8833E7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8843;p61">
              <a:extLst>
                <a:ext uri="{FF2B5EF4-FFF2-40B4-BE49-F238E27FC236}">
                  <a16:creationId xmlns:a16="http://schemas.microsoft.com/office/drawing/2014/main" id="{1079EC86-A04B-E2A6-028C-3A15E7474E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" name="Google Shape;8363;p60">
            <a:extLst>
              <a:ext uri="{FF2B5EF4-FFF2-40B4-BE49-F238E27FC236}">
                <a16:creationId xmlns:a16="http://schemas.microsoft.com/office/drawing/2014/main" id="{08C790DD-D246-811B-B409-289DD4191A21}"/>
              </a:ext>
            </a:extLst>
          </p:cNvPr>
          <p:cNvGrpSpPr/>
          <p:nvPr/>
        </p:nvGrpSpPr>
        <p:grpSpPr>
          <a:xfrm>
            <a:off x="4216952" y="2797155"/>
            <a:ext cx="1101394" cy="992715"/>
            <a:chOff x="1404617" y="3226962"/>
            <a:chExt cx="370169" cy="325966"/>
          </a:xfrm>
          <a:solidFill>
            <a:srgbClr val="1C60A9"/>
          </a:solidFill>
        </p:grpSpPr>
        <p:sp>
          <p:nvSpPr>
            <p:cNvPr id="51" name="Google Shape;8364;p60">
              <a:extLst>
                <a:ext uri="{FF2B5EF4-FFF2-40B4-BE49-F238E27FC236}">
                  <a16:creationId xmlns:a16="http://schemas.microsoft.com/office/drawing/2014/main" id="{D86ACDC4-90AF-0AD7-6C9A-7FF586499A0B}"/>
                </a:ext>
              </a:extLst>
            </p:cNvPr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8365;p60">
              <a:extLst>
                <a:ext uri="{FF2B5EF4-FFF2-40B4-BE49-F238E27FC236}">
                  <a16:creationId xmlns:a16="http://schemas.microsoft.com/office/drawing/2014/main" id="{493B878A-2DEA-5D36-EADA-0C8779BC6EF1}"/>
                </a:ext>
              </a:extLst>
            </p:cNvPr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8366;p60">
              <a:extLst>
                <a:ext uri="{FF2B5EF4-FFF2-40B4-BE49-F238E27FC236}">
                  <a16:creationId xmlns:a16="http://schemas.microsoft.com/office/drawing/2014/main" id="{06941634-E354-CE20-7FD9-0E01FA956C69}"/>
                </a:ext>
              </a:extLst>
            </p:cNvPr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8367;p60">
              <a:extLst>
                <a:ext uri="{FF2B5EF4-FFF2-40B4-BE49-F238E27FC236}">
                  <a16:creationId xmlns:a16="http://schemas.microsoft.com/office/drawing/2014/main" id="{D3E03EE8-C931-F5EE-BC44-9B7DD7F55425}"/>
                </a:ext>
              </a:extLst>
            </p:cNvPr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8368;p60">
              <a:extLst>
                <a:ext uri="{FF2B5EF4-FFF2-40B4-BE49-F238E27FC236}">
                  <a16:creationId xmlns:a16="http://schemas.microsoft.com/office/drawing/2014/main" id="{9DBB00E3-E4B9-44B6-B4C9-D6B2D8822E6D}"/>
                </a:ext>
              </a:extLst>
            </p:cNvPr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8369;p60">
              <a:extLst>
                <a:ext uri="{FF2B5EF4-FFF2-40B4-BE49-F238E27FC236}">
                  <a16:creationId xmlns:a16="http://schemas.microsoft.com/office/drawing/2014/main" id="{F825EBAD-5929-5143-1479-00BF3DFB93A2}"/>
                </a:ext>
              </a:extLst>
            </p:cNvPr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8370;p60">
              <a:extLst>
                <a:ext uri="{FF2B5EF4-FFF2-40B4-BE49-F238E27FC236}">
                  <a16:creationId xmlns:a16="http://schemas.microsoft.com/office/drawing/2014/main" id="{C6168B47-3E9D-B09F-2CDD-9DFD75B7B7D6}"/>
                </a:ext>
              </a:extLst>
            </p:cNvPr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8371;p60">
              <a:extLst>
                <a:ext uri="{FF2B5EF4-FFF2-40B4-BE49-F238E27FC236}">
                  <a16:creationId xmlns:a16="http://schemas.microsoft.com/office/drawing/2014/main" id="{B4F498FA-4576-BFBC-72A0-44938D5D54AB}"/>
                </a:ext>
              </a:extLst>
            </p:cNvPr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" name="Google Shape;8372;p60">
              <a:extLst>
                <a:ext uri="{FF2B5EF4-FFF2-40B4-BE49-F238E27FC236}">
                  <a16:creationId xmlns:a16="http://schemas.microsoft.com/office/drawing/2014/main" id="{F33460B0-B63B-B4A4-D74B-6BBEFB6AAF66}"/>
                </a:ext>
              </a:extLst>
            </p:cNvPr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5" name="Google Shape;740;p54">
            <a:extLst>
              <a:ext uri="{FF2B5EF4-FFF2-40B4-BE49-F238E27FC236}">
                <a16:creationId xmlns:a16="http://schemas.microsoft.com/office/drawing/2014/main" id="{D8A7BBED-77B6-73CA-F211-FC4C9AE37A1A}"/>
              </a:ext>
            </a:extLst>
          </p:cNvPr>
          <p:cNvGrpSpPr/>
          <p:nvPr/>
        </p:nvGrpSpPr>
        <p:grpSpPr>
          <a:xfrm>
            <a:off x="5954388" y="3755997"/>
            <a:ext cx="1070469" cy="470200"/>
            <a:chOff x="4920150" y="1977875"/>
            <a:chExt cx="68525" cy="33800"/>
          </a:xfrm>
          <a:solidFill>
            <a:schemeClr val="bg1">
              <a:lumMod val="85000"/>
            </a:schemeClr>
          </a:solidFill>
        </p:grpSpPr>
        <p:sp>
          <p:nvSpPr>
            <p:cNvPr id="2096" name="Google Shape;741;p54">
              <a:extLst>
                <a:ext uri="{FF2B5EF4-FFF2-40B4-BE49-F238E27FC236}">
                  <a16:creationId xmlns:a16="http://schemas.microsoft.com/office/drawing/2014/main" id="{965B97C2-C815-DC0B-09E0-F09E52D6BB38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742;p54">
              <a:extLst>
                <a:ext uri="{FF2B5EF4-FFF2-40B4-BE49-F238E27FC236}">
                  <a16:creationId xmlns:a16="http://schemas.microsoft.com/office/drawing/2014/main" id="{0165B252-76ED-2683-B01A-FAB13336CC56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743;p54">
              <a:extLst>
                <a:ext uri="{FF2B5EF4-FFF2-40B4-BE49-F238E27FC236}">
                  <a16:creationId xmlns:a16="http://schemas.microsoft.com/office/drawing/2014/main" id="{FCB41427-B857-4FC2-A1D5-82E191BB7700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73828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DE323-E2FC-88D1-3C0C-957B1B66F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FEC8700-FF2E-137C-FB12-87BAFCCD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AFFE61-3864-B6AD-9F89-333838835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3</a:t>
            </a:fld>
            <a:endParaRPr lang="de-DE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8FBA0F-0509-31F8-2020-06698BB83648}"/>
              </a:ext>
            </a:extLst>
          </p:cNvPr>
          <p:cNvSpPr txBox="1"/>
          <p:nvPr/>
        </p:nvSpPr>
        <p:spPr>
          <a:xfrm>
            <a:off x="6760799" y="1547809"/>
            <a:ext cx="3890131" cy="306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From external data: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School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Public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Voting Days</a:t>
            </a:r>
          </a:p>
          <a:p>
            <a:pPr lvl="0">
              <a:lnSpc>
                <a:spcPct val="90000"/>
              </a:lnSpc>
              <a:spcBef>
                <a:spcPts val="1000"/>
              </a:spcBef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VPI (</a:t>
            </a:r>
            <a:r>
              <a:rPr lang="en-GB" dirty="0">
                <a:solidFill>
                  <a:schemeClr val="bg2"/>
                </a:solidFill>
              </a:rPr>
              <a:t>Consumer Price Index </a:t>
            </a:r>
            <a:r>
              <a:rPr lang="en-GB" sz="2800" dirty="0">
                <a:solidFill>
                  <a:schemeClr val="bg2"/>
                </a:solidFill>
                <a:latin typeface="Aptos" panose="02110004020202020204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Precipitation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7D1B86-1B18-0EB4-975D-E3928A23DE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93345" y="1547809"/>
            <a:ext cx="3890131" cy="4351338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From given data: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Day of the week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Weekend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New Years Eve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Advent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Saturday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Sunday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Days until NYE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Group 6 Season Score</a:t>
            </a:r>
          </a:p>
          <a:p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BCD2A-18DC-3E97-67D9-91008E963526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7018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27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28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1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32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33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4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37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3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9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42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43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47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48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52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53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4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57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58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62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63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4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67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68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9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72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73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4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6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77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78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9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3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84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5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6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8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89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90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1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3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94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95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6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8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99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00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3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04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05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6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8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09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10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1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3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14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15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8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19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20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1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3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24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25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6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0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31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32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3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5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36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37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8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0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41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42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3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5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46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47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8" dur="5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20F1-980F-7A77-63B6-88238327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939D27-0C08-CFD5-F68C-DDF61C86C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4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299683-6A2E-9766-C092-9F38A873A9E3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4469D7-0090-1FCF-6B44-1C04D1D9F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274" y="2548328"/>
            <a:ext cx="5507276" cy="328543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DD2F842-E89B-1B52-F36F-3706BB779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43" y="2404761"/>
            <a:ext cx="517388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609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9BE7B0D-EF2E-FEDD-F1E2-6440161D3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3F2A1-9367-240D-9693-174005C6B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 Bar charts for 1 variable for each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6EF36-5AB5-BD61-139A-5291CC7A30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Working on it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ADF633-6812-8C55-E3F4-025DC1E19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5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5868E9-8533-9A2A-29CA-130A8F95F610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3B71C7A-B971-5E9E-E5F2-720ABA542E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262" y="1824036"/>
            <a:ext cx="6597072" cy="435133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15D9625-8304-B8A6-4306-D2881F22B8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996120"/>
            <a:ext cx="5069662" cy="2515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287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976D5-C7B4-E40F-5BDC-AA62E4D05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983CE159-AB5E-3564-ADCC-3586A63482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58" r="32418"/>
          <a:stretch>
            <a:fillRect/>
          </a:stretch>
        </p:blipFill>
        <p:spPr>
          <a:xfrm>
            <a:off x="1564711" y="1042220"/>
            <a:ext cx="2509983" cy="5426456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3DA1677B-1775-2F66-B2C7-4AAA35253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</a:t>
            </a:r>
            <a:endParaRPr lang="en-GB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E15E52-F87E-EFBD-34EA-F7F059C8B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3894" y="6356350"/>
            <a:ext cx="2743200" cy="365125"/>
          </a:xfrm>
        </p:spPr>
        <p:txBody>
          <a:bodyPr/>
          <a:lstStyle/>
          <a:p>
            <a:fld id="{FEE63D0E-FFEF-43D1-BE35-64C33AF422FD}" type="slidenum">
              <a:rPr lang="de-DE" smtClean="0"/>
              <a:t>6</a:t>
            </a:fld>
            <a:endParaRPr lang="de-D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501AD2ED-3A51-9DE5-49E5-75B7FCA04630}"/>
                  </a:ext>
                </a:extLst>
              </p14:cNvPr>
              <p14:cNvContentPartPr/>
              <p14:nvPr/>
            </p14:nvContentPartPr>
            <p14:xfrm>
              <a:off x="1647527" y="1718669"/>
              <a:ext cx="213840" cy="371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501AD2ED-3A51-9DE5-49E5-75B7FCA0463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84887" y="1655669"/>
                <a:ext cx="339480" cy="4975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D203F17B-14B3-F46F-A831-3C1CA77BA052}"/>
              </a:ext>
            </a:extLst>
          </p:cNvPr>
          <p:cNvSpPr/>
          <p:nvPr/>
        </p:nvSpPr>
        <p:spPr>
          <a:xfrm>
            <a:off x="3080466" y="2595145"/>
            <a:ext cx="1077701" cy="36702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05C3E1A-4F1A-8274-73BC-085F537593F8}"/>
                  </a:ext>
                </a:extLst>
              </p14:cNvPr>
              <p14:cNvContentPartPr/>
              <p14:nvPr/>
            </p14:nvContentPartPr>
            <p14:xfrm>
              <a:off x="1434047" y="1657764"/>
              <a:ext cx="347040" cy="7470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05C3E1A-4F1A-8274-73BC-085F537593F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71047" y="1595124"/>
                <a:ext cx="472680" cy="872640"/>
              </a:xfrm>
              <a:prstGeom prst="rect">
                <a:avLst/>
              </a:prstGeom>
            </p:spPr>
          </p:pic>
        </mc:Fallback>
      </mc:AlternateContent>
      <p:sp>
        <p:nvSpPr>
          <p:cNvPr id="28" name="Rectangle 27">
            <a:extLst>
              <a:ext uri="{FF2B5EF4-FFF2-40B4-BE49-F238E27FC236}">
                <a16:creationId xmlns:a16="http://schemas.microsoft.com/office/drawing/2014/main" id="{EAD83F74-96A3-975A-76D9-342F87F0688A}"/>
              </a:ext>
            </a:extLst>
          </p:cNvPr>
          <p:cNvSpPr/>
          <p:nvPr/>
        </p:nvSpPr>
        <p:spPr>
          <a:xfrm rot="19278674">
            <a:off x="3256161" y="1955350"/>
            <a:ext cx="1198112" cy="6014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52D58D3-291A-AE3E-1819-3061AAF3FEAD}"/>
              </a:ext>
            </a:extLst>
          </p:cNvPr>
          <p:cNvGrpSpPr/>
          <p:nvPr/>
        </p:nvGrpSpPr>
        <p:grpSpPr>
          <a:xfrm>
            <a:off x="4040027" y="1038183"/>
            <a:ext cx="6901606" cy="5437232"/>
            <a:chOff x="3546733" y="1038183"/>
            <a:chExt cx="6901606" cy="5437232"/>
          </a:xfrm>
        </p:grpSpPr>
        <p:grpSp>
          <p:nvGrpSpPr>
            <p:cNvPr id="18" name="Google Shape;740;p54">
              <a:extLst>
                <a:ext uri="{FF2B5EF4-FFF2-40B4-BE49-F238E27FC236}">
                  <a16:creationId xmlns:a16="http://schemas.microsoft.com/office/drawing/2014/main" id="{2A36DE71-3B58-E6D1-BF9E-050E328235D0}"/>
                </a:ext>
              </a:extLst>
            </p:cNvPr>
            <p:cNvGrpSpPr/>
            <p:nvPr/>
          </p:nvGrpSpPr>
          <p:grpSpPr>
            <a:xfrm>
              <a:off x="4040948" y="3952992"/>
              <a:ext cx="1070454" cy="470200"/>
              <a:chOff x="4920150" y="1977875"/>
              <a:chExt cx="68524" cy="33800"/>
            </a:xfrm>
            <a:solidFill>
              <a:schemeClr val="bg1">
                <a:lumMod val="85000"/>
              </a:schemeClr>
            </a:solidFill>
          </p:grpSpPr>
          <p:sp>
            <p:nvSpPr>
              <p:cNvPr id="19" name="Google Shape;741;p54">
                <a:extLst>
                  <a:ext uri="{FF2B5EF4-FFF2-40B4-BE49-F238E27FC236}">
                    <a16:creationId xmlns:a16="http://schemas.microsoft.com/office/drawing/2014/main" id="{70EDAB0E-C43F-4EA6-B5A9-44081DC251BF}"/>
                  </a:ext>
                </a:extLst>
              </p:cNvPr>
              <p:cNvSpPr/>
              <p:nvPr/>
            </p:nvSpPr>
            <p:spPr>
              <a:xfrm>
                <a:off x="4949174" y="1977875"/>
                <a:ext cx="39500" cy="33800"/>
              </a:xfrm>
              <a:custGeom>
                <a:avLst/>
                <a:gdLst/>
                <a:ahLst/>
                <a:cxnLst/>
                <a:rect l="l" t="t" r="r" b="b"/>
                <a:pathLst>
                  <a:path w="1580" h="1352" extrusionOk="0">
                    <a:moveTo>
                      <a:pt x="891" y="1"/>
                    </a:moveTo>
                    <a:cubicBezTo>
                      <a:pt x="859" y="1"/>
                      <a:pt x="828" y="12"/>
                      <a:pt x="801" y="32"/>
                    </a:cubicBezTo>
                    <a:cubicBezTo>
                      <a:pt x="743" y="89"/>
                      <a:pt x="743" y="176"/>
                      <a:pt x="801" y="226"/>
                    </a:cubicBezTo>
                    <a:lnTo>
                      <a:pt x="1039" y="472"/>
                    </a:lnTo>
                    <a:cubicBezTo>
                      <a:pt x="1068" y="493"/>
                      <a:pt x="1046" y="544"/>
                      <a:pt x="1010" y="544"/>
                    </a:cubicBezTo>
                    <a:lnTo>
                      <a:pt x="152" y="544"/>
                    </a:lnTo>
                    <a:cubicBezTo>
                      <a:pt x="147" y="543"/>
                      <a:pt x="143" y="543"/>
                      <a:pt x="139" y="543"/>
                    </a:cubicBezTo>
                    <a:cubicBezTo>
                      <a:pt x="66" y="543"/>
                      <a:pt x="14" y="598"/>
                      <a:pt x="8" y="666"/>
                    </a:cubicBezTo>
                    <a:cubicBezTo>
                      <a:pt x="0" y="746"/>
                      <a:pt x="65" y="811"/>
                      <a:pt x="145" y="811"/>
                    </a:cubicBezTo>
                    <a:lnTo>
                      <a:pt x="1010" y="811"/>
                    </a:lnTo>
                    <a:cubicBezTo>
                      <a:pt x="1046" y="811"/>
                      <a:pt x="1068" y="854"/>
                      <a:pt x="1039" y="883"/>
                    </a:cubicBezTo>
                    <a:lnTo>
                      <a:pt x="808" y="1113"/>
                    </a:lnTo>
                    <a:cubicBezTo>
                      <a:pt x="758" y="1164"/>
                      <a:pt x="751" y="1251"/>
                      <a:pt x="794" y="1308"/>
                    </a:cubicBezTo>
                    <a:cubicBezTo>
                      <a:pt x="823" y="1337"/>
                      <a:pt x="859" y="1351"/>
                      <a:pt x="895" y="1351"/>
                    </a:cubicBezTo>
                    <a:cubicBezTo>
                      <a:pt x="931" y="1351"/>
                      <a:pt x="967" y="1337"/>
                      <a:pt x="996" y="1308"/>
                    </a:cubicBezTo>
                    <a:lnTo>
                      <a:pt x="1522" y="774"/>
                    </a:lnTo>
                    <a:cubicBezTo>
                      <a:pt x="1580" y="717"/>
                      <a:pt x="1573" y="630"/>
                      <a:pt x="1522" y="573"/>
                    </a:cubicBezTo>
                    <a:lnTo>
                      <a:pt x="996" y="46"/>
                    </a:lnTo>
                    <a:cubicBezTo>
                      <a:pt x="965" y="15"/>
                      <a:pt x="928" y="1"/>
                      <a:pt x="89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742;p54">
                <a:extLst>
                  <a:ext uri="{FF2B5EF4-FFF2-40B4-BE49-F238E27FC236}">
                    <a16:creationId xmlns:a16="http://schemas.microsoft.com/office/drawing/2014/main" id="{28DBEFDC-52FD-0E02-1F06-3E3ABE2721C9}"/>
                  </a:ext>
                </a:extLst>
              </p:cNvPr>
              <p:cNvSpPr/>
              <p:nvPr/>
            </p:nvSpPr>
            <p:spPr>
              <a:xfrm>
                <a:off x="4931875" y="1991450"/>
                <a:ext cx="12825" cy="6700"/>
              </a:xfrm>
              <a:custGeom>
                <a:avLst/>
                <a:gdLst/>
                <a:ahLst/>
                <a:cxnLst/>
                <a:rect l="l" t="t" r="r" b="b"/>
                <a:pathLst>
                  <a:path w="513" h="268" extrusionOk="0">
                    <a:moveTo>
                      <a:pt x="180" y="1"/>
                    </a:moveTo>
                    <a:cubicBezTo>
                      <a:pt x="0" y="1"/>
                      <a:pt x="0" y="268"/>
                      <a:pt x="180" y="268"/>
                    </a:cubicBezTo>
                    <a:lnTo>
                      <a:pt x="332" y="268"/>
                    </a:lnTo>
                    <a:cubicBezTo>
                      <a:pt x="512" y="268"/>
                      <a:pt x="512" y="1"/>
                      <a:pt x="332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743;p54">
                <a:extLst>
                  <a:ext uri="{FF2B5EF4-FFF2-40B4-BE49-F238E27FC236}">
                    <a16:creationId xmlns:a16="http://schemas.microsoft.com/office/drawing/2014/main" id="{CF91E581-077F-2DF6-9411-A2E652FE9C0D}"/>
                  </a:ext>
                </a:extLst>
              </p:cNvPr>
              <p:cNvSpPr/>
              <p:nvPr/>
            </p:nvSpPr>
            <p:spPr>
              <a:xfrm>
                <a:off x="4920150" y="1991450"/>
                <a:ext cx="9225" cy="6700"/>
              </a:xfrm>
              <a:custGeom>
                <a:avLst/>
                <a:gdLst/>
                <a:ahLst/>
                <a:cxnLst/>
                <a:rect l="l" t="t" r="r" b="b"/>
                <a:pathLst>
                  <a:path w="369" h="268" extrusionOk="0">
                    <a:moveTo>
                      <a:pt x="181" y="1"/>
                    </a:moveTo>
                    <a:cubicBezTo>
                      <a:pt x="0" y="1"/>
                      <a:pt x="0" y="268"/>
                      <a:pt x="181" y="268"/>
                    </a:cubicBezTo>
                    <a:lnTo>
                      <a:pt x="195" y="268"/>
                    </a:lnTo>
                    <a:cubicBezTo>
                      <a:pt x="368" y="268"/>
                      <a:pt x="368" y="1"/>
                      <a:pt x="19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FF75847-BF53-EFE2-2184-37039C5C6E7D}"/>
                </a:ext>
              </a:extLst>
            </p:cNvPr>
            <p:cNvGrpSpPr/>
            <p:nvPr/>
          </p:nvGrpSpPr>
          <p:grpSpPr>
            <a:xfrm>
              <a:off x="5751199" y="1038183"/>
              <a:ext cx="4697140" cy="5437232"/>
              <a:chOff x="3698850" y="985966"/>
              <a:chExt cx="4697140" cy="5437232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1FBD6FF7-781E-2ECE-CCEA-E502A60CDDB5}"/>
                  </a:ext>
                </a:extLst>
              </p:cNvPr>
              <p:cNvGrpSpPr/>
              <p:nvPr/>
            </p:nvGrpSpPr>
            <p:grpSpPr>
              <a:xfrm>
                <a:off x="3698850" y="996742"/>
                <a:ext cx="3393640" cy="5426456"/>
                <a:chOff x="3698850" y="996742"/>
                <a:chExt cx="3393640" cy="5426456"/>
              </a:xfrm>
            </p:grpSpPr>
            <p:pic>
              <p:nvPicPr>
                <p:cNvPr id="22" name="Grafik 14">
                  <a:extLst>
                    <a:ext uri="{FF2B5EF4-FFF2-40B4-BE49-F238E27FC236}">
                      <a16:creationId xmlns:a16="http://schemas.microsoft.com/office/drawing/2014/main" id="{6B8FA9B1-23E5-4010-10C3-C7BB34D8B7E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2070" r="50936"/>
                <a:stretch>
                  <a:fillRect/>
                </a:stretch>
              </p:blipFill>
              <p:spPr>
                <a:xfrm>
                  <a:off x="4070619" y="996742"/>
                  <a:ext cx="2326654" cy="5426456"/>
                </a:xfrm>
                <a:prstGeom prst="rect">
                  <a:avLst/>
                </a:prstGeom>
              </p:spPr>
            </p:pic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83AA9D39-95D0-7F02-02CA-D5259C397047}"/>
                    </a:ext>
                  </a:extLst>
                </p:cNvPr>
                <p:cNvSpPr/>
                <p:nvPr/>
              </p:nvSpPr>
              <p:spPr>
                <a:xfrm>
                  <a:off x="5419169" y="2492877"/>
                  <a:ext cx="1040458" cy="386063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8FAB814-79D4-D09D-C974-1BED32BBDA72}"/>
                    </a:ext>
                  </a:extLst>
                </p:cNvPr>
                <p:cNvSpPr/>
                <p:nvPr/>
              </p:nvSpPr>
              <p:spPr>
                <a:xfrm rot="2812795">
                  <a:off x="5857525" y="1670389"/>
                  <a:ext cx="1058779" cy="14111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61CEB394-F168-3373-E3FA-4B3B05E7F93D}"/>
                    </a:ext>
                  </a:extLst>
                </p:cNvPr>
                <p:cNvSpPr/>
                <p:nvPr/>
              </p:nvSpPr>
              <p:spPr>
                <a:xfrm rot="2812795">
                  <a:off x="3995515" y="1184665"/>
                  <a:ext cx="670216" cy="126354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0243E862-DD4C-12F0-C941-70CA2E4CF4B1}"/>
                  </a:ext>
                </a:extLst>
              </p:cNvPr>
              <p:cNvGrpSpPr/>
              <p:nvPr/>
            </p:nvGrpSpPr>
            <p:grpSpPr>
              <a:xfrm>
                <a:off x="5650982" y="985966"/>
                <a:ext cx="2745008" cy="5426456"/>
                <a:chOff x="5650982" y="985966"/>
                <a:chExt cx="2745008" cy="5426456"/>
              </a:xfrm>
            </p:grpSpPr>
            <p:sp>
              <p:nvSpPr>
                <p:cNvPr id="29" name="Plus Sign 28">
                  <a:extLst>
                    <a:ext uri="{FF2B5EF4-FFF2-40B4-BE49-F238E27FC236}">
                      <a16:creationId xmlns:a16="http://schemas.microsoft.com/office/drawing/2014/main" id="{8DCB5702-F720-C462-93B8-BBA751F9B8C1}"/>
                    </a:ext>
                  </a:extLst>
                </p:cNvPr>
                <p:cNvSpPr/>
                <p:nvPr/>
              </p:nvSpPr>
              <p:spPr>
                <a:xfrm>
                  <a:off x="5650982" y="4086202"/>
                  <a:ext cx="432975" cy="378772"/>
                </a:xfrm>
                <a:prstGeom prst="mathPlus">
                  <a:avLst/>
                </a:prstGeom>
                <a:solidFill>
                  <a:srgbClr val="1C60A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02AE34B9-428E-93E3-3CDF-04AF1068ACB8}"/>
                    </a:ext>
                  </a:extLst>
                </p:cNvPr>
                <p:cNvGrpSpPr/>
                <p:nvPr/>
              </p:nvGrpSpPr>
              <p:grpSpPr>
                <a:xfrm>
                  <a:off x="6179611" y="985966"/>
                  <a:ext cx="2216379" cy="5426456"/>
                  <a:chOff x="6179611" y="985966"/>
                  <a:chExt cx="2216379" cy="5426456"/>
                </a:xfrm>
              </p:grpSpPr>
              <p:pic>
                <p:nvPicPr>
                  <p:cNvPr id="30" name="Grafik 14">
                    <a:extLst>
                      <a:ext uri="{FF2B5EF4-FFF2-40B4-BE49-F238E27FC236}">
                        <a16:creationId xmlns:a16="http://schemas.microsoft.com/office/drawing/2014/main" id="{055E1642-1D52-4B0D-AC94-8D7CC308F30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78551"/>
                  <a:stretch>
                    <a:fillRect/>
                  </a:stretch>
                </p:blipFill>
                <p:spPr>
                  <a:xfrm>
                    <a:off x="6474590" y="985966"/>
                    <a:ext cx="1921400" cy="5426456"/>
                  </a:xfrm>
                  <a:prstGeom prst="rect">
                    <a:avLst/>
                  </a:prstGeom>
                </p:spPr>
              </p:pic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D422767F-AF32-06D8-09C0-D1F5262CD09A}"/>
                      </a:ext>
                    </a:extLst>
                  </p:cNvPr>
                  <p:cNvSpPr/>
                  <p:nvPr/>
                </p:nvSpPr>
                <p:spPr>
                  <a:xfrm rot="2812795">
                    <a:off x="6810034" y="1103430"/>
                    <a:ext cx="225360" cy="14862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6DEC262C-E918-EBE0-D2F4-AE85CAA34CBE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7291951" y="2460777"/>
                    <a:ext cx="1002457" cy="379968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9A6702-8210-70BE-6C63-0FBE4E42E758}"/>
                </a:ext>
              </a:extLst>
            </p:cNvPr>
            <p:cNvSpPr txBox="1"/>
            <p:nvPr/>
          </p:nvSpPr>
          <p:spPr>
            <a:xfrm>
              <a:off x="3546733" y="3539887"/>
              <a:ext cx="19821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Imputation</a:t>
              </a:r>
              <a:endParaRPr lang="en-GB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365EC40-4383-E05F-1116-971DFDA7AF03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3063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95C09-80A5-2AAD-E849-D44AE127D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A0FE8B-EBF8-F253-14B5-51C406AC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3894" y="6356350"/>
            <a:ext cx="2743200" cy="365125"/>
          </a:xfrm>
        </p:spPr>
        <p:txBody>
          <a:bodyPr/>
          <a:lstStyle/>
          <a:p>
            <a:fld id="{FEE63D0E-FFEF-43D1-BE35-64C33AF422FD}" type="slidenum">
              <a:rPr lang="de-DE" smtClean="0"/>
              <a:t>7</a:t>
            </a:fld>
            <a:endParaRPr lang="de-D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55F1D86-F054-C0C7-0C83-B5E08974F030}"/>
                  </a:ext>
                </a:extLst>
              </p14:cNvPr>
              <p14:cNvContentPartPr/>
              <p14:nvPr/>
            </p14:nvContentPartPr>
            <p14:xfrm>
              <a:off x="2369426" y="1718669"/>
              <a:ext cx="213840" cy="371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55F1D86-F054-C0C7-0C83-B5E08974F03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06426" y="1655669"/>
                <a:ext cx="339480" cy="497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E35B6ECA-E31F-6054-6D62-93D14E62DE45}"/>
              </a:ext>
            </a:extLst>
          </p:cNvPr>
          <p:cNvGrpSpPr/>
          <p:nvPr/>
        </p:nvGrpSpPr>
        <p:grpSpPr>
          <a:xfrm>
            <a:off x="897389" y="929894"/>
            <a:ext cx="4595558" cy="5426456"/>
            <a:chOff x="3698850" y="996742"/>
            <a:chExt cx="4595558" cy="5426456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DA4FC97-2A4B-11A3-4A00-947FFDE92E6E}"/>
                </a:ext>
              </a:extLst>
            </p:cNvPr>
            <p:cNvGrpSpPr/>
            <p:nvPr/>
          </p:nvGrpSpPr>
          <p:grpSpPr>
            <a:xfrm>
              <a:off x="3698850" y="996742"/>
              <a:ext cx="3393640" cy="5426456"/>
              <a:chOff x="3698850" y="996742"/>
              <a:chExt cx="3393640" cy="5426456"/>
            </a:xfrm>
          </p:grpSpPr>
          <p:pic>
            <p:nvPicPr>
              <p:cNvPr id="22" name="Grafik 14">
                <a:extLst>
                  <a:ext uri="{FF2B5EF4-FFF2-40B4-BE49-F238E27FC236}">
                    <a16:creationId xmlns:a16="http://schemas.microsoft.com/office/drawing/2014/main" id="{D43F8B25-925B-E708-7000-77875C38CB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2070" r="50936"/>
              <a:stretch>
                <a:fillRect/>
              </a:stretch>
            </p:blipFill>
            <p:spPr>
              <a:xfrm>
                <a:off x="4070619" y="996742"/>
                <a:ext cx="2326654" cy="5426456"/>
              </a:xfrm>
              <a:prstGeom prst="rect">
                <a:avLst/>
              </a:prstGeom>
            </p:spPr>
          </p:pic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633ACC6B-D50F-78D3-40E3-664258D4EAFB}"/>
                  </a:ext>
                </a:extLst>
              </p:cNvPr>
              <p:cNvSpPr/>
              <p:nvPr/>
            </p:nvSpPr>
            <p:spPr>
              <a:xfrm>
                <a:off x="5419169" y="2492877"/>
                <a:ext cx="1040458" cy="38606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577B111-BB54-2CD4-BB94-F942146706A5}"/>
                  </a:ext>
                </a:extLst>
              </p:cNvPr>
              <p:cNvSpPr/>
              <p:nvPr/>
            </p:nvSpPr>
            <p:spPr>
              <a:xfrm rot="2812795">
                <a:off x="5857525" y="1670389"/>
                <a:ext cx="1058779" cy="14111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549EDED-B7D3-EDFD-8AAB-4A0793DBE78E}"/>
                  </a:ext>
                </a:extLst>
              </p:cNvPr>
              <p:cNvSpPr/>
              <p:nvPr/>
            </p:nvSpPr>
            <p:spPr>
              <a:xfrm rot="2812795">
                <a:off x="3995515" y="1184665"/>
                <a:ext cx="670216" cy="1263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286413E-EAD1-1B7D-5FD7-1A7CD9E456DF}"/>
                </a:ext>
              </a:extLst>
            </p:cNvPr>
            <p:cNvGrpSpPr/>
            <p:nvPr/>
          </p:nvGrpSpPr>
          <p:grpSpPr>
            <a:xfrm>
              <a:off x="6179611" y="1733853"/>
              <a:ext cx="2114797" cy="4526605"/>
              <a:chOff x="6179611" y="1733853"/>
              <a:chExt cx="2114797" cy="4526605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B2F1729-197C-A2AF-AB1E-8333AAA1692C}"/>
                  </a:ext>
                </a:extLst>
              </p:cNvPr>
              <p:cNvSpPr/>
              <p:nvPr/>
            </p:nvSpPr>
            <p:spPr>
              <a:xfrm rot="2812795">
                <a:off x="6810034" y="1103430"/>
                <a:ext cx="225360" cy="148620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979381A-B618-2062-8189-AAF5A27847B0}"/>
                  </a:ext>
                </a:extLst>
              </p:cNvPr>
              <p:cNvSpPr/>
              <p:nvPr/>
            </p:nvSpPr>
            <p:spPr>
              <a:xfrm rot="10800000">
                <a:off x="7291951" y="2460777"/>
                <a:ext cx="1002457" cy="379968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pic>
        <p:nvPicPr>
          <p:cNvPr id="4" name="Grafik 14">
            <a:extLst>
              <a:ext uri="{FF2B5EF4-FFF2-40B4-BE49-F238E27FC236}">
                <a16:creationId xmlns:a16="http://schemas.microsoft.com/office/drawing/2014/main" id="{AA2031BB-7E68-561C-793D-7D875B0DC29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42"/>
          <a:stretch>
            <a:fillRect/>
          </a:stretch>
        </p:blipFill>
        <p:spPr>
          <a:xfrm>
            <a:off x="3926063" y="2812387"/>
            <a:ext cx="4305143" cy="2689781"/>
          </a:xfrm>
          <a:prstGeom prst="rect">
            <a:avLst/>
          </a:prstGeom>
        </p:spPr>
      </p:pic>
      <p:sp>
        <p:nvSpPr>
          <p:cNvPr id="7" name="Google Shape;741;p54">
            <a:extLst>
              <a:ext uri="{FF2B5EF4-FFF2-40B4-BE49-F238E27FC236}">
                <a16:creationId xmlns:a16="http://schemas.microsoft.com/office/drawing/2014/main" id="{B8964C78-2DD9-204D-D6A9-B1ABD6C716FE}"/>
              </a:ext>
            </a:extLst>
          </p:cNvPr>
          <p:cNvSpPr/>
          <p:nvPr/>
        </p:nvSpPr>
        <p:spPr>
          <a:xfrm>
            <a:off x="3172803" y="3971180"/>
            <a:ext cx="617053" cy="470200"/>
          </a:xfrm>
          <a:custGeom>
            <a:avLst/>
            <a:gdLst/>
            <a:ahLst/>
            <a:cxnLst/>
            <a:rect l="l" t="t" r="r" b="b"/>
            <a:pathLst>
              <a:path w="1580" h="1352" extrusionOk="0">
                <a:moveTo>
                  <a:pt x="891" y="1"/>
                </a:moveTo>
                <a:cubicBezTo>
                  <a:pt x="859" y="1"/>
                  <a:pt x="828" y="12"/>
                  <a:pt x="801" y="32"/>
                </a:cubicBezTo>
                <a:cubicBezTo>
                  <a:pt x="743" y="89"/>
                  <a:pt x="743" y="176"/>
                  <a:pt x="801" y="226"/>
                </a:cubicBezTo>
                <a:lnTo>
                  <a:pt x="1039" y="472"/>
                </a:lnTo>
                <a:cubicBezTo>
                  <a:pt x="1068" y="493"/>
                  <a:pt x="1046" y="544"/>
                  <a:pt x="1010" y="544"/>
                </a:cubicBezTo>
                <a:lnTo>
                  <a:pt x="152" y="544"/>
                </a:lnTo>
                <a:cubicBezTo>
                  <a:pt x="147" y="543"/>
                  <a:pt x="143" y="543"/>
                  <a:pt x="139" y="543"/>
                </a:cubicBezTo>
                <a:cubicBezTo>
                  <a:pt x="66" y="543"/>
                  <a:pt x="14" y="598"/>
                  <a:pt x="8" y="666"/>
                </a:cubicBezTo>
                <a:cubicBezTo>
                  <a:pt x="0" y="746"/>
                  <a:pt x="65" y="811"/>
                  <a:pt x="145" y="811"/>
                </a:cubicBezTo>
                <a:lnTo>
                  <a:pt x="1010" y="811"/>
                </a:lnTo>
                <a:cubicBezTo>
                  <a:pt x="1046" y="811"/>
                  <a:pt x="1068" y="854"/>
                  <a:pt x="1039" y="883"/>
                </a:cubicBezTo>
                <a:lnTo>
                  <a:pt x="808" y="1113"/>
                </a:lnTo>
                <a:cubicBezTo>
                  <a:pt x="758" y="1164"/>
                  <a:pt x="751" y="1251"/>
                  <a:pt x="794" y="1308"/>
                </a:cubicBezTo>
                <a:cubicBezTo>
                  <a:pt x="823" y="1337"/>
                  <a:pt x="859" y="1351"/>
                  <a:pt x="895" y="1351"/>
                </a:cubicBezTo>
                <a:cubicBezTo>
                  <a:pt x="931" y="1351"/>
                  <a:pt x="967" y="1337"/>
                  <a:pt x="996" y="1308"/>
                </a:cubicBezTo>
                <a:lnTo>
                  <a:pt x="1522" y="774"/>
                </a:lnTo>
                <a:cubicBezTo>
                  <a:pt x="1580" y="717"/>
                  <a:pt x="1573" y="630"/>
                  <a:pt x="1522" y="573"/>
                </a:cubicBezTo>
                <a:lnTo>
                  <a:pt x="996" y="46"/>
                </a:lnTo>
                <a:cubicBezTo>
                  <a:pt x="965" y="15"/>
                  <a:pt x="928" y="1"/>
                  <a:pt x="891" y="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41;p54">
            <a:extLst>
              <a:ext uri="{FF2B5EF4-FFF2-40B4-BE49-F238E27FC236}">
                <a16:creationId xmlns:a16="http://schemas.microsoft.com/office/drawing/2014/main" id="{63C354AE-1F67-0CA3-0632-73EB24BDD573}"/>
              </a:ext>
            </a:extLst>
          </p:cNvPr>
          <p:cNvSpPr/>
          <p:nvPr/>
        </p:nvSpPr>
        <p:spPr>
          <a:xfrm>
            <a:off x="8442063" y="3786444"/>
            <a:ext cx="617053" cy="470200"/>
          </a:xfrm>
          <a:custGeom>
            <a:avLst/>
            <a:gdLst/>
            <a:ahLst/>
            <a:cxnLst/>
            <a:rect l="l" t="t" r="r" b="b"/>
            <a:pathLst>
              <a:path w="1580" h="1352" extrusionOk="0">
                <a:moveTo>
                  <a:pt x="891" y="1"/>
                </a:moveTo>
                <a:cubicBezTo>
                  <a:pt x="859" y="1"/>
                  <a:pt x="828" y="12"/>
                  <a:pt x="801" y="32"/>
                </a:cubicBezTo>
                <a:cubicBezTo>
                  <a:pt x="743" y="89"/>
                  <a:pt x="743" y="176"/>
                  <a:pt x="801" y="226"/>
                </a:cubicBezTo>
                <a:lnTo>
                  <a:pt x="1039" y="472"/>
                </a:lnTo>
                <a:cubicBezTo>
                  <a:pt x="1068" y="493"/>
                  <a:pt x="1046" y="544"/>
                  <a:pt x="1010" y="544"/>
                </a:cubicBezTo>
                <a:lnTo>
                  <a:pt x="152" y="544"/>
                </a:lnTo>
                <a:cubicBezTo>
                  <a:pt x="147" y="543"/>
                  <a:pt x="143" y="543"/>
                  <a:pt x="139" y="543"/>
                </a:cubicBezTo>
                <a:cubicBezTo>
                  <a:pt x="66" y="543"/>
                  <a:pt x="14" y="598"/>
                  <a:pt x="8" y="666"/>
                </a:cubicBezTo>
                <a:cubicBezTo>
                  <a:pt x="0" y="746"/>
                  <a:pt x="65" y="811"/>
                  <a:pt x="145" y="811"/>
                </a:cubicBezTo>
                <a:lnTo>
                  <a:pt x="1010" y="811"/>
                </a:lnTo>
                <a:cubicBezTo>
                  <a:pt x="1046" y="811"/>
                  <a:pt x="1068" y="854"/>
                  <a:pt x="1039" y="883"/>
                </a:cubicBezTo>
                <a:lnTo>
                  <a:pt x="808" y="1113"/>
                </a:lnTo>
                <a:cubicBezTo>
                  <a:pt x="758" y="1164"/>
                  <a:pt x="751" y="1251"/>
                  <a:pt x="794" y="1308"/>
                </a:cubicBezTo>
                <a:cubicBezTo>
                  <a:pt x="823" y="1337"/>
                  <a:pt x="859" y="1351"/>
                  <a:pt x="895" y="1351"/>
                </a:cubicBezTo>
                <a:cubicBezTo>
                  <a:pt x="931" y="1351"/>
                  <a:pt x="967" y="1337"/>
                  <a:pt x="996" y="1308"/>
                </a:cubicBezTo>
                <a:lnTo>
                  <a:pt x="1522" y="774"/>
                </a:lnTo>
                <a:cubicBezTo>
                  <a:pt x="1580" y="717"/>
                  <a:pt x="1573" y="630"/>
                  <a:pt x="1522" y="573"/>
                </a:cubicBezTo>
                <a:lnTo>
                  <a:pt x="996" y="46"/>
                </a:lnTo>
                <a:cubicBezTo>
                  <a:pt x="965" y="15"/>
                  <a:pt x="928" y="1"/>
                  <a:pt x="891" y="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97BE1-FC5D-7442-24C2-FDEAEC49F58A}"/>
              </a:ext>
            </a:extLst>
          </p:cNvPr>
          <p:cNvSpPr txBox="1"/>
          <p:nvPr/>
        </p:nvSpPr>
        <p:spPr>
          <a:xfrm>
            <a:off x="9389367" y="2923235"/>
            <a:ext cx="217225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Wettercode_0</a:t>
            </a:r>
          </a:p>
          <a:p>
            <a:r>
              <a:rPr lang="en-GB" dirty="0"/>
              <a:t>Wettercode_5</a:t>
            </a:r>
          </a:p>
          <a:p>
            <a:r>
              <a:rPr lang="en-GB" dirty="0"/>
              <a:t>Wettercode_10</a:t>
            </a:r>
          </a:p>
          <a:p>
            <a:r>
              <a:rPr lang="en-GB" dirty="0"/>
              <a:t>Wettercode_21</a:t>
            </a:r>
          </a:p>
          <a:p>
            <a:r>
              <a:rPr lang="en-GB" dirty="0"/>
              <a:t>Wettercode_61</a:t>
            </a:r>
          </a:p>
          <a:p>
            <a:r>
              <a:rPr lang="en-GB" dirty="0"/>
              <a:t>Wettercode_63</a:t>
            </a:r>
          </a:p>
          <a:p>
            <a:r>
              <a:rPr lang="en-GB" dirty="0" err="1"/>
              <a:t>Wettercode_NAN</a:t>
            </a:r>
            <a:endParaRPr lang="en-GB" dirty="0"/>
          </a:p>
          <a:p>
            <a:r>
              <a:rPr lang="en-GB" dirty="0" err="1"/>
              <a:t>Wettercode_REST</a:t>
            </a:r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DB7B1AB-58C3-1E8F-8D9F-A984EC8EE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</a:t>
            </a:r>
            <a:endParaRPr lang="en-GB" sz="3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FC25D8-D11B-A7CE-BD9D-6C8275F0289E}"/>
              </a:ext>
            </a:extLst>
          </p:cNvPr>
          <p:cNvSpPr txBox="1"/>
          <p:nvPr/>
        </p:nvSpPr>
        <p:spPr>
          <a:xfrm>
            <a:off x="4740681" y="1948859"/>
            <a:ext cx="305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Weather code distribution</a:t>
            </a:r>
            <a:endParaRPr lang="en-GB" sz="2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305B253-4052-6ABC-53FA-6AF69E3CDA79}"/>
              </a:ext>
            </a:extLst>
          </p:cNvPr>
          <p:cNvSpPr txBox="1"/>
          <p:nvPr/>
        </p:nvSpPr>
        <p:spPr>
          <a:xfrm>
            <a:off x="9134373" y="1948859"/>
            <a:ext cx="305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One-Hot Encoding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1BC01-A05E-750F-C2DE-497CA9583F5D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581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5A4B5-0372-3F67-AC94-F9B608C8F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65F4FD0-79E5-DD61-39EE-6E078DDBB0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2"/>
          <a:stretch>
            <a:fillRect/>
          </a:stretch>
        </p:blipFill>
        <p:spPr>
          <a:xfrm>
            <a:off x="1925782" y="0"/>
            <a:ext cx="9357306" cy="661221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39EA7D-2944-F8BB-0790-D8DDA37C5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8</a:t>
            </a:fld>
            <a:endParaRPr lang="de-DE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5A58E2A5-3356-6A14-2858-DE769781C175}"/>
              </a:ext>
            </a:extLst>
          </p:cNvPr>
          <p:cNvSpPr/>
          <p:nvPr/>
        </p:nvSpPr>
        <p:spPr>
          <a:xfrm>
            <a:off x="1475507" y="1939634"/>
            <a:ext cx="378036" cy="2499893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D68E482B-25D3-BFFD-5058-9F8CCFD17552}"/>
              </a:ext>
            </a:extLst>
          </p:cNvPr>
          <p:cNvSpPr/>
          <p:nvPr/>
        </p:nvSpPr>
        <p:spPr>
          <a:xfrm>
            <a:off x="1544822" y="5618019"/>
            <a:ext cx="310248" cy="738331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C5493EA-DEB7-819D-7281-6B735A768E18}"/>
              </a:ext>
            </a:extLst>
          </p:cNvPr>
          <p:cNvSpPr/>
          <p:nvPr/>
        </p:nvSpPr>
        <p:spPr>
          <a:xfrm>
            <a:off x="1543295" y="4558749"/>
            <a:ext cx="310248" cy="940048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8049DF-BB52-0205-2974-D21A3E754FED}"/>
              </a:ext>
            </a:extLst>
          </p:cNvPr>
          <p:cNvSpPr txBox="1"/>
          <p:nvPr/>
        </p:nvSpPr>
        <p:spPr>
          <a:xfrm>
            <a:off x="461792" y="2960839"/>
            <a:ext cx="977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Training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211579-C895-7DF8-1988-703A8AA4EBB0}"/>
              </a:ext>
            </a:extLst>
          </p:cNvPr>
          <p:cNvSpPr txBox="1"/>
          <p:nvPr/>
        </p:nvSpPr>
        <p:spPr>
          <a:xfrm>
            <a:off x="322253" y="4844107"/>
            <a:ext cx="1208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Validation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71FED-4548-AEA1-975F-4AB58A7DCE8B}"/>
              </a:ext>
            </a:extLst>
          </p:cNvPr>
          <p:cNvSpPr txBox="1"/>
          <p:nvPr/>
        </p:nvSpPr>
        <p:spPr>
          <a:xfrm>
            <a:off x="921084" y="5802518"/>
            <a:ext cx="608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Test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5B894-46ED-89DF-D13F-791365A0EE07}"/>
              </a:ext>
            </a:extLst>
          </p:cNvPr>
          <p:cNvSpPr txBox="1"/>
          <p:nvPr/>
        </p:nvSpPr>
        <p:spPr>
          <a:xfrm>
            <a:off x="150785" y="155195"/>
            <a:ext cx="1702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C60A9"/>
                </a:solidFill>
              </a:rPr>
              <a:t>Full dataset</a:t>
            </a:r>
            <a:endParaRPr lang="en-GB" b="1" dirty="0">
              <a:solidFill>
                <a:srgbClr val="1C60A9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89083A-BE9E-C0CF-FE77-0E29A0512F8C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45286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ECE9-6D9E-9E37-8E1A-D2A31B44E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6FC09F-B539-64E9-5BFB-2E19E12C3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129" y="2057399"/>
            <a:ext cx="8813341" cy="2748605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0" name="Picture 9" descr="A screenshot of a document&#10;&#10;AI-generated content may be incorrect.">
            <a:extLst>
              <a:ext uri="{FF2B5EF4-FFF2-40B4-BE49-F238E27FC236}">
                <a16:creationId xmlns:a16="http://schemas.microsoft.com/office/drawing/2014/main" id="{A8BF8A03-866A-5220-CC7A-B17CC0387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0088" y="136525"/>
            <a:ext cx="9671823" cy="648198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32A68-DF30-BC59-EC1F-A33CEECBE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9</a:t>
            </a:fld>
            <a:endParaRPr lang="de-D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31033C-67BC-9764-3CEC-05688F5CF210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Neural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6222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FB400-4531-965B-0FD5-CF4AAA00F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8B247F-76E9-DEE9-CA7F-0A59B568F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4E58EE-AC79-B367-77AB-BC04DD1F4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10</a:t>
            </a:fld>
            <a:endParaRPr lang="de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297CAB-61F1-1C7C-66B3-09BA0BBB0A31}"/>
              </a:ext>
            </a:extLst>
          </p:cNvPr>
          <p:cNvSpPr/>
          <p:nvPr/>
        </p:nvSpPr>
        <p:spPr>
          <a:xfrm>
            <a:off x="196375" y="2953463"/>
            <a:ext cx="2060293" cy="179231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dirty="0"/>
              <a:t>Temperature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School Holidays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Weekday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Days till NYE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13AA277-D541-DE90-66F5-A68FDC064C74}"/>
              </a:ext>
            </a:extLst>
          </p:cNvPr>
          <p:cNvSpPr txBox="1"/>
          <p:nvPr/>
        </p:nvSpPr>
        <p:spPr>
          <a:xfrm>
            <a:off x="196374" y="2515034"/>
            <a:ext cx="2060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Features</a:t>
            </a:r>
            <a:r>
              <a:rPr lang="en-GB" b="1" dirty="0"/>
              <a:t>: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1BD9003-8AD4-D5FB-41BC-91B720CD5C6D}"/>
              </a:ext>
            </a:extLst>
          </p:cNvPr>
          <p:cNvCxnSpPr>
            <a:cxnSpLocks/>
          </p:cNvCxnSpPr>
          <p:nvPr/>
        </p:nvCxnSpPr>
        <p:spPr>
          <a:xfrm>
            <a:off x="2453833" y="3507912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7F71682-02EA-F19A-3E6C-75AA394FC281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F90E0F4-DC7B-FB01-B08C-F930D3D2B032}"/>
              </a:ext>
            </a:extLst>
          </p:cNvPr>
          <p:cNvCxnSpPr>
            <a:cxnSpLocks/>
          </p:cNvCxnSpPr>
          <p:nvPr/>
        </p:nvCxnSpPr>
        <p:spPr>
          <a:xfrm>
            <a:off x="8527530" y="3555229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2DCCB91-F3A7-D5E5-EEB8-6956B3E4E6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890" y="1723690"/>
            <a:ext cx="7744906" cy="23911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4A500CD-B940-4014-0654-38E3571E8465}"/>
              </a:ext>
            </a:extLst>
          </p:cNvPr>
          <p:cNvSpPr txBox="1"/>
          <p:nvPr/>
        </p:nvSpPr>
        <p:spPr>
          <a:xfrm>
            <a:off x="3988768" y="4382077"/>
            <a:ext cx="4214462" cy="1889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000" dirty="0" err="1">
                <a:latin typeface="Consolas" panose="020B0609020204030204" pitchFamily="49" charset="0"/>
              </a:rPr>
              <a:t>learning_rate</a:t>
            </a:r>
            <a:r>
              <a:rPr lang="en-GB" sz="2000" dirty="0">
                <a:latin typeface="Consolas" panose="020B0609020204030204" pitchFamily="49" charset="0"/>
              </a:rPr>
              <a:t>=0.0001</a:t>
            </a:r>
          </a:p>
          <a:p>
            <a:pPr>
              <a:lnSpc>
                <a:spcPct val="150000"/>
              </a:lnSpc>
            </a:pPr>
            <a:r>
              <a:rPr lang="en-GB" sz="2000" dirty="0">
                <a:latin typeface="Consolas" panose="020B0609020204030204" pitchFamily="49" charset="0"/>
              </a:rPr>
              <a:t>Epochs = 600</a:t>
            </a:r>
          </a:p>
          <a:p>
            <a:pPr>
              <a:lnSpc>
                <a:spcPct val="150000"/>
              </a:lnSpc>
            </a:pPr>
            <a:r>
              <a:rPr lang="en-GB" sz="2000" dirty="0" err="1">
                <a:latin typeface="Consolas" panose="020B0609020204030204" pitchFamily="49" charset="0"/>
              </a:rPr>
              <a:t>Batch_Size</a:t>
            </a:r>
            <a:r>
              <a:rPr lang="en-GB" sz="2000" dirty="0">
                <a:latin typeface="Consolas" panose="020B0609020204030204" pitchFamily="49" charset="0"/>
              </a:rPr>
              <a:t> = 32</a:t>
            </a:r>
          </a:p>
          <a:p>
            <a:pPr>
              <a:lnSpc>
                <a:spcPct val="150000"/>
              </a:lnSpc>
            </a:pPr>
            <a:r>
              <a:rPr lang="en-GB" sz="2000" dirty="0">
                <a:latin typeface="Consolas" panose="020B0609020204030204" pitchFamily="49" charset="0"/>
              </a:rPr>
              <a:t>Early stop</a:t>
            </a:r>
          </a:p>
        </p:txBody>
      </p:sp>
    </p:spTree>
    <p:extLst>
      <p:ext uri="{BB962C8B-B14F-4D97-AF65-F5344CB8AC3E}">
        <p14:creationId xmlns:p14="http://schemas.microsoft.com/office/powerpoint/2010/main" val="1505701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49186-8DD2-F2F3-41CA-BE44A614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2B8699-E311-9187-C1AC-56C9719D6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929A91-8570-BD06-B796-F9EC9935E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11</a:t>
            </a:fld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442BF3-911B-A19B-2353-A151027BAD55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BFC92FE-CA2C-ED19-2DC4-4C360470C863}"/>
              </a:ext>
            </a:extLst>
          </p:cNvPr>
          <p:cNvGrpSpPr/>
          <p:nvPr/>
        </p:nvGrpSpPr>
        <p:grpSpPr>
          <a:xfrm>
            <a:off x="355109" y="2142715"/>
            <a:ext cx="2640059" cy="2905369"/>
            <a:chOff x="9139345" y="1842912"/>
            <a:chExt cx="2640059" cy="2905369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52FAF9E-1FFA-DA77-35CD-2C61E5B0CA7D}"/>
                </a:ext>
              </a:extLst>
            </p:cNvPr>
            <p:cNvSpPr txBox="1"/>
            <p:nvPr/>
          </p:nvSpPr>
          <p:spPr>
            <a:xfrm>
              <a:off x="9739510" y="4378949"/>
              <a:ext cx="1439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0.18081</a:t>
              </a:r>
              <a:endParaRPr lang="en-GB" b="1" dirty="0"/>
            </a:p>
          </p:txBody>
        </p:sp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05625916-4F74-97B2-CA33-FED8ADFE5C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49429" y="3985911"/>
              <a:ext cx="1019892" cy="3956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DFB0E2C-9FD8-79D9-69B0-9DF171AE3039}"/>
                </a:ext>
              </a:extLst>
            </p:cNvPr>
            <p:cNvSpPr/>
            <p:nvPr/>
          </p:nvSpPr>
          <p:spPr>
            <a:xfrm>
              <a:off x="9139345" y="1842912"/>
              <a:ext cx="2640059" cy="1792313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en-GB" sz="2400" b="1" dirty="0"/>
                <a:t>MAPE</a:t>
              </a:r>
            </a:p>
            <a:p>
              <a:pPr algn="ctr">
                <a:lnSpc>
                  <a:spcPct val="150000"/>
                </a:lnSpc>
              </a:pPr>
              <a:r>
                <a:rPr lang="en-GB" dirty="0"/>
                <a:t>Validation Data : 19%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70F9E39B-E5F2-B8FE-493E-7BEE99B160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2880" y="1890938"/>
            <a:ext cx="7645717" cy="4088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666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064AD-5C9C-B64F-ACB0-3B9B5747E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4">
            <a:extLst>
              <a:ext uri="{FF2B5EF4-FFF2-40B4-BE49-F238E27FC236}">
                <a16:creationId xmlns:a16="http://schemas.microsoft.com/office/drawing/2014/main" id="{6A3DCC3C-6E46-8D08-E5D0-19B827906B36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444C1B-9106-107A-1D4A-BD7B375C4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</a:t>
            </a:r>
            <a:r>
              <a:rPr lang="en-US" sz="2400" dirty="0"/>
              <a:t>– Validation Dataset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32D0B0-2DA6-0D44-E1A2-50AE3E404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12</a:t>
            </a:fld>
            <a:endParaRPr lang="de-DE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78E0325-FA2E-8937-2771-8B89B3D9E8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3535252"/>
              </p:ext>
            </p:extLst>
          </p:nvPr>
        </p:nvGraphicFramePr>
        <p:xfrm>
          <a:off x="514009" y="2582874"/>
          <a:ext cx="3264465" cy="2678351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47584">
                  <a:extLst>
                    <a:ext uri="{9D8B030D-6E8A-4147-A177-3AD203B41FA5}">
                      <a16:colId xmlns:a16="http://schemas.microsoft.com/office/drawing/2014/main" val="241538181"/>
                    </a:ext>
                  </a:extLst>
                </a:gridCol>
                <a:gridCol w="1516881">
                  <a:extLst>
                    <a:ext uri="{9D8B030D-6E8A-4147-A177-3AD203B41FA5}">
                      <a16:colId xmlns:a16="http://schemas.microsoft.com/office/drawing/2014/main" val="1421997003"/>
                    </a:ext>
                  </a:extLst>
                </a:gridCol>
              </a:tblGrid>
              <a:tr h="4125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Product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MAPE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4346026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20.29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996522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15.52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336285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19.75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70930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22.85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81540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17.95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6519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50.12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06744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443FC44C-1194-8DEA-1578-33A199AC4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2590" y="2142675"/>
            <a:ext cx="7753493" cy="34219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2074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F6418-DACC-03E6-70E9-910D55646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6724B-10E4-4F2B-608F-1474C2F84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9567442" cy="4351338"/>
          </a:xfrm>
        </p:spPr>
        <p:txBody>
          <a:bodyPr/>
          <a:lstStyle/>
          <a:p>
            <a:r>
              <a:rPr lang="en-US" dirty="0"/>
              <a:t>Select features</a:t>
            </a:r>
            <a:r>
              <a:rPr lang="en-GB" dirty="0"/>
              <a:t> &amp;  Prevent overfitting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 Predict Group 6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Biggest Improvement: Removing variables, simplifying the model</a:t>
            </a:r>
          </a:p>
          <a:p>
            <a:endParaRPr lang="en-GB" dirty="0"/>
          </a:p>
          <a:p>
            <a:endParaRPr lang="en-GB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B1F11F-D0B4-0880-8C7A-A219022B3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13</a:t>
            </a:fld>
            <a:endParaRPr lang="de-DE" dirty="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D92427E-BECE-FD08-4379-58F3CDFB7E67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Challenges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D175437-8C7C-BB7F-11BE-9634A9F03D77}"/>
              </a:ext>
            </a:extLst>
          </p:cNvPr>
          <p:cNvGrpSpPr/>
          <p:nvPr/>
        </p:nvGrpSpPr>
        <p:grpSpPr>
          <a:xfrm>
            <a:off x="9097729" y="1177488"/>
            <a:ext cx="1595548" cy="1756414"/>
            <a:chOff x="5966837" y="4599935"/>
            <a:chExt cx="1595548" cy="175641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26D9126-266E-3DB6-1D11-ECE38E8A58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6395"/>
            <a:stretch>
              <a:fillRect/>
            </a:stretch>
          </p:blipFill>
          <p:spPr>
            <a:xfrm>
              <a:off x="5966837" y="4894728"/>
              <a:ext cx="1595548" cy="1461621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5F0E0502-D00B-2C08-CA98-AAB364AFDD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95708" y="4599935"/>
              <a:ext cx="737806" cy="2861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C9E71C30-8BFE-4796-341A-734ED67524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04362" y="750326"/>
            <a:ext cx="4232977" cy="29055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9435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D0084-D7A7-62F1-062E-5C42CD41E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C43FBD30-F6D2-0D6E-D6C2-EEDB360D7B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49" r="4849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Google Shape;266;p38">
            <a:extLst>
              <a:ext uri="{FF2B5EF4-FFF2-40B4-BE49-F238E27FC236}">
                <a16:creationId xmlns:a16="http://schemas.microsoft.com/office/drawing/2014/main" id="{124B0421-0034-C78B-6D27-9C5A86FB8D51}"/>
              </a:ext>
            </a:extLst>
          </p:cNvPr>
          <p:cNvSpPr txBox="1">
            <a:spLocks/>
          </p:cNvSpPr>
          <p:nvPr/>
        </p:nvSpPr>
        <p:spPr>
          <a:xfrm>
            <a:off x="2548062" y="2548685"/>
            <a:ext cx="7095875" cy="1505957"/>
          </a:xfrm>
          <a:prstGeom prst="rect">
            <a:avLst/>
          </a:prstGeom>
          <a:noFill/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67" b="0" i="0" u="none" strike="noStrike" kern="1200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8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Thank you!</a:t>
            </a:r>
          </a:p>
        </p:txBody>
      </p:sp>
      <p:sp>
        <p:nvSpPr>
          <p:cNvPr id="11" name="Google Shape;266;p38">
            <a:extLst>
              <a:ext uri="{FF2B5EF4-FFF2-40B4-BE49-F238E27FC236}">
                <a16:creationId xmlns:a16="http://schemas.microsoft.com/office/drawing/2014/main" id="{0FB18EF1-BF79-8F49-B29D-3EEC09589374}"/>
              </a:ext>
            </a:extLst>
          </p:cNvPr>
          <p:cNvSpPr txBox="1">
            <a:spLocks/>
          </p:cNvSpPr>
          <p:nvPr/>
        </p:nvSpPr>
        <p:spPr>
          <a:xfrm>
            <a:off x="2548062" y="3856752"/>
            <a:ext cx="7095875" cy="7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4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Questions?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500316-09E9-72E5-CDDB-B463A913335B}"/>
              </a:ext>
            </a:extLst>
          </p:cNvPr>
          <p:cNvSpPr txBox="1"/>
          <p:nvPr/>
        </p:nvSpPr>
        <p:spPr>
          <a:xfrm>
            <a:off x="2044364" y="6418661"/>
            <a:ext cx="81032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Introduction to Data Science and Machine Learning • </a:t>
            </a:r>
            <a:r>
              <a:rPr lang="en-GB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SoSe</a:t>
            </a:r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2025 • Group 3</a:t>
            </a:r>
          </a:p>
        </p:txBody>
      </p:sp>
    </p:spTree>
    <p:extLst>
      <p:ext uri="{BB962C8B-B14F-4D97-AF65-F5344CB8AC3E}">
        <p14:creationId xmlns:p14="http://schemas.microsoft.com/office/powerpoint/2010/main" val="179914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A3B43-3D6D-3AE0-F5E9-98AFED556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642" y="2766218"/>
            <a:ext cx="10515600" cy="1325563"/>
          </a:xfrm>
        </p:spPr>
        <p:txBody>
          <a:bodyPr/>
          <a:lstStyle/>
          <a:p>
            <a:r>
              <a:rPr lang="en-US" dirty="0"/>
              <a:t>AFTER THIS SLIDE ALL THE UNUSED SLIDES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2FF45-92F5-0725-AFA6-3D55E0F66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21757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A4A2B-A563-8D25-F91D-B6DE7CF03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0C0CFE69-0BC5-10DD-F40C-9F5B47C9DB6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74329CC1-3E24-3DC9-0709-E6D9815CDA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6885" y="605696"/>
            <a:ext cx="9298230" cy="5975305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8057835F-B58A-52D7-C8E6-AEE22F088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 – option 1</a:t>
            </a:r>
            <a:endParaRPr lang="en-GB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F32F49-F7DC-0B5C-D84D-FF46B6A8A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0653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8F26B-EEDF-1BF1-8C15-F07959807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2FA2429B-E532-AE85-3480-7E523B4796F2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F7EEF2A-24E4-134A-46AC-94E8AD3E4C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6885" y="666332"/>
            <a:ext cx="9298230" cy="585403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E60219-8521-0713-2F56-D31622D06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17</a:t>
            </a:fld>
            <a:endParaRPr lang="de-DE"/>
          </a:p>
        </p:txBody>
      </p:sp>
      <p:sp>
        <p:nvSpPr>
          <p:cNvPr id="7" name="Title 5">
            <a:extLst>
              <a:ext uri="{FF2B5EF4-FFF2-40B4-BE49-F238E27FC236}">
                <a16:creationId xmlns:a16="http://schemas.microsoft.com/office/drawing/2014/main" id="{4BC40D21-5199-EE84-FCBB-876E1155AA80}"/>
              </a:ext>
            </a:extLst>
          </p:cNvPr>
          <p:cNvSpPr txBox="1">
            <a:spLocks/>
          </p:cNvSpPr>
          <p:nvPr/>
        </p:nvSpPr>
        <p:spPr>
          <a:xfrm>
            <a:off x="229515" y="136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/>
              <a:t>Dealing with missing values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0077105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B9FEE-4B08-6D63-A4FF-795B22CCF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861558DA-2C5D-8E45-448B-CFFE926B267E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363918E8-E9CF-0F0E-2A7E-23840F8B10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6670" y="-129755"/>
            <a:ext cx="9878660" cy="648610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B44934-BC28-F8ED-5A8B-24681CB3F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1893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BD1E63-5B3F-2587-2ECC-07EE6B2AF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44F6CDAE-08BF-E64C-E50F-6340BA704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4484" y="0"/>
            <a:ext cx="11263031" cy="6858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5634A94-AF14-F23F-C63C-4A4C613B104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9C6682-84CB-F038-85C4-D1C6DCB1F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94915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F9B6C-ADC8-1490-E36A-62E075121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42986ED7-7F81-65BF-4E62-4C08801FB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05" y="470780"/>
            <a:ext cx="11278789" cy="5639395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53BAA4C1-94F1-F42B-C394-4865B7E235D6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A0711C-F0D9-1923-8FB4-A707908C1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87054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050B-A8AD-D44C-BDB5-DAEF07483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00947-4782-3164-3F43-60FB01F5A96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EA9C2870-49A5-522B-CF9B-96A71E25A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39"/>
          <a:stretch>
            <a:fillRect/>
          </a:stretch>
        </p:blipFill>
        <p:spPr>
          <a:xfrm>
            <a:off x="389487" y="-3886"/>
            <a:ext cx="11413025" cy="658488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679775-37E7-FC6D-85B4-1280FF07D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0275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2FF10-0B82-01EB-A019-DEB90DCFC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A4ED14-29E3-5C36-80A2-23319535962A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760DB1F9-1757-7989-082A-781614D707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56"/>
          <a:stretch>
            <a:fillRect/>
          </a:stretch>
        </p:blipFill>
        <p:spPr>
          <a:xfrm>
            <a:off x="250257" y="0"/>
            <a:ext cx="11691486" cy="658100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ADBEA1-31EF-4EE4-0BB8-AD1312F0F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51191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07184-045D-5BD1-0E31-4047B75F7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F0A034E7-CA71-E98C-AD52-B30D331867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3948" y="0"/>
            <a:ext cx="11210371" cy="6861838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27971549-C282-0F3B-E751-188C3029DF94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023DCC-0A33-6888-F9D2-759E98294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13216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4F7B3-7E84-BDB7-EE3A-B17750D62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2CE0A70-2ABA-2EA3-66C5-4004AAA22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9B9EAB-729B-286E-841D-270974CDD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24</a:t>
            </a:fld>
            <a:endParaRPr lang="de-DE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95C1F2-6B30-2F7A-2778-93CE3CD56B4A}"/>
              </a:ext>
            </a:extLst>
          </p:cNvPr>
          <p:cNvSpPr txBox="1"/>
          <p:nvPr/>
        </p:nvSpPr>
        <p:spPr>
          <a:xfrm>
            <a:off x="10152105" y="4233003"/>
            <a:ext cx="14397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0.18081</a:t>
            </a:r>
            <a:endParaRPr lang="en-GB" b="1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A847370-ACF1-23B8-CEEC-E23AFA3FB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2024" y="3839965"/>
            <a:ext cx="1019892" cy="395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2CA44A45-087A-C3C2-2F29-FDA950B19C98}"/>
              </a:ext>
            </a:extLst>
          </p:cNvPr>
          <p:cNvGrpSpPr/>
          <p:nvPr/>
        </p:nvGrpSpPr>
        <p:grpSpPr>
          <a:xfrm>
            <a:off x="3071962" y="1900172"/>
            <a:ext cx="6694805" cy="3425895"/>
            <a:chOff x="2058288" y="1690688"/>
            <a:chExt cx="6694805" cy="342589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33F92DB-B4B3-6464-9CD4-B65592C22CEA}"/>
                </a:ext>
              </a:extLst>
            </p:cNvPr>
            <p:cNvSpPr txBox="1"/>
            <p:nvPr/>
          </p:nvSpPr>
          <p:spPr>
            <a:xfrm>
              <a:off x="2058288" y="4680283"/>
              <a:ext cx="15079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Input Layer</a:t>
              </a:r>
              <a:endParaRPr lang="en-GB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0913096-728C-D0D0-6365-4D06BEE23123}"/>
                </a:ext>
              </a:extLst>
            </p:cNvPr>
            <p:cNvSpPr txBox="1"/>
            <p:nvPr/>
          </p:nvSpPr>
          <p:spPr>
            <a:xfrm>
              <a:off x="4448910" y="4734732"/>
              <a:ext cx="1905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Hidden Layers</a:t>
              </a:r>
              <a:endParaRPr lang="en-GB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5088378-9253-79E8-0EE5-53520AD1447D}"/>
                </a:ext>
              </a:extLst>
            </p:cNvPr>
            <p:cNvSpPr txBox="1"/>
            <p:nvPr/>
          </p:nvSpPr>
          <p:spPr>
            <a:xfrm>
              <a:off x="6931654" y="4747251"/>
              <a:ext cx="18214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Output Layer</a:t>
              </a:r>
              <a:endParaRPr lang="en-GB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BDEA889-EEB6-9B48-CC68-CDB7B6A3F6EB}"/>
                </a:ext>
              </a:extLst>
            </p:cNvPr>
            <p:cNvSpPr/>
            <p:nvPr/>
          </p:nvSpPr>
          <p:spPr>
            <a:xfrm>
              <a:off x="7291135" y="2177716"/>
              <a:ext cx="1050757" cy="2502568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923FBCA-5D58-5EF5-9D30-BCE8F455DF56}"/>
                </a:ext>
              </a:extLst>
            </p:cNvPr>
            <p:cNvGrpSpPr/>
            <p:nvPr/>
          </p:nvGrpSpPr>
          <p:grpSpPr>
            <a:xfrm>
              <a:off x="2379133" y="2305550"/>
              <a:ext cx="866273" cy="1648872"/>
              <a:chOff x="1766256" y="2357642"/>
              <a:chExt cx="866273" cy="1648872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3061EA9-C787-4181-650A-EEFD172A41E1}"/>
                  </a:ext>
                </a:extLst>
              </p:cNvPr>
              <p:cNvSpPr/>
              <p:nvPr/>
            </p:nvSpPr>
            <p:spPr>
              <a:xfrm>
                <a:off x="1766256" y="2851483"/>
                <a:ext cx="866273" cy="1155031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3E7341E-6507-1310-04A4-F3A16DA1B026}"/>
                  </a:ext>
                </a:extLst>
              </p:cNvPr>
              <p:cNvSpPr txBox="1"/>
              <p:nvPr/>
            </p:nvSpPr>
            <p:spPr>
              <a:xfrm>
                <a:off x="1980817" y="2357642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</a:t>
                </a:r>
                <a:endParaRPr lang="en-GB" dirty="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097B4C84-D3AF-6BD7-C794-550C32EFB3E6}"/>
                </a:ext>
              </a:extLst>
            </p:cNvPr>
            <p:cNvGrpSpPr/>
            <p:nvPr/>
          </p:nvGrpSpPr>
          <p:grpSpPr>
            <a:xfrm>
              <a:off x="3376863" y="1690688"/>
              <a:ext cx="1050758" cy="2989596"/>
              <a:chOff x="3376863" y="1690688"/>
              <a:chExt cx="1050758" cy="2989596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0C766B-C4A1-6C16-BB67-22B0344A12E6}"/>
                  </a:ext>
                </a:extLst>
              </p:cNvPr>
              <p:cNvSpPr/>
              <p:nvPr/>
            </p:nvSpPr>
            <p:spPr>
              <a:xfrm>
                <a:off x="3376864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FAC438F-1331-50AE-818F-FD64636F5AE7}"/>
                  </a:ext>
                </a:extLst>
              </p:cNvPr>
              <p:cNvSpPr/>
              <p:nvPr/>
            </p:nvSpPr>
            <p:spPr>
              <a:xfrm>
                <a:off x="3376863" y="2177716"/>
                <a:ext cx="1050757" cy="25025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C212044-FC3C-455B-A6AD-B48C1BEE026F}"/>
                  </a:ext>
                </a:extLst>
              </p:cNvPr>
              <p:cNvSpPr txBox="1"/>
              <p:nvPr/>
            </p:nvSpPr>
            <p:spPr>
              <a:xfrm>
                <a:off x="3603531" y="1690688"/>
                <a:ext cx="564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128</a:t>
                </a:r>
                <a:endParaRPr lang="en-GB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681D48A-3D3F-4F47-D619-545381DC7DAB}"/>
                </a:ext>
              </a:extLst>
            </p:cNvPr>
            <p:cNvGrpSpPr/>
            <p:nvPr/>
          </p:nvGrpSpPr>
          <p:grpSpPr>
            <a:xfrm>
              <a:off x="4608096" y="1705855"/>
              <a:ext cx="1050758" cy="2988893"/>
              <a:chOff x="5333999" y="1691391"/>
              <a:chExt cx="1050758" cy="2988893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BF72721-3F6C-8728-1351-3E4093F51F5B}"/>
                  </a:ext>
                </a:extLst>
              </p:cNvPr>
              <p:cNvSpPr/>
              <p:nvPr/>
            </p:nvSpPr>
            <p:spPr>
              <a:xfrm>
                <a:off x="5334000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DBCB588-1A2E-013A-BC93-AB356B50A8A1}"/>
                  </a:ext>
                </a:extLst>
              </p:cNvPr>
              <p:cNvSpPr/>
              <p:nvPr/>
            </p:nvSpPr>
            <p:spPr>
              <a:xfrm>
                <a:off x="5333999" y="2177716"/>
                <a:ext cx="1050757" cy="25025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FE1A0C7-456B-847A-CC98-BE791AB5FBDA}"/>
                  </a:ext>
                </a:extLst>
              </p:cNvPr>
              <p:cNvSpPr txBox="1"/>
              <p:nvPr/>
            </p:nvSpPr>
            <p:spPr>
              <a:xfrm>
                <a:off x="5572688" y="1691391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64</a:t>
                </a:r>
                <a:endParaRPr lang="en-GB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63C09D6-7B79-2EDC-894C-0DD68A67B8DC}"/>
                </a:ext>
              </a:extLst>
            </p:cNvPr>
            <p:cNvGrpSpPr/>
            <p:nvPr/>
          </p:nvGrpSpPr>
          <p:grpSpPr>
            <a:xfrm>
              <a:off x="5880897" y="1690688"/>
              <a:ext cx="1050757" cy="2989595"/>
              <a:chOff x="7291136" y="1690688"/>
              <a:chExt cx="1050757" cy="2989595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DB25965-5B7A-D31B-B068-CFD89BD770D2}"/>
                  </a:ext>
                </a:extLst>
              </p:cNvPr>
              <p:cNvSpPr/>
              <p:nvPr/>
            </p:nvSpPr>
            <p:spPr>
              <a:xfrm>
                <a:off x="7291136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41B708B-3EB1-84B3-CCA7-DF33128B16C0}"/>
                  </a:ext>
                </a:extLst>
              </p:cNvPr>
              <p:cNvSpPr txBox="1"/>
              <p:nvPr/>
            </p:nvSpPr>
            <p:spPr>
              <a:xfrm>
                <a:off x="7634041" y="1690688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32</a:t>
                </a:r>
                <a:endParaRPr lang="en-GB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FF35CA1E-719D-2CF3-9AA9-FC73377CE196}"/>
                </a:ext>
              </a:extLst>
            </p:cNvPr>
            <p:cNvGrpSpPr/>
            <p:nvPr/>
          </p:nvGrpSpPr>
          <p:grpSpPr>
            <a:xfrm>
              <a:off x="7059637" y="2374647"/>
              <a:ext cx="866273" cy="1648872"/>
              <a:chOff x="1372715" y="2357642"/>
              <a:chExt cx="866273" cy="1648872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637D48E-57A3-4816-C433-3DA9E257891A}"/>
                  </a:ext>
                </a:extLst>
              </p:cNvPr>
              <p:cNvSpPr/>
              <p:nvPr/>
            </p:nvSpPr>
            <p:spPr>
              <a:xfrm>
                <a:off x="1372715" y="2851483"/>
                <a:ext cx="866273" cy="1155031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8ED33CF-85BC-3F7B-B58E-D90BFC0FAF8D}"/>
                  </a:ext>
                </a:extLst>
              </p:cNvPr>
              <p:cNvSpPr txBox="1"/>
              <p:nvPr/>
            </p:nvSpPr>
            <p:spPr>
              <a:xfrm>
                <a:off x="1587276" y="2357642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</a:t>
                </a:r>
                <a:endParaRPr lang="en-GB" dirty="0"/>
              </a:p>
            </p:txBody>
          </p:sp>
        </p:grp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15ADB37F-5D05-936D-6838-6E0BFBDA6C26}"/>
              </a:ext>
            </a:extLst>
          </p:cNvPr>
          <p:cNvSpPr/>
          <p:nvPr/>
        </p:nvSpPr>
        <p:spPr>
          <a:xfrm>
            <a:off x="196375" y="2953463"/>
            <a:ext cx="2060293" cy="179231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dirty="0"/>
              <a:t>Temperature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School Holidays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Weekday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Days till NYE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56498C1-B726-968C-45CE-1C366351198D}"/>
              </a:ext>
            </a:extLst>
          </p:cNvPr>
          <p:cNvSpPr txBox="1"/>
          <p:nvPr/>
        </p:nvSpPr>
        <p:spPr>
          <a:xfrm>
            <a:off x="196374" y="2515034"/>
            <a:ext cx="2060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Features</a:t>
            </a:r>
            <a:r>
              <a:rPr lang="en-GB" b="1" dirty="0"/>
              <a:t>: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C525AE7-D423-56C9-0A92-A5FFF3B48F4F}"/>
              </a:ext>
            </a:extLst>
          </p:cNvPr>
          <p:cNvCxnSpPr>
            <a:cxnSpLocks/>
          </p:cNvCxnSpPr>
          <p:nvPr/>
        </p:nvCxnSpPr>
        <p:spPr>
          <a:xfrm>
            <a:off x="2453833" y="3507912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9E116F47-98E5-2396-BCC3-0246C5EEB45D}"/>
              </a:ext>
            </a:extLst>
          </p:cNvPr>
          <p:cNvSpPr/>
          <p:nvPr/>
        </p:nvSpPr>
        <p:spPr>
          <a:xfrm>
            <a:off x="9551941" y="2047652"/>
            <a:ext cx="2640059" cy="179231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b="1" dirty="0"/>
              <a:t>MAPE</a:t>
            </a:r>
          </a:p>
          <a:p>
            <a:pPr>
              <a:lnSpc>
                <a:spcPct val="150000"/>
              </a:lnSpc>
            </a:pPr>
            <a:r>
              <a:rPr lang="en-GB" dirty="0"/>
              <a:t>Validation Data :</a:t>
            </a:r>
          </a:p>
          <a:p>
            <a:pPr>
              <a:lnSpc>
                <a:spcPct val="150000"/>
              </a:lnSpc>
            </a:pPr>
            <a:r>
              <a:rPr lang="en-GB" dirty="0"/>
              <a:t>Train + Validation Data 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CE0876-EABA-CF74-7594-600CE0B3BF86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22308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8011C-A36C-7314-9F77-69BA64CC4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C8B083-DB47-93CD-5BB2-80D02FF34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25</a:t>
            </a:fld>
            <a:endParaRPr lang="de-DE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F96D49E-1D91-057D-C5E7-873A38F9CD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7" t="8222" r="4424" b="8765"/>
          <a:stretch>
            <a:fillRect/>
          </a:stretch>
        </p:blipFill>
        <p:spPr>
          <a:xfrm>
            <a:off x="2222862" y="2163172"/>
            <a:ext cx="7746275" cy="390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974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1715</TotalTime>
  <Words>1190</Words>
  <Application>Microsoft Office PowerPoint</Application>
  <PresentationFormat>Widescreen</PresentationFormat>
  <Paragraphs>236</Paragraphs>
  <Slides>25</Slides>
  <Notes>15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Consolas</vt:lpstr>
      <vt:lpstr>Office Theme</vt:lpstr>
      <vt:lpstr>Bakery Sales Prediction</vt:lpstr>
      <vt:lpstr>Goal: to predict sales for 6 bakery product categories</vt:lpstr>
      <vt:lpstr>Additional variables</vt:lpstr>
      <vt:lpstr>Additional variables</vt:lpstr>
      <vt:lpstr>2 Bar charts for 1 variable for each category</vt:lpstr>
      <vt:lpstr>Dealing with missing values</vt:lpstr>
      <vt:lpstr>Dealing with missing values</vt:lpstr>
      <vt:lpstr>PowerPoint Presentation</vt:lpstr>
      <vt:lpstr>PowerPoint Presentation</vt:lpstr>
      <vt:lpstr>Neural Network</vt:lpstr>
      <vt:lpstr>Neural Network</vt:lpstr>
      <vt:lpstr>Neural Network – Validation Dataset</vt:lpstr>
      <vt:lpstr>Challenges</vt:lpstr>
      <vt:lpstr>PowerPoint Presentation</vt:lpstr>
      <vt:lpstr>AFTER THIS SLIDE ALL THE UNUSED SLIDES</vt:lpstr>
      <vt:lpstr>Dealing with missing values – option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Neural Network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 Roefer</dc:creator>
  <cp:lastModifiedBy>Georgia Avgerinou</cp:lastModifiedBy>
  <cp:revision>14</cp:revision>
  <dcterms:created xsi:type="dcterms:W3CDTF">2025-06-28T09:13:20Z</dcterms:created>
  <dcterms:modified xsi:type="dcterms:W3CDTF">2025-07-03T11:47:44Z</dcterms:modified>
</cp:coreProperties>
</file>