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8"/>
  </p:notesMasterIdLst>
  <p:handoutMasterIdLst>
    <p:handoutMasterId r:id="rId19"/>
  </p:handoutMasterIdLst>
  <p:sldIdLst>
    <p:sldId id="410" r:id="rId5"/>
    <p:sldId id="383" r:id="rId6"/>
    <p:sldId id="391" r:id="rId7"/>
    <p:sldId id="408" r:id="rId8"/>
    <p:sldId id="405" r:id="rId9"/>
    <p:sldId id="407" r:id="rId10"/>
    <p:sldId id="409" r:id="rId11"/>
    <p:sldId id="389" r:id="rId12"/>
    <p:sldId id="397" r:id="rId13"/>
    <p:sldId id="406" r:id="rId14"/>
    <p:sldId id="404" r:id="rId15"/>
    <p:sldId id="403" r:id="rId16"/>
    <p:sldId id="398" r:id="rId17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27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4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26024186-F834-475C-87E8-2BDD0E0CD34D}" type="datetime1">
              <a:rPr lang="de-DE" smtClean="0"/>
              <a:t>26.06.2025</a:t>
            </a:fld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E2C230DF-5933-439D-898F-38E9AC9BA688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8" name="Kopfzeilenplatzhalter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92C0A1D8-3EBE-454B-B392-E1E4A1635681}" type="datetime1">
              <a:rPr lang="de-DE" smtClean="0"/>
              <a:pPr/>
              <a:t>26.06.2025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A89C7E07-3C67-C64C-8DA0-0404F6303970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502331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1160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04331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62480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47593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45968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44881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en-US"/>
              <a:t>Click icon to add table</a:t>
            </a:r>
            <a:endParaRPr lang="de-DE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Titelplatzhalt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0" name="Datumsplatzhalt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32" name="Foliennummernplatzhalt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de-DE"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lang="de-DE">
          <a:solidFill>
            <a:schemeClr val="tx2"/>
          </a:solidFill>
        </a:defRPr>
      </a:lvl2pPr>
      <a:lvl3pPr eaLnBrk="1" hangingPunct="1">
        <a:defRPr lang="de-DE">
          <a:solidFill>
            <a:schemeClr val="tx2"/>
          </a:solidFill>
        </a:defRPr>
      </a:lvl3pPr>
      <a:lvl4pPr eaLnBrk="1" hangingPunct="1">
        <a:defRPr lang="de-DE">
          <a:solidFill>
            <a:schemeClr val="tx2"/>
          </a:solidFill>
        </a:defRPr>
      </a:lvl4pPr>
      <a:lvl5pPr eaLnBrk="1" hangingPunct="1">
        <a:defRPr lang="de-DE">
          <a:solidFill>
            <a:schemeClr val="tx2"/>
          </a:solidFill>
        </a:defRPr>
      </a:lvl5pPr>
      <a:lvl6pPr eaLnBrk="1" hangingPunct="1">
        <a:defRPr lang="de-DE">
          <a:solidFill>
            <a:schemeClr val="tx2"/>
          </a:solidFill>
        </a:defRPr>
      </a:lvl6pPr>
      <a:lvl7pPr eaLnBrk="1" hangingPunct="1">
        <a:defRPr lang="de-DE">
          <a:solidFill>
            <a:schemeClr val="tx2"/>
          </a:solidFill>
        </a:defRPr>
      </a:lvl7pPr>
      <a:lvl8pPr eaLnBrk="1" hangingPunct="1">
        <a:defRPr lang="de-DE">
          <a:solidFill>
            <a:schemeClr val="tx2"/>
          </a:solidFill>
        </a:defRPr>
      </a:lvl8pPr>
      <a:lvl9pPr eaLnBrk="1" hangingPunct="1">
        <a:defRPr lang="de-DE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2789853"/>
            <a:ext cx="5486400" cy="91346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4800" b="0" dirty="0"/>
              <a:t>Group 3</a:t>
            </a:r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E2F44EE5-CC30-3F4A-B566-96257DC204E4}"/>
              </a:ext>
            </a:extLst>
          </p:cNvPr>
          <p:cNvSpPr txBox="1">
            <a:spLocks/>
          </p:cNvSpPr>
          <p:nvPr/>
        </p:nvSpPr>
        <p:spPr>
          <a:xfrm>
            <a:off x="6309904" y="-612394"/>
            <a:ext cx="6727372" cy="329184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de-DE"/>
            </a:defPPr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de-DE" sz="60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lang="de-DE">
                <a:solidFill>
                  <a:schemeClr val="tx2"/>
                </a:solidFill>
              </a:defRPr>
            </a:lvl2pPr>
            <a:lvl3pPr eaLnBrk="1" hangingPunct="1">
              <a:defRPr lang="de-DE">
                <a:solidFill>
                  <a:schemeClr val="tx2"/>
                </a:solidFill>
              </a:defRPr>
            </a:lvl3pPr>
            <a:lvl4pPr eaLnBrk="1" hangingPunct="1">
              <a:defRPr lang="de-DE">
                <a:solidFill>
                  <a:schemeClr val="tx2"/>
                </a:solidFill>
              </a:defRPr>
            </a:lvl4pPr>
            <a:lvl5pPr eaLnBrk="1" hangingPunct="1">
              <a:defRPr lang="de-DE">
                <a:solidFill>
                  <a:schemeClr val="tx2"/>
                </a:solidFill>
              </a:defRPr>
            </a:lvl5pPr>
            <a:lvl6pPr eaLnBrk="1" hangingPunct="1">
              <a:defRPr lang="de-DE">
                <a:solidFill>
                  <a:schemeClr val="tx2"/>
                </a:solidFill>
              </a:defRPr>
            </a:lvl6pPr>
            <a:lvl7pPr eaLnBrk="1" hangingPunct="1">
              <a:defRPr lang="de-DE">
                <a:solidFill>
                  <a:schemeClr val="tx2"/>
                </a:solidFill>
              </a:defRPr>
            </a:lvl7pPr>
            <a:lvl8pPr eaLnBrk="1" hangingPunct="1">
              <a:defRPr lang="de-DE">
                <a:solidFill>
                  <a:schemeClr val="tx2"/>
                </a:solidFill>
              </a:defRPr>
            </a:lvl8pPr>
            <a:lvl9pPr eaLnBrk="1" hangingPunct="1">
              <a:defRPr lang="de-DE">
                <a:solidFill>
                  <a:schemeClr val="tx2"/>
                </a:solidFill>
              </a:defRPr>
            </a:lvl9pPr>
          </a:lstStyle>
          <a:p>
            <a:r>
              <a:rPr lang="de-DE" sz="4800" b="0" dirty="0" err="1"/>
              <a:t>Introduction</a:t>
            </a:r>
            <a:r>
              <a:rPr lang="de-DE" sz="4800" b="0" dirty="0"/>
              <a:t> </a:t>
            </a:r>
            <a:r>
              <a:rPr lang="de-DE" sz="4800" b="0" dirty="0" err="1"/>
              <a:t>to</a:t>
            </a:r>
            <a:endParaRPr lang="de-DE" sz="4800" b="0" dirty="0"/>
          </a:p>
          <a:p>
            <a:r>
              <a:rPr lang="de-DE" sz="4800" b="0" dirty="0"/>
              <a:t>Data Science and </a:t>
            </a:r>
            <a:r>
              <a:rPr lang="de-DE" sz="4800" b="0" dirty="0" err="1"/>
              <a:t>Machine</a:t>
            </a:r>
            <a:r>
              <a:rPr lang="de-DE" sz="4800" b="0" dirty="0"/>
              <a:t> Learning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10BF7EDA-4732-233E-6598-A70AD241F42D}"/>
              </a:ext>
            </a:extLst>
          </p:cNvPr>
          <p:cNvSpPr txBox="1">
            <a:spLocks/>
          </p:cNvSpPr>
          <p:nvPr/>
        </p:nvSpPr>
        <p:spPr>
          <a:xfrm>
            <a:off x="6309904" y="4795930"/>
            <a:ext cx="5486400" cy="1028544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defPPr>
              <a:defRPr lang="de-DE"/>
            </a:defPPr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de-DE" sz="6000" b="1" i="0" kern="1200" spc="1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lang="de-DE">
                <a:solidFill>
                  <a:schemeClr val="tx2"/>
                </a:solidFill>
              </a:defRPr>
            </a:lvl2pPr>
            <a:lvl3pPr eaLnBrk="1" hangingPunct="1">
              <a:defRPr lang="de-DE">
                <a:solidFill>
                  <a:schemeClr val="tx2"/>
                </a:solidFill>
              </a:defRPr>
            </a:lvl3pPr>
            <a:lvl4pPr eaLnBrk="1" hangingPunct="1">
              <a:defRPr lang="de-DE">
                <a:solidFill>
                  <a:schemeClr val="tx2"/>
                </a:solidFill>
              </a:defRPr>
            </a:lvl4pPr>
            <a:lvl5pPr eaLnBrk="1" hangingPunct="1">
              <a:defRPr lang="de-DE">
                <a:solidFill>
                  <a:schemeClr val="tx2"/>
                </a:solidFill>
              </a:defRPr>
            </a:lvl5pPr>
            <a:lvl6pPr eaLnBrk="1" hangingPunct="1">
              <a:defRPr lang="de-DE">
                <a:solidFill>
                  <a:schemeClr val="tx2"/>
                </a:solidFill>
              </a:defRPr>
            </a:lvl6pPr>
            <a:lvl7pPr eaLnBrk="1" hangingPunct="1">
              <a:defRPr lang="de-DE">
                <a:solidFill>
                  <a:schemeClr val="tx2"/>
                </a:solidFill>
              </a:defRPr>
            </a:lvl7pPr>
            <a:lvl8pPr eaLnBrk="1" hangingPunct="1">
              <a:defRPr lang="de-DE">
                <a:solidFill>
                  <a:schemeClr val="tx2"/>
                </a:solidFill>
              </a:defRPr>
            </a:lvl8pPr>
            <a:lvl9pPr eaLnBrk="1" hangingPunct="1">
              <a:defRPr lang="de-DE">
                <a:solidFill>
                  <a:schemeClr val="tx2"/>
                </a:solidFill>
              </a:defRPr>
            </a:lvl9pPr>
          </a:lstStyle>
          <a:p>
            <a:r>
              <a:rPr lang="de-DE" sz="3200" b="0" dirty="0">
                <a:latin typeface="+mn-lt"/>
              </a:rPr>
              <a:t>Georgia </a:t>
            </a:r>
            <a:r>
              <a:rPr lang="de-DE" sz="3200" b="0" dirty="0" err="1">
                <a:latin typeface="+mn-lt"/>
              </a:rPr>
              <a:t>Avgerinou</a:t>
            </a:r>
            <a:endParaRPr lang="de-DE" sz="3200" b="0" dirty="0">
              <a:latin typeface="+mn-lt"/>
            </a:endParaRPr>
          </a:p>
          <a:p>
            <a:endParaRPr lang="de-DE" sz="3200" b="0" dirty="0">
              <a:latin typeface="+mn-lt"/>
            </a:endParaRPr>
          </a:p>
          <a:p>
            <a:r>
              <a:rPr lang="de-DE" sz="3200" b="0" dirty="0">
                <a:latin typeface="+mn-lt"/>
              </a:rPr>
              <a:t>Anton Röfer</a:t>
            </a: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Dataset </a:t>
            </a:r>
            <a:r>
              <a:rPr lang="de-DE" dirty="0" err="1"/>
              <a:t>Characteristics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/>
          <a:lstStyle>
            <a:defPPr>
              <a:defRPr lang="de-DE"/>
            </a:defPPr>
          </a:lstStyle>
          <a:p>
            <a:pPr rtl="0"/>
            <a:r>
              <a:rPr lang="de-DE"/>
              <a:t>Einführung</a:t>
            </a:r>
          </a:p>
          <a:p>
            <a:pPr rtl="0"/>
            <a:r>
              <a:rPr lang="de-DE"/>
              <a:t>Vertrauen aufbauen</a:t>
            </a:r>
          </a:p>
          <a:p>
            <a:pPr rtl="0"/>
            <a:r>
              <a:rPr lang="de-DE"/>
              <a:t>Einbindung des Publikums</a:t>
            </a:r>
          </a:p>
          <a:p>
            <a:pPr rtl="0"/>
            <a:r>
              <a:rPr lang="de-DE"/>
              <a:t>Visuelle Hilfen</a:t>
            </a:r>
          </a:p>
          <a:p>
            <a:pPr rtl="0"/>
            <a:r>
              <a:rPr lang="de-DE"/>
              <a:t>Letzte Tipps und Erkenntnisse</a:t>
            </a:r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en-GB" dirty="0"/>
              <a:t>Baseline Model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281238"/>
            <a:ext cx="7810500" cy="3700462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Stellen Sie Augenkontakt mit Ihrem Publikum her, um ein Gefühl von Vertrautheit und Beteiligung zu erzeugen.</a:t>
            </a:r>
          </a:p>
          <a:p>
            <a:pPr rtl="0"/>
            <a:r>
              <a:rPr lang="de-DE"/>
              <a:t>Binden Sie glaubwürdige Geschichten in Ihre Präsentation ein und verwenden Sie Erzählungen, die Ihre Botschaft einprägsam und überzeugend machen.</a:t>
            </a:r>
          </a:p>
          <a:p>
            <a:pPr rtl="0"/>
            <a:r>
              <a:rPr lang="de-DE"/>
              <a:t>Ermutigen Sie zu Fragen und geben Sie durchdachte Antworten, um die Beteiligung des Publikums zu fördern.</a:t>
            </a:r>
          </a:p>
          <a:p>
            <a:pPr rtl="0"/>
            <a:r>
              <a:rPr lang="de-DE"/>
              <a:t>Verwenden Sie Live-Abstimmungen oder Umfragen, um die Meinung des Publikums einzuholen, das Engagement zu fördern und dafür zu sorgen, dass sich das Publikum einbezogen fühlt.</a:t>
            </a:r>
          </a:p>
          <a:p>
            <a:pPr rtl="0"/>
            <a:endParaRPr lang="de-DE" dirty="0"/>
          </a:p>
          <a:p>
            <a:pPr rtl="0"/>
            <a:endParaRPr lang="de-DE" dirty="0"/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reihandform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" name="Freihandform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2" name="Freihandform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Model Definition and Evaluation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4490827" cy="359747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Dies ist ein mächtiges Werkzeug beim öffentlichen Reden. Dabei werden Tonhöhe, Tonfall und Lautstärke variiert, um Emotionen zu vermitteln, Punkte zu betonen und das Interesse aufrechtzuerhalten:</a:t>
            </a:r>
          </a:p>
          <a:p>
            <a:pPr lvl="1" rtl="0"/>
            <a:r>
              <a:rPr lang="de-DE" dirty="0"/>
              <a:t>Tonhöhenvariation</a:t>
            </a:r>
          </a:p>
          <a:p>
            <a:pPr lvl="1" rtl="0"/>
            <a:r>
              <a:rPr lang="de-DE" dirty="0"/>
              <a:t>Tonfall</a:t>
            </a:r>
          </a:p>
          <a:p>
            <a:pPr lvl="1" rtl="0"/>
            <a:r>
              <a:rPr lang="de-DE" dirty="0"/>
              <a:t>Lautstärkeregelung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FC7B50-71A6-D8BE-C032-5EB4CF5706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81898" y="2676525"/>
            <a:ext cx="4490827" cy="359747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Eine wirkungsvolle Körpersprache unterstreicht Ihre Botschaft und macht sie eindrucksvoller und einprägsamer:</a:t>
            </a:r>
          </a:p>
          <a:p>
            <a:pPr lvl="1" rtl="0"/>
            <a:r>
              <a:rPr lang="de-DE" dirty="0"/>
              <a:t>Aussagekräftiger Augenkontakt</a:t>
            </a:r>
          </a:p>
          <a:p>
            <a:pPr lvl="1" rtl="0"/>
            <a:r>
              <a:rPr lang="de-DE" dirty="0"/>
              <a:t>Gezielte Gesten</a:t>
            </a:r>
          </a:p>
          <a:p>
            <a:pPr lvl="1" rtl="0"/>
            <a:r>
              <a:rPr lang="de-DE" dirty="0"/>
              <a:t>Gute Körperhaltung beibehalten</a:t>
            </a:r>
          </a:p>
          <a:p>
            <a:pPr lvl="1" rtl="0"/>
            <a:r>
              <a:rPr lang="de-DE" dirty="0"/>
              <a:t>Kontrollieren Ihrer Ausdrucksweise</a:t>
            </a: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6A9A9A7-F1D2-237D-AC72-E21A286F0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1409" y="4661717"/>
            <a:ext cx="7936230" cy="138076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Model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B14AAA-1F04-769D-E7F0-4F68C8EB928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3885" y="584005"/>
            <a:ext cx="2825115" cy="399906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Erfahren Sie, wie Sie Energie in Ihren Vortrag einfließen lassen, um einen bleibenden Eindruck zu hinterlassen.</a:t>
            </a:r>
          </a:p>
          <a:p>
            <a:pPr rtl="0"/>
            <a:r>
              <a:rPr lang="de-DE" dirty="0"/>
              <a:t>Eines der Ziele einer effektiven Kommunikation besteht darin, Ihre Zielgruppe zu motivieren.</a:t>
            </a:r>
          </a:p>
        </p:txBody>
      </p:sp>
      <p:graphicFrame>
        <p:nvGraphicFramePr>
          <p:cNvPr id="8" name="Tabellenplatzhalter 2">
            <a:extLst>
              <a:ext uri="{FF2B5EF4-FFF2-40B4-BE49-F238E27FC236}">
                <a16:creationId xmlns:a16="http://schemas.microsoft.com/office/drawing/2014/main" id="{C60AA2D2-28D7-69D7-F6C5-B31DAD3332C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258137056"/>
              </p:ext>
            </p:extLst>
          </p:nvPr>
        </p:nvGraphicFramePr>
        <p:xfrm>
          <a:off x="3670300" y="584200"/>
          <a:ext cx="7930340" cy="3964681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668356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917577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906224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11373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>
                          <a:latin typeface="+mj-lt"/>
                        </a:rPr>
                        <a:t>Metrik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>
                          <a:latin typeface="+mj-lt"/>
                        </a:rPr>
                        <a:t>Messung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 dirty="0">
                          <a:latin typeface="+mj-lt"/>
                        </a:rPr>
                        <a:t>Ziel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>
                          <a:latin typeface="+mj-lt"/>
                        </a:rPr>
                        <a:t>Tatsächlich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708914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 dirty="0"/>
                        <a:t>Anwesenheit des Publikums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Anzahl der Teilnehmer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708914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Vortragsdauer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Minuten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11373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 dirty="0"/>
                        <a:t>Frage-Antwort-Interaktion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Anzahl der Fragen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511373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 dirty="0"/>
                        <a:t>Positives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1012734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 dirty="0"/>
                        <a:t>Rate der Informationsspeicherung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b="0" dirty="0"/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7695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BD29B5-1B58-809F-FEA7-B82105E94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8885" y="3499667"/>
            <a:ext cx="4939666" cy="254281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Challenges and Errors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7C3632C-2D2E-7026-33B8-EE42DA4BDB5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3885" y="457201"/>
            <a:ext cx="5198269" cy="230505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Sich im Voraus mit Ihrem Material vertraut machen</a:t>
            </a:r>
          </a:p>
          <a:p>
            <a:pPr rtl="0"/>
            <a:r>
              <a:rPr lang="de-DE"/>
              <a:t>Antizipieren von häufig gestellten Fragen</a:t>
            </a:r>
          </a:p>
          <a:p>
            <a:pPr rtl="0"/>
            <a:r>
              <a:rPr lang="de-DE"/>
              <a:t>Einüben Ihrer Antworten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599B60-BF79-A832-6AD4-6C6FC6CE431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810595"/>
            <a:ext cx="5198269" cy="3319513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/>
              <a:t>Um Selbstvertrauen und Autorität auszudrücken, ist es wichtig, während der Frage-und-Antwort-Runde Gelassenheit zu bewahren. Beachten Sie die folgenden Tipps, um gelassen zu bleiben:</a:t>
            </a:r>
          </a:p>
          <a:p>
            <a:pPr lvl="1" rtl="0"/>
            <a:r>
              <a:rPr lang="de-DE"/>
              <a:t>Ruhig bleiben</a:t>
            </a:r>
          </a:p>
          <a:p>
            <a:pPr lvl="1" rtl="0"/>
            <a:r>
              <a:rPr lang="de-DE"/>
              <a:t>Aktiv zuhören</a:t>
            </a:r>
          </a:p>
          <a:p>
            <a:pPr lvl="1" rtl="0"/>
            <a:r>
              <a:rPr lang="de-DE"/>
              <a:t>Innehalten und nachdenken</a:t>
            </a:r>
          </a:p>
          <a:p>
            <a:pPr lvl="1" rtl="0"/>
            <a:r>
              <a:rPr lang="de-DE"/>
              <a:t>Augenkontakt beibehalten</a:t>
            </a:r>
          </a:p>
        </p:txBody>
      </p:sp>
    </p:spTree>
    <p:extLst>
      <p:ext uri="{BB962C8B-B14F-4D97-AF65-F5344CB8AC3E}">
        <p14:creationId xmlns:p14="http://schemas.microsoft.com/office/powerpoint/2010/main" val="3088225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platzhalter 10" descr="Nahaufnahme einer Pflanze">
            <a:extLst>
              <a:ext uri="{FF2B5EF4-FFF2-40B4-BE49-F238E27FC236}">
                <a16:creationId xmlns:a16="http://schemas.microsoft.com/office/drawing/2014/main" id="{8DB431A1-9806-9CFE-0E5F-1A5611C2A66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" r="23"/>
          <a:stretch/>
        </p:blipFill>
        <p:spPr>
          <a:xfrm>
            <a:off x="0" y="0"/>
            <a:ext cx="12192000" cy="6880225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9C37279A-330D-886F-340D-494A5005E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9" y="444933"/>
            <a:ext cx="5477479" cy="329184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Macht der Kommunikation</a:t>
            </a:r>
          </a:p>
        </p:txBody>
      </p:sp>
    </p:spTree>
    <p:extLst>
      <p:ext uri="{BB962C8B-B14F-4D97-AF65-F5344CB8AC3E}">
        <p14:creationId xmlns:p14="http://schemas.microsoft.com/office/powerpoint/2010/main" val="224937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B8CE60-587E-1D5C-8B50-ED3441BA49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9835" y="430529"/>
            <a:ext cx="5486400" cy="329184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Nervosität überwinden</a:t>
            </a:r>
          </a:p>
        </p:txBody>
      </p:sp>
      <p:pic>
        <p:nvPicPr>
          <p:cNvPr id="12" name="Bildplatzhalter 4" descr="Nahaufnahme einer Holzmaserung">
            <a:extLst>
              <a:ext uri="{FF2B5EF4-FFF2-40B4-BE49-F238E27FC236}">
                <a16:creationId xmlns:a16="http://schemas.microsoft.com/office/drawing/2014/main" id="{7D5BDB53-9169-3BBC-9362-0539514AC7DD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113"/>
            <a:ext cx="5791200" cy="6880226"/>
          </a:xfr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02AE9C-BA1D-195E-3B93-A5A0CC03D8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99835" y="4568602"/>
            <a:ext cx="5486400" cy="164592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Strategien zur Vertrauensbildung</a:t>
            </a:r>
          </a:p>
        </p:txBody>
      </p:sp>
    </p:spTree>
    <p:extLst>
      <p:ext uri="{BB962C8B-B14F-4D97-AF65-F5344CB8AC3E}">
        <p14:creationId xmlns:p14="http://schemas.microsoft.com/office/powerpoint/2010/main" val="1440871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Auswählen visueller Hilfen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91442CD-A26D-1761-8CE7-8BC3075BB4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09905" y="4549552"/>
            <a:ext cx="5486400" cy="164592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Verbessern Ihrer Präsentation</a:t>
            </a:r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2A871D-B15E-C971-7C85-0AF173E38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310" y="278129"/>
            <a:ext cx="5063490" cy="235402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Wirkung der Rede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F2E863-4A4C-76FE-444A-083F9304338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93725" y="3279775"/>
            <a:ext cx="5045075" cy="2994025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Ihre Fähigkeit, effektiv zu kommunizieren, wird einen bleibenden Eindruck bei Ihrem Publikum hinterlassen.</a:t>
            </a:r>
          </a:p>
          <a:p>
            <a:pPr rtl="0"/>
            <a:r>
              <a:rPr lang="de-DE"/>
              <a:t>Zu einer effektiven Kommunikation gehört nicht nur die Übermittlung einer Botschaft, sondern auch die Auseinandersetzung mit den Erfahrungen, Werten und Emotionen der Zuhörer. </a:t>
            </a:r>
          </a:p>
          <a:p>
            <a:pPr rtl="0"/>
            <a:endParaRPr lang="de-DE" dirty="0"/>
          </a:p>
        </p:txBody>
      </p:sp>
      <p:pic>
        <p:nvPicPr>
          <p:cNvPr id="5" name="Bildplatzhalter 52" descr="Hängende Glühbirnen">
            <a:extLst>
              <a:ext uri="{FF2B5EF4-FFF2-40B4-BE49-F238E27FC236}">
                <a16:creationId xmlns:a16="http://schemas.microsoft.com/office/drawing/2014/main" id="{F2B2501C-600C-11B3-1ECD-912D988906A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" r="16"/>
          <a:stretch/>
        </p:blipFill>
        <p:spPr>
          <a:xfrm>
            <a:off x="6096000" y="0"/>
            <a:ext cx="6118225" cy="6858000"/>
          </a:xfrm>
        </p:spPr>
      </p:pic>
    </p:spTree>
    <p:extLst>
      <p:ext uri="{BB962C8B-B14F-4D97-AF65-F5344CB8AC3E}">
        <p14:creationId xmlns:p14="http://schemas.microsoft.com/office/powerpoint/2010/main" val="298364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759DC4-8B30-98A0-5BAB-C78BA4A4A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8408"/>
            <a:ext cx="10972800" cy="15743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Letzte Tipps und Erkenntnisse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96FB3A-B62C-3DAB-4FD1-B4EBDD650AE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5523" y="2676525"/>
            <a:ext cx="5746750" cy="3597470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/>
              <a:t>Konsequentes Üben</a:t>
            </a:r>
          </a:p>
          <a:p>
            <a:pPr lvl="1" rtl="0"/>
            <a:r>
              <a:rPr lang="de-DE"/>
              <a:t>Stärken Ihrer Vertrautheit</a:t>
            </a:r>
          </a:p>
          <a:p>
            <a:pPr rtl="0"/>
            <a:r>
              <a:rPr lang="de-DE"/>
              <a:t>Vortragsstil verfeinern</a:t>
            </a:r>
          </a:p>
          <a:p>
            <a:pPr lvl="1" rtl="0"/>
            <a:r>
              <a:rPr lang="de-DE"/>
              <a:t>Tempo, Tonfall und Betonung</a:t>
            </a:r>
          </a:p>
          <a:p>
            <a:pPr rtl="0"/>
            <a:r>
              <a:rPr lang="de-DE"/>
              <a:t>Timing und Übergänge</a:t>
            </a:r>
          </a:p>
          <a:p>
            <a:pPr lvl="1" rtl="0"/>
            <a:r>
              <a:rPr lang="de-DE"/>
              <a:t>Streben Sie einen nahtlosen, professionellen Vortrag an.</a:t>
            </a:r>
          </a:p>
          <a:p>
            <a:pPr rtl="0"/>
            <a:r>
              <a:rPr lang="de-DE"/>
              <a:t>Übungspublikum</a:t>
            </a:r>
          </a:p>
          <a:p>
            <a:pPr lvl="1" rtl="0"/>
            <a:r>
              <a:rPr lang="de-DE"/>
              <a:t>Bitten Sie Ihre Kollegen, zuzuhören und Feedback zu geben.</a:t>
            </a:r>
          </a:p>
          <a:p>
            <a:pPr lvl="1" rtl="0"/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E198AA-251D-4446-30C4-8F2FA7F6A72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2676525"/>
            <a:ext cx="3947160" cy="359747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Feedback einholen</a:t>
            </a:r>
          </a:p>
          <a:p>
            <a:pPr rtl="0"/>
            <a:r>
              <a:rPr lang="de-DE"/>
              <a:t>Über Leistung nachdenken</a:t>
            </a:r>
          </a:p>
          <a:p>
            <a:pPr rtl="0"/>
            <a:r>
              <a:rPr lang="de-DE"/>
              <a:t>Erkunden neuer Techniken</a:t>
            </a:r>
          </a:p>
          <a:p>
            <a:pPr rtl="0"/>
            <a:r>
              <a:rPr lang="de-DE"/>
              <a:t>Persönliche Ziele festlegen</a:t>
            </a:r>
          </a:p>
          <a:p>
            <a:pPr rtl="0"/>
            <a:r>
              <a:rPr lang="de-DE"/>
              <a:t>Wiederholen und Anpassen</a:t>
            </a:r>
          </a:p>
        </p:txBody>
      </p:sp>
    </p:spTree>
    <p:extLst>
      <p:ext uri="{BB962C8B-B14F-4D97-AF65-F5344CB8AC3E}">
        <p14:creationId xmlns:p14="http://schemas.microsoft.com/office/powerpoint/2010/main" val="1850768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7AB9C34-2B13-E66F-1053-2BA156F8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84005"/>
            <a:ext cx="10972800" cy="118872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Metriken zum Einsatz als Referent*in</a:t>
            </a:r>
          </a:p>
        </p:txBody>
      </p:sp>
      <p:graphicFrame>
        <p:nvGraphicFramePr>
          <p:cNvPr id="4" name="Tabellenplatzhalter 3">
            <a:extLst>
              <a:ext uri="{FF2B5EF4-FFF2-40B4-BE49-F238E27FC236}">
                <a16:creationId xmlns:a16="http://schemas.microsoft.com/office/drawing/2014/main" id="{4D1FB21E-CCFB-8E64-064C-DB8195F86847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145036385"/>
              </p:ext>
            </p:extLst>
          </p:nvPr>
        </p:nvGraphicFramePr>
        <p:xfrm>
          <a:off x="593725" y="2628900"/>
          <a:ext cx="10991080" cy="365891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47770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747770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74777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747770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59468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>
                          <a:solidFill>
                            <a:schemeClr val="bg1"/>
                          </a:solidFill>
                          <a:latin typeface="+mj-lt"/>
                        </a:rPr>
                        <a:t>Einflussfaktor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>
                          <a:solidFill>
                            <a:schemeClr val="bg1"/>
                          </a:solidFill>
                          <a:latin typeface="+mj-lt"/>
                        </a:rPr>
                        <a:t>Messung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>
                          <a:solidFill>
                            <a:schemeClr val="bg1"/>
                          </a:solidFill>
                          <a:latin typeface="+mj-lt"/>
                        </a:rPr>
                        <a:t>Ziel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>
                          <a:solidFill>
                            <a:schemeClr val="bg1"/>
                          </a:solidFill>
                          <a:latin typeface="+mj-lt"/>
                        </a:rPr>
                        <a:t>Erreicht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59468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Publikumsinteraktion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59468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Wissen bewahren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59468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dirty="0"/>
                        <a:t>Umfragen nach der Präsentation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Durchschnittliche Bewertung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4,2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4,5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59468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Empfehlungsrate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59468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dirty="0"/>
                        <a:t>Möglichkeiten der Zusammenarbeit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Anzahl der Möglichkeiten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ctr" rtl="0"/>
                      <a:r>
                        <a:rPr lang="de-DE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2428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Vielen Dank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E734F0-2DDD-AF70-F13D-F9E4C19294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4360" y="4549552"/>
            <a:ext cx="5486400" cy="164592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Brita Tamm</a:t>
            </a:r>
          </a:p>
          <a:p>
            <a:pPr rtl="0"/>
            <a:r>
              <a:rPr lang="de-DE"/>
              <a:t>502-555-0152</a:t>
            </a:r>
          </a:p>
          <a:p>
            <a:pPr rtl="0"/>
            <a:r>
              <a:rPr lang="de-DE"/>
              <a:t>brita@firstupconsultants.com</a:t>
            </a:r>
          </a:p>
          <a:p>
            <a:pPr rtl="0"/>
            <a:r>
              <a:rPr lang="de-DE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3_TF78853419_Win32" id="{73C4F1C6-D164-4434-8FDF-48F92F60FB31}" vid="{13AA8AF3-B505-4A9F-9557-DEA5A55D833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{396544E7-57CA-4B67-8D17-BDBDABEC81DA}tf78853419_win32</Template>
  <TotalTime>0</TotalTime>
  <Words>487</Words>
  <Application>Microsoft Office PowerPoint</Application>
  <PresentationFormat>Widescreen</PresentationFormat>
  <Paragraphs>128</Paragraphs>
  <Slides>13</Slides>
  <Notes>13</Notes>
  <HiddenSlides>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Franklin Gothic Book</vt:lpstr>
      <vt:lpstr>Franklin Gothic Demi</vt:lpstr>
      <vt:lpstr>Benutzerdefiniert</vt:lpstr>
      <vt:lpstr>Group 3</vt:lpstr>
      <vt:lpstr>Dataset Characteristics</vt:lpstr>
      <vt:lpstr>Baseline Model</vt:lpstr>
      <vt:lpstr>Model Definition and Evaluation</vt:lpstr>
      <vt:lpstr>Model Structure</vt:lpstr>
      <vt:lpstr>Challenges and Errors</vt:lpstr>
      <vt:lpstr>Die Macht der Kommunikation</vt:lpstr>
      <vt:lpstr>Nervosität überwinden</vt:lpstr>
      <vt:lpstr>Auswählen visueller Hilfen</vt:lpstr>
      <vt:lpstr>Wirkung der Rede</vt:lpstr>
      <vt:lpstr>Letzte Tipps und Erkenntnisse</vt:lpstr>
      <vt:lpstr>Metriken zum Einsatz als Referent*in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Anton Roefer</cp:lastModifiedBy>
  <cp:revision>2</cp:revision>
  <dcterms:created xsi:type="dcterms:W3CDTF">2025-06-26T14:06:05Z</dcterms:created>
  <dcterms:modified xsi:type="dcterms:W3CDTF">2025-06-26T14:48:02Z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