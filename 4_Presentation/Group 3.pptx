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73" r:id="rId3"/>
    <p:sldId id="277" r:id="rId4"/>
    <p:sldId id="271" r:id="rId5"/>
    <p:sldId id="287" r:id="rId6"/>
    <p:sldId id="278" r:id="rId7"/>
    <p:sldId id="279" r:id="rId8"/>
    <p:sldId id="269" r:id="rId9"/>
    <p:sldId id="260" r:id="rId10"/>
    <p:sldId id="283" r:id="rId11"/>
    <p:sldId id="284" r:id="rId12"/>
    <p:sldId id="285" r:id="rId13"/>
    <p:sldId id="275" r:id="rId14"/>
    <p:sldId id="282" r:id="rId15"/>
    <p:sldId id="280" r:id="rId16"/>
    <p:sldId id="267" r:id="rId17"/>
    <p:sldId id="274" r:id="rId18"/>
    <p:sldId id="268" r:id="rId19"/>
    <p:sldId id="266" r:id="rId20"/>
    <p:sldId id="263" r:id="rId21"/>
    <p:sldId id="264" r:id="rId22"/>
    <p:sldId id="265" r:id="rId23"/>
    <p:sldId id="262" r:id="rId24"/>
    <p:sldId id="286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60A9"/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72409" autoAdjust="0"/>
  </p:normalViewPr>
  <p:slideViewPr>
    <p:cSldViewPr snapToGrid="0">
      <p:cViewPr>
        <p:scale>
          <a:sx n="35" d="100"/>
          <a:sy n="35" d="100"/>
        </p:scale>
        <p:origin x="1912" y="21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2:53:32.7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1 664 24575,'1'-36'0,"2"1"0,14-70 0,30-66 0,-44 159 0,19-79 0,-17 63 0,2 0 0,1 0 0,16-38 0,-22 62 0,1-1 0,0 1 0,0 0 0,0 0 0,1 0 0,0 0 0,-1 0 0,1 1 0,1 0 0,-1-1 0,0 2 0,1-1 0,-1 0 0,1 1 0,0 0 0,0 0 0,0 0 0,0 1 0,0 0 0,0 0 0,1 0 0,-1 0 0,0 1 0,0 0 0,1 0 0,-1 1 0,0-1 0,0 1 0,0 0 0,1 0 0,-1 1 0,0 0 0,0 0 0,-1 0 0,1 0 0,0 1 0,-1-1 0,1 1 0,-1 1 0,0-1 0,0 0 0,0 1 0,5 7 0,0 2 0,-1 1 0,0 1 0,-1-1 0,-1 1 0,8 27 0,10 23 0,-15-42 0,0 1 0,-1 0 0,-2 1 0,0-1 0,-2 1 0,0 1 0,-1 40 0,-2-44 0,1 0 0,1 0 0,1-1 0,12 42 0,-2-25 0,33 65 0,-40-89 49,0 1-1,-2 0 1,0 0 0,-1 1-1,0-1 1,2 28 0,-2 94-1514,-5-128 1224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2:55:06.8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568 1500 24575,'0'-3'0,"1"0"0,0-1 0,0 1 0,0 0 0,0 0 0,0 0 0,1 0 0,-1 0 0,1 0 0,0 0 0,0 1 0,0-1 0,0 0 0,0 1 0,1 0 0,-1-1 0,1 1 0,0 0 0,-1 1 0,7-4 0,5-3 0,0 1 0,28-10 0,-16 9 0,0 1 0,35-4 0,-31 6 0,34-9 0,-60 12 0,1 0 0,-1 0 0,1 0 0,-1 0 0,0-1 0,0 0 0,0 0 0,0 0 0,-1 0 0,1-1 0,-1 1 0,0-1 0,0 0 0,0 0 0,-1 0 0,1-1 0,-1 1 0,0 0 0,0-1 0,-1 1 0,1-1 0,-1 0 0,0 0 0,0 1 0,0-1 0,-1 0 0,0 0 0,0 0 0,0 0 0,-1 0 0,1 1 0,-1-1 0,-2-7 0,2 10 0,0 0 0,0 0 0,0 0 0,-1 0 0,1 0 0,0 0 0,-1 0 0,1 0 0,-1 0 0,0 1 0,0-1 0,0 0 0,0 1 0,0 0 0,0-1 0,0 1 0,0 0 0,0 0 0,0 0 0,-1 1 0,1-1 0,0 0 0,-1 1 0,1 0 0,0-1 0,-3 1 0,1 0 0,0 0 0,0 0 0,0 1 0,0-1 0,1 1 0,-1 0 0,0 0 0,0 0 0,1 0 0,-1 1 0,1 0 0,-1-1 0,1 1 0,0 1 0,-5 3 0,-24 28 0,23-23 0,-1 0 0,-12 10 0,4-4 0,0 0 0,-24 33 0,-6 6 0,33-41 0,3-2 0,0-1 0,-1 0 0,-21 15 0,-26 15 0,29-19 0,-61 34 0,47-39 0,37-16 0,1 0 0,-1 1 0,1 0 0,0 1 0,0 0 0,0 0 0,1 0 0,-1 1 0,-7 7 0,1-1 0,0 1 0,-26 16 0,4-3 0,30-21 0,1 0 0,-1 0 0,1 1 0,1 0 0,-1 0 0,-5 9 0,-12 16 0,-4-4 0,19-20 0,-1 0 0,1 0 0,1 1 0,-1-1 0,1 1 0,0 1 0,1-1 0,-1 1 0,-2 9 0,3-6 0,1 0 0,0 0 0,-2 22 0,5-30 0,-1 0 0,1 1 0,0-1 0,0 0 0,1 0 0,-1 1 0,1-1 0,-1 0 0,1 0 0,0 1 0,0-1 0,0 0 0,1 0 0,-1 0 0,1-1 0,0 1 0,3 5 0,-4-7 0,1-1 0,-1 1 0,0 0 0,0 0 0,1 0 0,-1-1 0,1 1 0,-1-1 0,0 1 0,1-1 0,-1 1 0,1-1 0,-1 0 0,1 0 0,0 0 0,-1 0 0,1 0 0,-1 0 0,1 0 0,-1 0 0,1-1 0,-1 1 0,1-1 0,-1 1 0,0-1 0,1 1 0,-1-1 0,0 0 0,1 0 0,1-1 0,5-4 0,0 0 0,0-1 0,11-12 0,-5 5 0,6-4 0,-1 0 0,0-2 0,-2 0 0,0-1 0,-1-1 0,-2 0 0,21-41 0,-26 42 0,2 1 0,0 0 0,1 1 0,1 0 0,1 0 0,1 2 0,25-26 0,99-102 0,-135 140 0,13-15 0,21-20 0,-33 36 0,-1 0 0,1 0 0,0 0 0,0 1 0,1-1 0,-1 1 0,0 1 0,1-1 0,0 1 0,10-3 0,-15 5 0,1-1 0,-1 1 0,1 0 0,-1 0 0,1 0 0,-1 0 0,0 0 0,1 0 0,-1 0 0,1 1 0,-1-1 0,1 1 0,-1-1 0,0 1 0,1-1 0,-1 1 0,0 0 0,1-1 0,-1 1 0,0 0 0,0 0 0,0 0 0,0 0 0,0 0 0,0 0 0,0 0 0,0 1 0,0-1 0,0 0 0,-1 0 0,1 1 0,-1-1 0,1 0 0,-1 1 0,1-1 0,-1 1 0,0-1 0,1 0 0,-1 1 0,0 1 0,1 7 0,-1-1 0,0 1 0,-1 0 0,-2 15 0,3-24 0,-2 8 0,-1 0 0,1 0 0,-2 0 0,1 0 0,-1-1 0,0 1 0,-1-1 0,-7 9 0,-52 62 0,24-31 0,2-1 0,-62 83 0,95-121 0,1-1 0,0 1 0,-4 10 0,7-14 0,-1 1 0,0-1 0,0 0 0,0 0 0,-1-1 0,0 1 0,0 0 0,0-1 0,0 0 0,-1 0 0,-7 7 0,10-10 0,0 0 0,0-1 0,0 1 0,0-1 0,0 0 0,1 1 0,-1-1 0,0 0 0,0 1 0,0-1 0,0 0 0,0 0 0,-1 0 0,1 0 0,0 0 0,0 0 0,0 0 0,0 0 0,0-1 0,0 1 0,0 0 0,0 0 0,0-1 0,1 1 0,-1-1 0,0 1 0,0-1 0,0 1 0,0-1 0,0 0 0,1 1 0,-1-1 0,0 0 0,1 0 0,-2-1 0,-2-3 0,0-1 0,1 0 0,-1 0 0,-3-10 0,1 3 0,-6-15 0,0 0 0,2-1 0,1 0 0,1-1 0,1 0 0,-3-50 0,6-188 0,6 157 0,-3 47 0,4 0 0,20-118 0,-17 160 0,1-1 0,1 2 0,1-1 0,1 1 0,1 1 0,22-34 0,-21 36 0,-2-1 0,0 0 0,12-36 0,13-64 0,-22 69 0,-4 17 17,52-207 303,-50 186-888,-2 0 1,2-82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2:53:32.7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1 664 24575,'1'-36'0,"2"1"0,14-70 0,30-66 0,-44 159 0,19-79 0,-17 63 0,2 0 0,1 0 0,16-38 0,-22 62 0,1-1 0,0 1 0,0 0 0,0 0 0,1 0 0,0 0 0,-1 0 0,1 1 0,1 0 0,-1-1 0,0 2 0,1-1 0,-1 0 0,1 1 0,0 0 0,0 0 0,0 0 0,0 1 0,0 0 0,0 0 0,1 0 0,-1 0 0,0 1 0,0 0 0,1 0 0,-1 1 0,0-1 0,0 1 0,0 0 0,1 0 0,-1 1 0,0 0 0,0 0 0,-1 0 0,1 0 0,0 1 0,-1-1 0,1 1 0,-1 1 0,0-1 0,0 0 0,0 1 0,5 7 0,0 2 0,-1 1 0,0 1 0,-1-1 0,-1 1 0,8 27 0,10 23 0,-15-42 0,0 1 0,-1 0 0,-2 1 0,0-1 0,-2 1 0,0 1 0,-1 40 0,-2-44 0,1 0 0,1 0 0,1-1 0,12 42 0,-2-25 0,33 65 0,-40-89 49,0 1-1,-2 0 1,0 0 0,-1 1-1,0-1 1,2 28 0,-2 94-1514,-5-128 1224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2BB35-AE6A-4528-8F32-D1F8A7B871D9}" type="datetimeFigureOut">
              <a:rPr lang="en-GB" smtClean="0"/>
              <a:t>03/07/2025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340A9-5F99-47E5-A3AD-FD228EA849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05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897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16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56F8-5CD8-F8B6-9BD7-F33DF2041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EED72-A4E3-AA28-778E-36E3BCBA4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F33CED-9617-5AAB-0799-102A08F87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Consumer Price Index (CPI) is a measure of the average change over time in the prices paid by consumers for a representative basket of consumer goods and services</a:t>
            </a:r>
          </a:p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 6  season  - 0/1 variable from late Oct till late Dec</a:t>
            </a:r>
          </a:p>
          <a:p>
            <a:endParaRPr lang="en-GB" dirty="0"/>
          </a:p>
          <a:p>
            <a:r>
              <a:rPr lang="en-GB" dirty="0"/>
              <a:t>The 4 last of the given were not initially made, I made them later while struggling to predict Group 6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24C15-78B6-8561-FE72-DA1CFC9D6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979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Seasonal score 2= December 1= November 0=anything else </a:t>
            </a:r>
          </a:p>
          <a:p>
            <a:endParaRPr lang="en-US" dirty="0"/>
          </a:p>
          <a:p>
            <a:endParaRPr lang="en-US" dirty="0"/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Create the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barplot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confidence intervals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plt.figure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=(10, 6))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sns.barplot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(data=group6_data, x='seasonal_score2', y='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Umsatz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ci=95)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Customize the plot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plt.title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('Group 6 Sales by Seasonal Score',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=14,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fontweight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='bold')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plt.xlabel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('Seasonal Score',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=12)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plt.ylabel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('Sales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Umsatz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)',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=12)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plt.xticks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(rotation=0)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Adjust layout to prevent label cutoff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plt.tight_layout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Show the plot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plt.show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=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data.drop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(columns=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cols_to_remove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pandas as pd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seaborn as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matplotlib.pyplot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Assuming your data is in a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called 'data'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Melt data to have all groups in one plot for Silvester variable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melted_data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[]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range(1, 7):  # Assuming 6 groups like your example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# Filter data for current group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data[data[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f'Warengruppe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}'] == 1].copy()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Product_Group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'] =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f'Group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{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}'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# Select relevant columns including Silvester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# Adjust column names based on your actual data structure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melted_data.append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[['Silvester', 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Umsatz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Product_Group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']])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Combine all group data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pd.concat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melted_data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ignore_index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=True)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Create the plot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plt.figure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=(12, 8))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Create grouped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barplot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confidence intervals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sns.barplot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(data=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combined_data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x='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Product_Group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y='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Umsatz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hue='Silvester',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ci=95,  # 95% confidence interval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# Cap size for error bars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    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errwidth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=2)   # Width of error bars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Customize the plot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plt.title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('Sales by Product Group and New Year\'s Eve', 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=14,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fontweight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='bold')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plt.xlabel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('Product Group',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=12)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plt.ylabel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('Sales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Umsatz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)',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fontsize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=12)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plt.legend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(title='Silvester', 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bbox_to_anchor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=(1.05, 1), loc='upper left')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Rotate x-axis labels if needed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plt.xticks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(rotation=0)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Adjust layout to prevent label cutoff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plt.tight_layout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Display the plot</a:t>
            </a:r>
          </a:p>
          <a:p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plt.show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74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B7AE-DCA0-C088-FA18-C941AC04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A508A-C9E2-6317-0313-B7D9B3E24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444DD-79C8-9EC0-30B1-0AE0D83AB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Made several so we can choose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11FBC-1B5B-E39E-006F-B274AD735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031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62BA-275E-ED3C-503B-602DB2EB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81780-0695-C625-C9A1-6B6BB6400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13C76-CA38-E115-C0FB-070596656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Moved the title bit to make some space</a:t>
            </a:r>
            <a:endParaRPr lang="el-GR" dirty="0"/>
          </a:p>
          <a:p>
            <a:endParaRPr lang="el-GR" dirty="0"/>
          </a:p>
          <a:p>
            <a:r>
              <a:rPr lang="en-US" dirty="0"/>
              <a:t>Suggestion is to keep only the missing values columns we worked on  and next to talk about wetter code </a:t>
            </a:r>
          </a:p>
          <a:p>
            <a:endParaRPr lang="en-US" dirty="0"/>
          </a:p>
          <a:p>
            <a:r>
              <a:rPr lang="en-US" dirty="0"/>
              <a:t>Prev slides saved in the end of the presentation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B1627-4A9C-B930-A008-40DA8CDB9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270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6DA3C-7F4B-A86D-DEF4-340963E8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6EDDE-05C4-D394-BDDC-5FECD2115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AA61B-3DB8-2898-1177-E09990948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228FF-C3FB-82A6-7644-2DF9CB6CE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639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(initial) dataset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4911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to be added: Model details + </a:t>
            </a:r>
            <a:r>
              <a:rPr lang="en-US" dirty="0" err="1"/>
              <a:t>Hyperparams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862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060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A59C-214E-3CE4-25F6-24FD5D27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A0A43-913C-D15D-CAFA-9AA2BC5F3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6CD0E-87C3-83FC-092B-F5B4E2239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9B197-3FD5-5FAF-46EB-BB71A17F5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67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Moved the title bit to make some space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162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D4BE6-5076-F4CC-4380-200C5217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87C50-F6AC-DBD0-504D-6644E03F6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B0657-7A19-BB53-C960-5BB6C3C23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Moved the title bit to make some space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43FD0-5253-3770-56C4-FFDF19AB2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748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sure if we need a whole slide about it, what do you think about it popping in and out of the slide with the full dataset?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185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E60D-B047-017F-1CC1-F6F8A2BC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2BA61-FDF9-030A-F8DD-497EAE2C1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C5209-BE17-2121-CBC6-5B90040C7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05A4A-660C-345E-B643-28CC68E0E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340A9-5F99-47E5-A3AD-FD228EA849F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0578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A2FB-7B54-F24F-6B88-D45735426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4DEA4-F72C-6897-4521-D6EAB1BC5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2AEB-8776-1402-1F5F-5E744C31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F1CC-ABF1-4C16-BBB2-7CC8083DBD41}" type="datetime1">
              <a:rPr lang="de-DE" smtClean="0"/>
              <a:t>03.07.2025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83C00-33BA-1ABD-75EA-E819FE34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A5E78-1034-3619-9391-70CA48C0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02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6B21-CE45-0D46-AFE3-79E3E5B7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9DCF-2B5F-B299-DBA1-6E8DA05A8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9839-AE28-AA6A-A504-B8764F5C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A6BA-2653-433C-BA9E-57AD9EE3A712}" type="datetime1">
              <a:rPr lang="de-DE" smtClean="0"/>
              <a:t>03.07.2025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836CE-BDD9-2ED3-2B89-AEF26313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28BF0-A96D-93BE-3882-AE032734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22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5667-0B0D-B9E6-1969-69225C292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E13A3-D678-5246-5DB9-67DCC0DFD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0DDEB-61E2-C5FB-D3A2-9C30CD89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26A6-5467-47C4-B46A-D1C4752B6C50}" type="datetime1">
              <a:rPr lang="de-DE" smtClean="0"/>
              <a:t>03.07.2025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B505-175A-72AD-9EDB-1B2764C31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58C09-3197-1BC6-A73B-93718CDD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23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C866-0963-7F17-2DCB-6A2AA433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C8175-79DB-C56A-CD77-A062CCD73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7B6D0-EDB4-58A7-A71E-6F540E423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76942-E221-87FC-8600-005112E8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014D-DF7A-4A17-BE70-CBDCCD05F312}" type="datetime1">
              <a:rPr lang="de-DE" smtClean="0"/>
              <a:t>03.07.2025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3A49A-9F2E-8A8D-22E4-0C974056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DE499-46D0-A794-5D6E-67AEAF60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2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1101-CB46-BA65-DA47-28FB466B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478A4-C4A8-20DA-DB09-6B97098E1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D7718-A1CD-4D0E-3635-095129B10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51E9A-E2F8-45BC-B59C-BCE7375FE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02472-2E17-14F9-5B01-679633B92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A6722-0515-72CF-891D-58D2C406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58879-59D9-4DFD-ACCE-8F9DA76AC11D}" type="datetime1">
              <a:rPr lang="de-DE" smtClean="0"/>
              <a:t>03.07.2025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59112-E2DF-4694-186B-DD6790A15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5838F4-E07F-3FA7-9544-32DEF452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71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07E1-D69E-0030-1965-A9912445F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8C1CF2-8B6A-FEE8-FF2D-ACF53C35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8223-0355-4A47-87D8-E56CD5791C42}" type="datetime1">
              <a:rPr lang="de-DE" smtClean="0"/>
              <a:t>03.07.2025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55EBE-5C7A-4634-DF58-83DDBA5A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C150F-F995-23DB-7249-8BF2AC039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412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F8939D-9E67-9F19-8158-42A04A59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8DA-2725-48DA-8CAB-E21C779E0A52}" type="datetime1">
              <a:rPr lang="de-DE" smtClean="0"/>
              <a:t>03.07.2025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DC254-EBDA-4966-46ED-78DD13733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85E6E-619C-35F5-FB80-2AFD8250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99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B8F4C-7F9F-D7FB-005A-68B0B23C6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D27E-1764-0D7E-DFB3-8F5B56014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53F77-6A23-1BCA-C7AC-E55EF3D41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A56A1-37E3-7252-0650-C7397F41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FF235-647B-4139-A6C7-FD3E9D31CB9A}" type="datetime1">
              <a:rPr lang="de-DE" smtClean="0"/>
              <a:t>03.07.2025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60EA3-FD08-06B2-7BCC-D9BF590D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8CD5-5F29-58C3-10AB-7EEC817E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69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88F22-89DC-1E38-3634-F87F50161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1A75F-7FEA-5A52-5607-25872F667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72322E-BD5C-AA1F-C482-AF052F98A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05227-BC7E-6B03-B00C-648DB79EC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839DE-6FAF-4E43-BF2D-2423A301DC2E}" type="datetime1">
              <a:rPr lang="de-DE" smtClean="0"/>
              <a:t>03.07.2025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FC2D4-5494-48CE-AA38-077C537B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82BC5-9637-C944-9499-322229CD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65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ED6A1-697E-11BA-EFB1-C0AB7CCC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1F21F-ECC5-5F46-5611-19C8CCAE6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F0B46-AF2E-FE51-71F7-2CA5ED66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46073-F360-4B03-9A78-9F6E24BF38BF}" type="datetime1">
              <a:rPr lang="de-DE" smtClean="0"/>
              <a:t>03.07.2025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4CA1E-EAFD-631C-3A89-28991928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9AF63-1A23-FCB1-2B9D-DD64C9D5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71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22714-D201-DEE1-73CA-08AAB521A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1EAFE-9EBD-2151-C303-754CD1BE2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090B9-E52A-AC88-C95B-6D558F0C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47668-F355-4DBF-B716-42DB1C64DFB7}" type="datetime1">
              <a:rPr lang="de-DE" smtClean="0"/>
              <a:t>03.07.2025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779B4-E2D4-4868-AE8E-236E94CCD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6A677-BBC7-1E3D-01BF-433D165B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20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B0337-54D4-2915-8075-016A1109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A36B3-0D68-F688-3A2A-9FD9F4FC2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077C-320F-1A59-1AA4-7C2DAC351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A0AA2-7FF6-400D-97F4-AF38EF94CB43}" type="datetime1">
              <a:rPr lang="de-DE" smtClean="0"/>
              <a:t>03.07.2025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02414-A2AD-140E-E1F8-A2C906A59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7F22-BA21-A18F-6B5A-D08977035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63D0E-FFEF-43D1-BE35-64C33AF422F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1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7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20" descr="illustration in cartoon style. brezel with salt. on a white background.  11153303 PNG">
            <a:extLst>
              <a:ext uri="{FF2B5EF4-FFF2-40B4-BE49-F238E27FC236}">
                <a16:creationId xmlns:a16="http://schemas.microsoft.com/office/drawing/2014/main" id="{D19955E8-8EDA-1402-9EED-D1126852B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79676">
            <a:off x="7726690" y="3497834"/>
            <a:ext cx="1258333" cy="123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implicity croissant bread freehand continuous line drawing 13643870 PNG">
            <a:extLst>
              <a:ext uri="{FF2B5EF4-FFF2-40B4-BE49-F238E27FC236}">
                <a16:creationId xmlns:a16="http://schemas.microsoft.com/office/drawing/2014/main" id="{B3DC8308-9CEA-617F-FD27-04657563C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3200">
            <a:off x="4592105" y="4009121"/>
            <a:ext cx="1609200" cy="127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989A6D-E7A9-3A11-8D56-AD0198611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3050"/>
            <a:ext cx="9144000" cy="2387600"/>
          </a:xfrm>
        </p:spPr>
        <p:txBody>
          <a:bodyPr>
            <a:normAutofit/>
          </a:bodyPr>
          <a:lstStyle/>
          <a:p>
            <a:r>
              <a:rPr lang="en-GB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Bakery Sales Prediction</a:t>
            </a:r>
            <a:endParaRPr lang="de-DE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3E5C8-4847-18A4-FBCF-D0E62F56B550}"/>
              </a:ext>
            </a:extLst>
          </p:cNvPr>
          <p:cNvSpPr txBox="1"/>
          <p:nvPr/>
        </p:nvSpPr>
        <p:spPr>
          <a:xfrm>
            <a:off x="2505307" y="1452205"/>
            <a:ext cx="7181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Introduction to Data Science and Machine Learning</a:t>
            </a:r>
          </a:p>
          <a:p>
            <a:endParaRPr lang="en-GB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1E64F4-AF6D-8E07-F5EB-730E7DE8D301}"/>
              </a:ext>
            </a:extLst>
          </p:cNvPr>
          <p:cNvSpPr/>
          <p:nvPr/>
        </p:nvSpPr>
        <p:spPr>
          <a:xfrm>
            <a:off x="4221270" y="3818022"/>
            <a:ext cx="1127343" cy="1093344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D1A099-B2B7-0C7E-C6D3-F474F283BF42}"/>
              </a:ext>
            </a:extLst>
          </p:cNvPr>
          <p:cNvSpPr/>
          <p:nvPr/>
        </p:nvSpPr>
        <p:spPr>
          <a:xfrm>
            <a:off x="7177405" y="3859215"/>
            <a:ext cx="1127343" cy="1093344"/>
          </a:xfrm>
          <a:prstGeom prst="ellipse">
            <a:avLst/>
          </a:prstGeom>
          <a:blipFill dpi="0" rotWithShape="1">
            <a:blip r:embed="rId6"/>
            <a:srcRect/>
            <a:stretch>
              <a:fillRect t="-1000" r="-1000" b="-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B8F9E-5BC6-9219-ED43-781B6F6A3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230" y="5286789"/>
            <a:ext cx="9144000" cy="426848"/>
          </a:xfrm>
        </p:spPr>
        <p:txBody>
          <a:bodyPr/>
          <a:lstStyle/>
          <a:p>
            <a:r>
              <a:rPr lang="de-DE" dirty="0"/>
              <a:t>Georgia Avgerinou                Anton R</a:t>
            </a:r>
            <a:r>
              <a:rPr lang="en-GB" dirty="0"/>
              <a:t>öfer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D3132-F2CC-EE39-909D-5E59C66B426E}"/>
              </a:ext>
            </a:extLst>
          </p:cNvPr>
          <p:cNvSpPr txBox="1"/>
          <p:nvPr/>
        </p:nvSpPr>
        <p:spPr>
          <a:xfrm>
            <a:off x="4234880" y="6352143"/>
            <a:ext cx="407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Kiel, July 2025</a:t>
            </a:r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F95C9-E092-F7C8-D6F9-A30D01E6B467}"/>
              </a:ext>
            </a:extLst>
          </p:cNvPr>
          <p:cNvSpPr txBox="1"/>
          <p:nvPr/>
        </p:nvSpPr>
        <p:spPr>
          <a:xfrm>
            <a:off x="3225230" y="3148404"/>
            <a:ext cx="6096000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ptos" panose="02110004020202020204"/>
                <a:ea typeface="+mn-ea"/>
                <a:cs typeface="+mn-cs"/>
              </a:rPr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36135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8E07-38A7-7EE4-60A0-C3FEFA15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924" y="127650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Goal: </a:t>
            </a:r>
            <a:r>
              <a:rPr lang="en-US" sz="3600" dirty="0"/>
              <a:t>to </a:t>
            </a:r>
            <a:r>
              <a:rPr lang="en-GB" sz="3600" dirty="0"/>
              <a:t>predict sales for 6 bakery product categories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28862-0955-FC02-520E-463E0A0F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2</a:t>
            </a:fld>
            <a:endParaRPr lang="de-DE"/>
          </a:p>
        </p:txBody>
      </p:sp>
      <p:pic>
        <p:nvPicPr>
          <p:cNvPr id="2050" name="Picture 2" descr="Charterfee ILCA Kieler Woche 2025 international | Charterfee ILCA 4 |  KiWo.int.4">
            <a:extLst>
              <a:ext uri="{FF2B5EF4-FFF2-40B4-BE49-F238E27FC236}">
                <a16:creationId xmlns:a16="http://schemas.microsoft.com/office/drawing/2014/main" id="{97B25243-8AC5-E4A6-AB3B-121006D51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028" y="3892415"/>
            <a:ext cx="1101394" cy="110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oogle Shape;9708;p62">
            <a:extLst>
              <a:ext uri="{FF2B5EF4-FFF2-40B4-BE49-F238E27FC236}">
                <a16:creationId xmlns:a16="http://schemas.microsoft.com/office/drawing/2014/main" id="{4C09F53A-7676-FBB8-D3B0-D4129BB44D69}"/>
              </a:ext>
            </a:extLst>
          </p:cNvPr>
          <p:cNvGrpSpPr/>
          <p:nvPr/>
        </p:nvGrpSpPr>
        <p:grpSpPr>
          <a:xfrm>
            <a:off x="7748280" y="3062137"/>
            <a:ext cx="1070469" cy="820905"/>
            <a:chOff x="7550258" y="3832670"/>
            <a:chExt cx="371395" cy="301279"/>
          </a:xfrm>
          <a:solidFill>
            <a:srgbClr val="1C60A9"/>
          </a:solidFill>
        </p:grpSpPr>
        <p:sp>
          <p:nvSpPr>
            <p:cNvPr id="22" name="Google Shape;9709;p62">
              <a:extLst>
                <a:ext uri="{FF2B5EF4-FFF2-40B4-BE49-F238E27FC236}">
                  <a16:creationId xmlns:a16="http://schemas.microsoft.com/office/drawing/2014/main" id="{75BAFF35-68BB-88CB-4C31-F839C1DFD63C}"/>
                </a:ext>
              </a:extLst>
            </p:cNvPr>
            <p:cNvSpPr/>
            <p:nvPr/>
          </p:nvSpPr>
          <p:spPr>
            <a:xfrm>
              <a:off x="7550258" y="3832670"/>
              <a:ext cx="371395" cy="301279"/>
            </a:xfrm>
            <a:custGeom>
              <a:avLst/>
              <a:gdLst/>
              <a:ahLst/>
              <a:cxnLst/>
              <a:rect l="l" t="t" r="r" b="b"/>
              <a:pathLst>
                <a:path w="11669" h="9466" extrusionOk="0">
                  <a:moveTo>
                    <a:pt x="1822" y="346"/>
                  </a:moveTo>
                  <a:cubicBezTo>
                    <a:pt x="1822" y="346"/>
                    <a:pt x="1834" y="346"/>
                    <a:pt x="1834" y="358"/>
                  </a:cubicBezTo>
                  <a:lnTo>
                    <a:pt x="1834" y="1096"/>
                  </a:lnTo>
                  <a:cubicBezTo>
                    <a:pt x="1834" y="1096"/>
                    <a:pt x="1834" y="1108"/>
                    <a:pt x="1822" y="1108"/>
                  </a:cubicBezTo>
                  <a:lnTo>
                    <a:pt x="1441" y="1108"/>
                  </a:lnTo>
                  <a:cubicBezTo>
                    <a:pt x="1441" y="1108"/>
                    <a:pt x="1429" y="1108"/>
                    <a:pt x="1429" y="1096"/>
                  </a:cubicBezTo>
                  <a:lnTo>
                    <a:pt x="1429" y="358"/>
                  </a:lnTo>
                  <a:lnTo>
                    <a:pt x="1441" y="358"/>
                  </a:lnTo>
                  <a:lnTo>
                    <a:pt x="1822" y="346"/>
                  </a:lnTo>
                  <a:close/>
                  <a:moveTo>
                    <a:pt x="10228" y="346"/>
                  </a:moveTo>
                  <a:cubicBezTo>
                    <a:pt x="10228" y="346"/>
                    <a:pt x="10240" y="346"/>
                    <a:pt x="10240" y="358"/>
                  </a:cubicBezTo>
                  <a:lnTo>
                    <a:pt x="10240" y="1096"/>
                  </a:lnTo>
                  <a:cubicBezTo>
                    <a:pt x="10240" y="1096"/>
                    <a:pt x="10240" y="1108"/>
                    <a:pt x="10228" y="1108"/>
                  </a:cubicBezTo>
                  <a:lnTo>
                    <a:pt x="9859" y="1108"/>
                  </a:lnTo>
                  <a:cubicBezTo>
                    <a:pt x="9859" y="1108"/>
                    <a:pt x="9835" y="1108"/>
                    <a:pt x="9835" y="1096"/>
                  </a:cubicBezTo>
                  <a:lnTo>
                    <a:pt x="9835" y="358"/>
                  </a:lnTo>
                  <a:lnTo>
                    <a:pt x="9859" y="358"/>
                  </a:lnTo>
                  <a:lnTo>
                    <a:pt x="10228" y="346"/>
                  </a:lnTo>
                  <a:close/>
                  <a:moveTo>
                    <a:pt x="10966" y="1096"/>
                  </a:moveTo>
                  <a:cubicBezTo>
                    <a:pt x="11180" y="1096"/>
                    <a:pt x="11347" y="1251"/>
                    <a:pt x="11347" y="1465"/>
                  </a:cubicBezTo>
                  <a:lnTo>
                    <a:pt x="11347" y="8775"/>
                  </a:lnTo>
                  <a:cubicBezTo>
                    <a:pt x="11323" y="8978"/>
                    <a:pt x="11168" y="9144"/>
                    <a:pt x="10954" y="9144"/>
                  </a:cubicBezTo>
                  <a:lnTo>
                    <a:pt x="715" y="9144"/>
                  </a:lnTo>
                  <a:cubicBezTo>
                    <a:pt x="512" y="9144"/>
                    <a:pt x="346" y="8978"/>
                    <a:pt x="346" y="8775"/>
                  </a:cubicBezTo>
                  <a:lnTo>
                    <a:pt x="346" y="1465"/>
                  </a:lnTo>
                  <a:cubicBezTo>
                    <a:pt x="346" y="1251"/>
                    <a:pt x="512" y="1096"/>
                    <a:pt x="715" y="1096"/>
                  </a:cubicBezTo>
                  <a:lnTo>
                    <a:pt x="1084" y="1096"/>
                  </a:lnTo>
                  <a:lnTo>
                    <a:pt x="1084" y="1108"/>
                  </a:lnTo>
                  <a:cubicBezTo>
                    <a:pt x="1084" y="1298"/>
                    <a:pt x="1250" y="1465"/>
                    <a:pt x="1441" y="1465"/>
                  </a:cubicBezTo>
                  <a:lnTo>
                    <a:pt x="1822" y="1465"/>
                  </a:lnTo>
                  <a:cubicBezTo>
                    <a:pt x="2012" y="1465"/>
                    <a:pt x="2179" y="1298"/>
                    <a:pt x="2179" y="1108"/>
                  </a:cubicBezTo>
                  <a:lnTo>
                    <a:pt x="2179" y="1096"/>
                  </a:lnTo>
                  <a:lnTo>
                    <a:pt x="9513" y="1096"/>
                  </a:lnTo>
                  <a:lnTo>
                    <a:pt x="9513" y="1108"/>
                  </a:lnTo>
                  <a:cubicBezTo>
                    <a:pt x="9513" y="1298"/>
                    <a:pt x="9680" y="1465"/>
                    <a:pt x="9871" y="1465"/>
                  </a:cubicBezTo>
                  <a:lnTo>
                    <a:pt x="10240" y="1465"/>
                  </a:lnTo>
                  <a:cubicBezTo>
                    <a:pt x="10430" y="1465"/>
                    <a:pt x="10597" y="1298"/>
                    <a:pt x="10597" y="1108"/>
                  </a:cubicBezTo>
                  <a:lnTo>
                    <a:pt x="10597" y="1096"/>
                  </a:lnTo>
                  <a:close/>
                  <a:moveTo>
                    <a:pt x="1441" y="0"/>
                  </a:moveTo>
                  <a:cubicBezTo>
                    <a:pt x="1250" y="0"/>
                    <a:pt x="1084" y="167"/>
                    <a:pt x="1084" y="358"/>
                  </a:cubicBezTo>
                  <a:lnTo>
                    <a:pt x="1084" y="739"/>
                  </a:lnTo>
                  <a:lnTo>
                    <a:pt x="715" y="739"/>
                  </a:lnTo>
                  <a:cubicBezTo>
                    <a:pt x="310" y="739"/>
                    <a:pt x="0" y="1060"/>
                    <a:pt x="0" y="1453"/>
                  </a:cubicBezTo>
                  <a:lnTo>
                    <a:pt x="0" y="8752"/>
                  </a:lnTo>
                  <a:cubicBezTo>
                    <a:pt x="0" y="9156"/>
                    <a:pt x="334" y="9466"/>
                    <a:pt x="715" y="9466"/>
                  </a:cubicBezTo>
                  <a:lnTo>
                    <a:pt x="10954" y="9466"/>
                  </a:lnTo>
                  <a:cubicBezTo>
                    <a:pt x="11359" y="9466"/>
                    <a:pt x="11668" y="9144"/>
                    <a:pt x="11668" y="8752"/>
                  </a:cubicBezTo>
                  <a:lnTo>
                    <a:pt x="11668" y="1453"/>
                  </a:lnTo>
                  <a:cubicBezTo>
                    <a:pt x="11668" y="1060"/>
                    <a:pt x="11359" y="739"/>
                    <a:pt x="10954" y="739"/>
                  </a:cubicBezTo>
                  <a:lnTo>
                    <a:pt x="10585" y="739"/>
                  </a:lnTo>
                  <a:lnTo>
                    <a:pt x="10585" y="358"/>
                  </a:lnTo>
                  <a:cubicBezTo>
                    <a:pt x="10585" y="167"/>
                    <a:pt x="10418" y="0"/>
                    <a:pt x="10228" y="0"/>
                  </a:cubicBezTo>
                  <a:lnTo>
                    <a:pt x="9859" y="0"/>
                  </a:lnTo>
                  <a:cubicBezTo>
                    <a:pt x="9656" y="0"/>
                    <a:pt x="9490" y="167"/>
                    <a:pt x="9490" y="358"/>
                  </a:cubicBezTo>
                  <a:lnTo>
                    <a:pt x="9490" y="739"/>
                  </a:lnTo>
                  <a:lnTo>
                    <a:pt x="2179" y="739"/>
                  </a:lnTo>
                  <a:lnTo>
                    <a:pt x="2179" y="358"/>
                  </a:lnTo>
                  <a:cubicBezTo>
                    <a:pt x="2179" y="167"/>
                    <a:pt x="2012" y="0"/>
                    <a:pt x="1822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710;p62">
              <a:extLst>
                <a:ext uri="{FF2B5EF4-FFF2-40B4-BE49-F238E27FC236}">
                  <a16:creationId xmlns:a16="http://schemas.microsoft.com/office/drawing/2014/main" id="{5EA29391-CC22-DDF7-B82A-2777D47C2455}"/>
                </a:ext>
              </a:extLst>
            </p:cNvPr>
            <p:cNvSpPr/>
            <p:nvPr/>
          </p:nvSpPr>
          <p:spPr>
            <a:xfrm>
              <a:off x="7574129" y="3891009"/>
              <a:ext cx="324418" cy="10662"/>
            </a:xfrm>
            <a:custGeom>
              <a:avLst/>
              <a:gdLst/>
              <a:ahLst/>
              <a:cxnLst/>
              <a:rect l="l" t="t" r="r" b="b"/>
              <a:pathLst>
                <a:path w="10193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10025" y="334"/>
                  </a:lnTo>
                  <a:cubicBezTo>
                    <a:pt x="10121" y="334"/>
                    <a:pt x="10192" y="251"/>
                    <a:pt x="10192" y="168"/>
                  </a:cubicBezTo>
                  <a:cubicBezTo>
                    <a:pt x="10192" y="72"/>
                    <a:pt x="10121" y="1"/>
                    <a:pt x="10025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711;p62">
              <a:extLst>
                <a:ext uri="{FF2B5EF4-FFF2-40B4-BE49-F238E27FC236}">
                  <a16:creationId xmlns:a16="http://schemas.microsoft.com/office/drawing/2014/main" id="{CB90A08D-D03F-4A80-4FC5-C5E18C2631E7}"/>
                </a:ext>
              </a:extLst>
            </p:cNvPr>
            <p:cNvSpPr/>
            <p:nvPr/>
          </p:nvSpPr>
          <p:spPr>
            <a:xfrm>
              <a:off x="7591188" y="3937637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55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712;p62">
              <a:extLst>
                <a:ext uri="{FF2B5EF4-FFF2-40B4-BE49-F238E27FC236}">
                  <a16:creationId xmlns:a16="http://schemas.microsoft.com/office/drawing/2014/main" id="{E17C2A5F-BDFE-1C78-DA37-6F8752CAFA61}"/>
                </a:ext>
              </a:extLst>
            </p:cNvPr>
            <p:cNvSpPr/>
            <p:nvPr/>
          </p:nvSpPr>
          <p:spPr>
            <a:xfrm>
              <a:off x="7672667" y="3937637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1" y="0"/>
                    <a:pt x="0" y="72"/>
                    <a:pt x="0" y="155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55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713;p62">
              <a:extLst>
                <a:ext uri="{FF2B5EF4-FFF2-40B4-BE49-F238E27FC236}">
                  <a16:creationId xmlns:a16="http://schemas.microsoft.com/office/drawing/2014/main" id="{E11CBC8D-7A0A-7CCA-C3B9-D36CC88B6341}"/>
                </a:ext>
              </a:extLst>
            </p:cNvPr>
            <p:cNvSpPr/>
            <p:nvPr/>
          </p:nvSpPr>
          <p:spPr>
            <a:xfrm>
              <a:off x="7835592" y="3937637"/>
              <a:ext cx="45131" cy="10248"/>
            </a:xfrm>
            <a:custGeom>
              <a:avLst/>
              <a:gdLst/>
              <a:ahLst/>
              <a:cxnLst/>
              <a:rect l="l" t="t" r="r" b="b"/>
              <a:pathLst>
                <a:path w="1418" h="322" extrusionOk="0">
                  <a:moveTo>
                    <a:pt x="155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55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714;p62">
              <a:extLst>
                <a:ext uri="{FF2B5EF4-FFF2-40B4-BE49-F238E27FC236}">
                  <a16:creationId xmlns:a16="http://schemas.microsoft.com/office/drawing/2014/main" id="{4A00DCA6-EFDC-4D53-FF4B-D4AEDCABBC61}"/>
                </a:ext>
              </a:extLst>
            </p:cNvPr>
            <p:cNvSpPr/>
            <p:nvPr/>
          </p:nvSpPr>
          <p:spPr>
            <a:xfrm>
              <a:off x="7591188" y="3984232"/>
              <a:ext cx="45481" cy="10662"/>
            </a:xfrm>
            <a:custGeom>
              <a:avLst/>
              <a:gdLst/>
              <a:ahLst/>
              <a:cxnLst/>
              <a:rect l="l" t="t" r="r" b="b"/>
              <a:pathLst>
                <a:path w="1429" h="335" extrusionOk="0">
                  <a:moveTo>
                    <a:pt x="155" y="1"/>
                  </a:moveTo>
                  <a:cubicBezTo>
                    <a:pt x="72" y="1"/>
                    <a:pt x="0" y="84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262" y="334"/>
                  </a:lnTo>
                  <a:cubicBezTo>
                    <a:pt x="1346" y="334"/>
                    <a:pt x="1429" y="263"/>
                    <a:pt x="1429" y="168"/>
                  </a:cubicBezTo>
                  <a:cubicBezTo>
                    <a:pt x="1429" y="84"/>
                    <a:pt x="1346" y="1"/>
                    <a:pt x="1262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715;p62">
              <a:extLst>
                <a:ext uri="{FF2B5EF4-FFF2-40B4-BE49-F238E27FC236}">
                  <a16:creationId xmlns:a16="http://schemas.microsoft.com/office/drawing/2014/main" id="{DE56B0EF-04A8-35B5-A47A-70EA4160F28F}"/>
                </a:ext>
              </a:extLst>
            </p:cNvPr>
            <p:cNvSpPr/>
            <p:nvPr/>
          </p:nvSpPr>
          <p:spPr>
            <a:xfrm>
              <a:off x="7754113" y="3984232"/>
              <a:ext cx="45513" cy="10662"/>
            </a:xfrm>
            <a:custGeom>
              <a:avLst/>
              <a:gdLst/>
              <a:ahLst/>
              <a:cxnLst/>
              <a:rect l="l" t="t" r="r" b="b"/>
              <a:pathLst>
                <a:path w="1430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716;p62">
              <a:extLst>
                <a:ext uri="{FF2B5EF4-FFF2-40B4-BE49-F238E27FC236}">
                  <a16:creationId xmlns:a16="http://schemas.microsoft.com/office/drawing/2014/main" id="{AC966AF8-3349-AABC-2AB3-15CD6B73B4DD}"/>
                </a:ext>
              </a:extLst>
            </p:cNvPr>
            <p:cNvSpPr/>
            <p:nvPr/>
          </p:nvSpPr>
          <p:spPr>
            <a:xfrm>
              <a:off x="7591188" y="4030859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1262" y="322"/>
                  </a:lnTo>
                  <a:cubicBezTo>
                    <a:pt x="1346" y="322"/>
                    <a:pt x="1429" y="250"/>
                    <a:pt x="1429" y="167"/>
                  </a:cubicBezTo>
                  <a:cubicBezTo>
                    <a:pt x="1429" y="72"/>
                    <a:pt x="1346" y="0"/>
                    <a:pt x="1262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717;p62">
              <a:extLst>
                <a:ext uri="{FF2B5EF4-FFF2-40B4-BE49-F238E27FC236}">
                  <a16:creationId xmlns:a16="http://schemas.microsoft.com/office/drawing/2014/main" id="{321043A2-F5E9-4D32-DDC8-C7A6D41B8374}"/>
                </a:ext>
              </a:extLst>
            </p:cNvPr>
            <p:cNvSpPr/>
            <p:nvPr/>
          </p:nvSpPr>
          <p:spPr>
            <a:xfrm>
              <a:off x="7672667" y="4030859"/>
              <a:ext cx="45481" cy="10248"/>
            </a:xfrm>
            <a:custGeom>
              <a:avLst/>
              <a:gdLst/>
              <a:ahLst/>
              <a:cxnLst/>
              <a:rect l="l" t="t" r="r" b="b"/>
              <a:pathLst>
                <a:path w="1429" h="322" extrusionOk="0">
                  <a:moveTo>
                    <a:pt x="155" y="0"/>
                  </a:moveTo>
                  <a:cubicBezTo>
                    <a:pt x="71" y="0"/>
                    <a:pt x="0" y="72"/>
                    <a:pt x="0" y="167"/>
                  </a:cubicBezTo>
                  <a:cubicBezTo>
                    <a:pt x="0" y="250"/>
                    <a:pt x="71" y="322"/>
                    <a:pt x="155" y="322"/>
                  </a:cubicBezTo>
                  <a:lnTo>
                    <a:pt x="1262" y="322"/>
                  </a:lnTo>
                  <a:cubicBezTo>
                    <a:pt x="1345" y="322"/>
                    <a:pt x="1429" y="250"/>
                    <a:pt x="1429" y="167"/>
                  </a:cubicBezTo>
                  <a:cubicBezTo>
                    <a:pt x="1429" y="72"/>
                    <a:pt x="1345" y="0"/>
                    <a:pt x="1262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718;p62">
              <a:extLst>
                <a:ext uri="{FF2B5EF4-FFF2-40B4-BE49-F238E27FC236}">
                  <a16:creationId xmlns:a16="http://schemas.microsoft.com/office/drawing/2014/main" id="{947C375B-E86A-36A5-CCDB-D528D0779805}"/>
                </a:ext>
              </a:extLst>
            </p:cNvPr>
            <p:cNvSpPr/>
            <p:nvPr/>
          </p:nvSpPr>
          <p:spPr>
            <a:xfrm>
              <a:off x="7835592" y="4030859"/>
              <a:ext cx="45131" cy="10248"/>
            </a:xfrm>
            <a:custGeom>
              <a:avLst/>
              <a:gdLst/>
              <a:ahLst/>
              <a:cxnLst/>
              <a:rect l="l" t="t" r="r" b="b"/>
              <a:pathLst>
                <a:path w="1418" h="322" extrusionOk="0">
                  <a:moveTo>
                    <a:pt x="155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1263" y="322"/>
                  </a:lnTo>
                  <a:cubicBezTo>
                    <a:pt x="1346" y="322"/>
                    <a:pt x="1418" y="250"/>
                    <a:pt x="1418" y="167"/>
                  </a:cubicBezTo>
                  <a:cubicBezTo>
                    <a:pt x="1418" y="72"/>
                    <a:pt x="1346" y="0"/>
                    <a:pt x="1263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719;p62">
              <a:extLst>
                <a:ext uri="{FF2B5EF4-FFF2-40B4-BE49-F238E27FC236}">
                  <a16:creationId xmlns:a16="http://schemas.microsoft.com/office/drawing/2014/main" id="{65677A43-6DFF-D821-3256-D8089057C856}"/>
                </a:ext>
              </a:extLst>
            </p:cNvPr>
            <p:cNvSpPr/>
            <p:nvPr/>
          </p:nvSpPr>
          <p:spPr>
            <a:xfrm>
              <a:off x="7672667" y="4077073"/>
              <a:ext cx="45481" cy="10662"/>
            </a:xfrm>
            <a:custGeom>
              <a:avLst/>
              <a:gdLst/>
              <a:ahLst/>
              <a:cxnLst/>
              <a:rect l="l" t="t" r="r" b="b"/>
              <a:pathLst>
                <a:path w="1429" h="335" extrusionOk="0">
                  <a:moveTo>
                    <a:pt x="155" y="1"/>
                  </a:moveTo>
                  <a:cubicBezTo>
                    <a:pt x="71" y="1"/>
                    <a:pt x="0" y="84"/>
                    <a:pt x="0" y="168"/>
                  </a:cubicBezTo>
                  <a:cubicBezTo>
                    <a:pt x="0" y="263"/>
                    <a:pt x="71" y="334"/>
                    <a:pt x="155" y="334"/>
                  </a:cubicBezTo>
                  <a:lnTo>
                    <a:pt x="1262" y="334"/>
                  </a:lnTo>
                  <a:cubicBezTo>
                    <a:pt x="1345" y="334"/>
                    <a:pt x="1429" y="263"/>
                    <a:pt x="1429" y="168"/>
                  </a:cubicBezTo>
                  <a:cubicBezTo>
                    <a:pt x="1429" y="84"/>
                    <a:pt x="1345" y="1"/>
                    <a:pt x="1262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720;p62">
              <a:extLst>
                <a:ext uri="{FF2B5EF4-FFF2-40B4-BE49-F238E27FC236}">
                  <a16:creationId xmlns:a16="http://schemas.microsoft.com/office/drawing/2014/main" id="{B62A5765-522C-BAF4-BFE6-F9AFDF3CDE5C}"/>
                </a:ext>
              </a:extLst>
            </p:cNvPr>
            <p:cNvSpPr/>
            <p:nvPr/>
          </p:nvSpPr>
          <p:spPr>
            <a:xfrm>
              <a:off x="7754113" y="4077073"/>
              <a:ext cx="45513" cy="10662"/>
            </a:xfrm>
            <a:custGeom>
              <a:avLst/>
              <a:gdLst/>
              <a:ahLst/>
              <a:cxnLst/>
              <a:rect l="l" t="t" r="r" b="b"/>
              <a:pathLst>
                <a:path w="1430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1263" y="334"/>
                  </a:lnTo>
                  <a:cubicBezTo>
                    <a:pt x="1346" y="334"/>
                    <a:pt x="1430" y="263"/>
                    <a:pt x="1430" y="168"/>
                  </a:cubicBezTo>
                  <a:cubicBezTo>
                    <a:pt x="1430" y="84"/>
                    <a:pt x="1346" y="1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721;p62">
              <a:extLst>
                <a:ext uri="{FF2B5EF4-FFF2-40B4-BE49-F238E27FC236}">
                  <a16:creationId xmlns:a16="http://schemas.microsoft.com/office/drawing/2014/main" id="{B90F3C7D-7C55-8A4A-E30F-B9C5F15D5C72}"/>
                </a:ext>
              </a:extLst>
            </p:cNvPr>
            <p:cNvSpPr/>
            <p:nvPr/>
          </p:nvSpPr>
          <p:spPr>
            <a:xfrm>
              <a:off x="7835592" y="4077073"/>
              <a:ext cx="45131" cy="10662"/>
            </a:xfrm>
            <a:custGeom>
              <a:avLst/>
              <a:gdLst/>
              <a:ahLst/>
              <a:cxnLst/>
              <a:rect l="l" t="t" r="r" b="b"/>
              <a:pathLst>
                <a:path w="1418" h="335" extrusionOk="0">
                  <a:moveTo>
                    <a:pt x="155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5" y="334"/>
                  </a:cubicBezTo>
                  <a:lnTo>
                    <a:pt x="1263" y="334"/>
                  </a:lnTo>
                  <a:cubicBezTo>
                    <a:pt x="1346" y="334"/>
                    <a:pt x="1418" y="263"/>
                    <a:pt x="1418" y="168"/>
                  </a:cubicBezTo>
                  <a:cubicBezTo>
                    <a:pt x="1418" y="84"/>
                    <a:pt x="1346" y="1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722;p62">
              <a:extLst>
                <a:ext uri="{FF2B5EF4-FFF2-40B4-BE49-F238E27FC236}">
                  <a16:creationId xmlns:a16="http://schemas.microsoft.com/office/drawing/2014/main" id="{D21BB981-7669-A359-6E7F-59168102D21B}"/>
                </a:ext>
              </a:extLst>
            </p:cNvPr>
            <p:cNvSpPr/>
            <p:nvPr/>
          </p:nvSpPr>
          <p:spPr>
            <a:xfrm>
              <a:off x="7672667" y="3972583"/>
              <a:ext cx="46245" cy="34055"/>
            </a:xfrm>
            <a:custGeom>
              <a:avLst/>
              <a:gdLst/>
              <a:ahLst/>
              <a:cxnLst/>
              <a:rect l="l" t="t" r="r" b="b"/>
              <a:pathLst>
                <a:path w="1453" h="1070" extrusionOk="0">
                  <a:moveTo>
                    <a:pt x="1262" y="1"/>
                  </a:moveTo>
                  <a:cubicBezTo>
                    <a:pt x="1217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5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22"/>
                  </a:lnTo>
                  <a:cubicBezTo>
                    <a:pt x="452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22"/>
                  </a:cubicBezTo>
                  <a:lnTo>
                    <a:pt x="1393" y="295"/>
                  </a:lnTo>
                  <a:cubicBezTo>
                    <a:pt x="1453" y="224"/>
                    <a:pt x="1453" y="117"/>
                    <a:pt x="1381" y="45"/>
                  </a:cubicBezTo>
                  <a:cubicBezTo>
                    <a:pt x="1351" y="16"/>
                    <a:pt x="1307" y="1"/>
                    <a:pt x="1262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723;p62">
              <a:extLst>
                <a:ext uri="{FF2B5EF4-FFF2-40B4-BE49-F238E27FC236}">
                  <a16:creationId xmlns:a16="http://schemas.microsoft.com/office/drawing/2014/main" id="{6D6233A2-3447-B27D-E49E-464D8A4F1E1C}"/>
                </a:ext>
              </a:extLst>
            </p:cNvPr>
            <p:cNvSpPr/>
            <p:nvPr/>
          </p:nvSpPr>
          <p:spPr>
            <a:xfrm>
              <a:off x="7835592" y="3972583"/>
              <a:ext cx="45895" cy="34055"/>
            </a:xfrm>
            <a:custGeom>
              <a:avLst/>
              <a:gdLst/>
              <a:ahLst/>
              <a:cxnLst/>
              <a:rect l="l" t="t" r="r" b="b"/>
              <a:pathLst>
                <a:path w="1442" h="1070" extrusionOk="0">
                  <a:moveTo>
                    <a:pt x="1263" y="1"/>
                  </a:moveTo>
                  <a:cubicBezTo>
                    <a:pt x="1218" y="1"/>
                    <a:pt x="1173" y="16"/>
                    <a:pt x="1144" y="45"/>
                  </a:cubicBezTo>
                  <a:lnTo>
                    <a:pt x="536" y="653"/>
                  </a:lnTo>
                  <a:lnTo>
                    <a:pt x="298" y="415"/>
                  </a:lnTo>
                  <a:cubicBezTo>
                    <a:pt x="269" y="385"/>
                    <a:pt x="224" y="370"/>
                    <a:pt x="179" y="370"/>
                  </a:cubicBezTo>
                  <a:cubicBezTo>
                    <a:pt x="135" y="370"/>
                    <a:pt x="90" y="385"/>
                    <a:pt x="60" y="415"/>
                  </a:cubicBezTo>
                  <a:cubicBezTo>
                    <a:pt x="1" y="474"/>
                    <a:pt x="1" y="593"/>
                    <a:pt x="60" y="653"/>
                  </a:cubicBezTo>
                  <a:lnTo>
                    <a:pt x="429" y="1022"/>
                  </a:lnTo>
                  <a:cubicBezTo>
                    <a:pt x="453" y="1057"/>
                    <a:pt x="501" y="1069"/>
                    <a:pt x="548" y="1069"/>
                  </a:cubicBezTo>
                  <a:cubicBezTo>
                    <a:pt x="596" y="1069"/>
                    <a:pt x="632" y="1057"/>
                    <a:pt x="667" y="1022"/>
                  </a:cubicBezTo>
                  <a:lnTo>
                    <a:pt x="1394" y="295"/>
                  </a:lnTo>
                  <a:cubicBezTo>
                    <a:pt x="1441" y="224"/>
                    <a:pt x="1441" y="117"/>
                    <a:pt x="1382" y="45"/>
                  </a:cubicBezTo>
                  <a:cubicBezTo>
                    <a:pt x="1352" y="16"/>
                    <a:pt x="1307" y="1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724;p62">
              <a:extLst>
                <a:ext uri="{FF2B5EF4-FFF2-40B4-BE49-F238E27FC236}">
                  <a16:creationId xmlns:a16="http://schemas.microsoft.com/office/drawing/2014/main" id="{F1AB9EC9-EF0A-E905-3893-23EF41ECF9E9}"/>
                </a:ext>
              </a:extLst>
            </p:cNvPr>
            <p:cNvSpPr/>
            <p:nvPr/>
          </p:nvSpPr>
          <p:spPr>
            <a:xfrm>
              <a:off x="7754113" y="4019592"/>
              <a:ext cx="46277" cy="34024"/>
            </a:xfrm>
            <a:custGeom>
              <a:avLst/>
              <a:gdLst/>
              <a:ahLst/>
              <a:cxnLst/>
              <a:rect l="l" t="t" r="r" b="b"/>
              <a:pathLst>
                <a:path w="1454" h="1069" extrusionOk="0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52"/>
                  </a:lnTo>
                  <a:lnTo>
                    <a:pt x="299" y="414"/>
                  </a:lnTo>
                  <a:cubicBezTo>
                    <a:pt x="269" y="384"/>
                    <a:pt x="224" y="369"/>
                    <a:pt x="179" y="369"/>
                  </a:cubicBezTo>
                  <a:cubicBezTo>
                    <a:pt x="135" y="369"/>
                    <a:pt x="90" y="384"/>
                    <a:pt x="60" y="414"/>
                  </a:cubicBezTo>
                  <a:cubicBezTo>
                    <a:pt x="1" y="473"/>
                    <a:pt x="1" y="593"/>
                    <a:pt x="60" y="652"/>
                  </a:cubicBezTo>
                  <a:lnTo>
                    <a:pt x="429" y="1021"/>
                  </a:lnTo>
                  <a:cubicBezTo>
                    <a:pt x="453" y="1057"/>
                    <a:pt x="501" y="1069"/>
                    <a:pt x="549" y="1069"/>
                  </a:cubicBezTo>
                  <a:cubicBezTo>
                    <a:pt x="596" y="1069"/>
                    <a:pt x="632" y="1057"/>
                    <a:pt x="668" y="1021"/>
                  </a:cubicBezTo>
                  <a:lnTo>
                    <a:pt x="1394" y="295"/>
                  </a:lnTo>
                  <a:cubicBezTo>
                    <a:pt x="1453" y="200"/>
                    <a:pt x="1453" y="104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725;p62">
              <a:extLst>
                <a:ext uri="{FF2B5EF4-FFF2-40B4-BE49-F238E27FC236}">
                  <a16:creationId xmlns:a16="http://schemas.microsoft.com/office/drawing/2014/main" id="{53D433A5-5FEE-12A0-FFE3-23F66719F1FA}"/>
                </a:ext>
              </a:extLst>
            </p:cNvPr>
            <p:cNvSpPr/>
            <p:nvPr/>
          </p:nvSpPr>
          <p:spPr>
            <a:xfrm>
              <a:off x="7591188" y="4065806"/>
              <a:ext cx="46245" cy="34055"/>
            </a:xfrm>
            <a:custGeom>
              <a:avLst/>
              <a:gdLst/>
              <a:ahLst/>
              <a:cxnLst/>
              <a:rect l="l" t="t" r="r" b="b"/>
              <a:pathLst>
                <a:path w="1453" h="1070" extrusionOk="0">
                  <a:moveTo>
                    <a:pt x="1262" y="1"/>
                  </a:moveTo>
                  <a:cubicBezTo>
                    <a:pt x="1218" y="1"/>
                    <a:pt x="1173" y="16"/>
                    <a:pt x="1143" y="45"/>
                  </a:cubicBezTo>
                  <a:lnTo>
                    <a:pt x="536" y="653"/>
                  </a:lnTo>
                  <a:lnTo>
                    <a:pt x="298" y="414"/>
                  </a:lnTo>
                  <a:cubicBezTo>
                    <a:pt x="268" y="385"/>
                    <a:pt x="223" y="370"/>
                    <a:pt x="179" y="370"/>
                  </a:cubicBezTo>
                  <a:cubicBezTo>
                    <a:pt x="134" y="370"/>
                    <a:pt x="89" y="385"/>
                    <a:pt x="60" y="414"/>
                  </a:cubicBezTo>
                  <a:cubicBezTo>
                    <a:pt x="0" y="474"/>
                    <a:pt x="0" y="593"/>
                    <a:pt x="60" y="653"/>
                  </a:cubicBezTo>
                  <a:lnTo>
                    <a:pt x="429" y="1034"/>
                  </a:lnTo>
                  <a:cubicBezTo>
                    <a:pt x="453" y="1057"/>
                    <a:pt x="500" y="1069"/>
                    <a:pt x="548" y="1069"/>
                  </a:cubicBezTo>
                  <a:cubicBezTo>
                    <a:pt x="595" y="1069"/>
                    <a:pt x="631" y="1057"/>
                    <a:pt x="667" y="1034"/>
                  </a:cubicBezTo>
                  <a:lnTo>
                    <a:pt x="1393" y="295"/>
                  </a:lnTo>
                  <a:cubicBezTo>
                    <a:pt x="1453" y="224"/>
                    <a:pt x="1453" y="105"/>
                    <a:pt x="1381" y="45"/>
                  </a:cubicBezTo>
                  <a:cubicBezTo>
                    <a:pt x="1352" y="16"/>
                    <a:pt x="1307" y="1"/>
                    <a:pt x="1262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726;p62">
              <a:extLst>
                <a:ext uri="{FF2B5EF4-FFF2-40B4-BE49-F238E27FC236}">
                  <a16:creationId xmlns:a16="http://schemas.microsoft.com/office/drawing/2014/main" id="{15102A54-A5AF-AA26-C3BE-CC13CDA5EA8E}"/>
                </a:ext>
              </a:extLst>
            </p:cNvPr>
            <p:cNvSpPr/>
            <p:nvPr/>
          </p:nvSpPr>
          <p:spPr>
            <a:xfrm>
              <a:off x="7754113" y="3925988"/>
              <a:ext cx="46277" cy="34406"/>
            </a:xfrm>
            <a:custGeom>
              <a:avLst/>
              <a:gdLst/>
              <a:ahLst/>
              <a:cxnLst/>
              <a:rect l="l" t="t" r="r" b="b"/>
              <a:pathLst>
                <a:path w="1454" h="1081" extrusionOk="0">
                  <a:moveTo>
                    <a:pt x="1263" y="0"/>
                  </a:moveTo>
                  <a:cubicBezTo>
                    <a:pt x="1218" y="0"/>
                    <a:pt x="1174" y="15"/>
                    <a:pt x="1144" y="45"/>
                  </a:cubicBezTo>
                  <a:lnTo>
                    <a:pt x="537" y="664"/>
                  </a:lnTo>
                  <a:lnTo>
                    <a:pt x="299" y="426"/>
                  </a:lnTo>
                  <a:cubicBezTo>
                    <a:pt x="269" y="396"/>
                    <a:pt x="224" y="381"/>
                    <a:pt x="179" y="381"/>
                  </a:cubicBezTo>
                  <a:cubicBezTo>
                    <a:pt x="135" y="381"/>
                    <a:pt x="90" y="396"/>
                    <a:pt x="60" y="426"/>
                  </a:cubicBezTo>
                  <a:cubicBezTo>
                    <a:pt x="1" y="486"/>
                    <a:pt x="1" y="605"/>
                    <a:pt x="60" y="664"/>
                  </a:cubicBezTo>
                  <a:lnTo>
                    <a:pt x="429" y="1033"/>
                  </a:lnTo>
                  <a:cubicBezTo>
                    <a:pt x="453" y="1057"/>
                    <a:pt x="501" y="1081"/>
                    <a:pt x="549" y="1081"/>
                  </a:cubicBezTo>
                  <a:cubicBezTo>
                    <a:pt x="596" y="1081"/>
                    <a:pt x="632" y="1057"/>
                    <a:pt x="668" y="1033"/>
                  </a:cubicBezTo>
                  <a:lnTo>
                    <a:pt x="1394" y="307"/>
                  </a:lnTo>
                  <a:cubicBezTo>
                    <a:pt x="1453" y="224"/>
                    <a:pt x="1453" y="128"/>
                    <a:pt x="1382" y="45"/>
                  </a:cubicBezTo>
                  <a:cubicBezTo>
                    <a:pt x="1352" y="15"/>
                    <a:pt x="1308" y="0"/>
                    <a:pt x="1263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9736;p62">
            <a:extLst>
              <a:ext uri="{FF2B5EF4-FFF2-40B4-BE49-F238E27FC236}">
                <a16:creationId xmlns:a16="http://schemas.microsoft.com/office/drawing/2014/main" id="{E2603761-3E10-2B92-DEA5-677F51BA390B}"/>
              </a:ext>
            </a:extLst>
          </p:cNvPr>
          <p:cNvGrpSpPr/>
          <p:nvPr/>
        </p:nvGrpSpPr>
        <p:grpSpPr>
          <a:xfrm>
            <a:off x="8733844" y="3697370"/>
            <a:ext cx="1070469" cy="941481"/>
            <a:chOff x="5778676" y="3826972"/>
            <a:chExt cx="349052" cy="313055"/>
          </a:xfrm>
          <a:solidFill>
            <a:srgbClr val="1C60A9"/>
          </a:solidFill>
        </p:grpSpPr>
        <p:sp>
          <p:nvSpPr>
            <p:cNvPr id="41" name="Google Shape;9737;p62">
              <a:extLst>
                <a:ext uri="{FF2B5EF4-FFF2-40B4-BE49-F238E27FC236}">
                  <a16:creationId xmlns:a16="http://schemas.microsoft.com/office/drawing/2014/main" id="{79568E75-18A2-FCC4-F010-7EA86F8613D5}"/>
                </a:ext>
              </a:extLst>
            </p:cNvPr>
            <p:cNvSpPr/>
            <p:nvPr/>
          </p:nvSpPr>
          <p:spPr>
            <a:xfrm>
              <a:off x="5923045" y="3890659"/>
              <a:ext cx="27690" cy="48155"/>
            </a:xfrm>
            <a:custGeom>
              <a:avLst/>
              <a:gdLst/>
              <a:ahLst/>
              <a:cxnLst/>
              <a:rect l="l" t="t" r="r" b="b"/>
              <a:pathLst>
                <a:path w="870" h="1513" extrusionOk="0">
                  <a:moveTo>
                    <a:pt x="406" y="286"/>
                  </a:moveTo>
                  <a:lnTo>
                    <a:pt x="406" y="560"/>
                  </a:lnTo>
                  <a:cubicBezTo>
                    <a:pt x="299" y="524"/>
                    <a:pt x="251" y="488"/>
                    <a:pt x="251" y="417"/>
                  </a:cubicBezTo>
                  <a:cubicBezTo>
                    <a:pt x="251" y="345"/>
                    <a:pt x="334" y="298"/>
                    <a:pt x="406" y="286"/>
                  </a:cubicBezTo>
                  <a:close/>
                  <a:moveTo>
                    <a:pt x="513" y="845"/>
                  </a:moveTo>
                  <a:cubicBezTo>
                    <a:pt x="632" y="893"/>
                    <a:pt x="644" y="953"/>
                    <a:pt x="644" y="1012"/>
                  </a:cubicBezTo>
                  <a:cubicBezTo>
                    <a:pt x="644" y="1119"/>
                    <a:pt x="584" y="1155"/>
                    <a:pt x="513" y="1179"/>
                  </a:cubicBezTo>
                  <a:lnTo>
                    <a:pt x="513" y="845"/>
                  </a:lnTo>
                  <a:close/>
                  <a:moveTo>
                    <a:pt x="465" y="0"/>
                  </a:moveTo>
                  <a:cubicBezTo>
                    <a:pt x="441" y="0"/>
                    <a:pt x="406" y="12"/>
                    <a:pt x="406" y="48"/>
                  </a:cubicBezTo>
                  <a:lnTo>
                    <a:pt x="406" y="83"/>
                  </a:lnTo>
                  <a:cubicBezTo>
                    <a:pt x="179" y="119"/>
                    <a:pt x="48" y="238"/>
                    <a:pt x="48" y="441"/>
                  </a:cubicBezTo>
                  <a:cubicBezTo>
                    <a:pt x="48" y="667"/>
                    <a:pt x="215" y="738"/>
                    <a:pt x="406" y="810"/>
                  </a:cubicBezTo>
                  <a:lnTo>
                    <a:pt x="406" y="1191"/>
                  </a:lnTo>
                  <a:cubicBezTo>
                    <a:pt x="299" y="1167"/>
                    <a:pt x="251" y="1143"/>
                    <a:pt x="168" y="1072"/>
                  </a:cubicBezTo>
                  <a:cubicBezTo>
                    <a:pt x="149" y="1058"/>
                    <a:pt x="132" y="1051"/>
                    <a:pt x="116" y="1051"/>
                  </a:cubicBezTo>
                  <a:cubicBezTo>
                    <a:pt x="92" y="1051"/>
                    <a:pt x="70" y="1067"/>
                    <a:pt x="48" y="1095"/>
                  </a:cubicBezTo>
                  <a:cubicBezTo>
                    <a:pt x="1" y="1155"/>
                    <a:pt x="1" y="1215"/>
                    <a:pt x="48" y="1262"/>
                  </a:cubicBezTo>
                  <a:cubicBezTo>
                    <a:pt x="120" y="1357"/>
                    <a:pt x="275" y="1417"/>
                    <a:pt x="406" y="1417"/>
                  </a:cubicBezTo>
                  <a:lnTo>
                    <a:pt x="406" y="1476"/>
                  </a:lnTo>
                  <a:cubicBezTo>
                    <a:pt x="406" y="1500"/>
                    <a:pt x="441" y="1512"/>
                    <a:pt x="465" y="1512"/>
                  </a:cubicBezTo>
                  <a:cubicBezTo>
                    <a:pt x="501" y="1512"/>
                    <a:pt x="525" y="1500"/>
                    <a:pt x="525" y="1476"/>
                  </a:cubicBezTo>
                  <a:lnTo>
                    <a:pt x="525" y="1417"/>
                  </a:lnTo>
                  <a:cubicBezTo>
                    <a:pt x="715" y="1381"/>
                    <a:pt x="870" y="1262"/>
                    <a:pt x="870" y="1024"/>
                  </a:cubicBezTo>
                  <a:cubicBezTo>
                    <a:pt x="870" y="774"/>
                    <a:pt x="739" y="679"/>
                    <a:pt x="525" y="607"/>
                  </a:cubicBezTo>
                  <a:lnTo>
                    <a:pt x="525" y="286"/>
                  </a:lnTo>
                  <a:cubicBezTo>
                    <a:pt x="572" y="286"/>
                    <a:pt x="596" y="298"/>
                    <a:pt x="656" y="322"/>
                  </a:cubicBezTo>
                  <a:cubicBezTo>
                    <a:pt x="682" y="335"/>
                    <a:pt x="713" y="352"/>
                    <a:pt x="745" y="352"/>
                  </a:cubicBezTo>
                  <a:cubicBezTo>
                    <a:pt x="770" y="352"/>
                    <a:pt x="796" y="341"/>
                    <a:pt x="822" y="310"/>
                  </a:cubicBezTo>
                  <a:cubicBezTo>
                    <a:pt x="858" y="262"/>
                    <a:pt x="870" y="202"/>
                    <a:pt x="810" y="155"/>
                  </a:cubicBezTo>
                  <a:cubicBezTo>
                    <a:pt x="739" y="107"/>
                    <a:pt x="620" y="83"/>
                    <a:pt x="525" y="83"/>
                  </a:cubicBezTo>
                  <a:lnTo>
                    <a:pt x="525" y="48"/>
                  </a:lnTo>
                  <a:cubicBezTo>
                    <a:pt x="525" y="12"/>
                    <a:pt x="501" y="0"/>
                    <a:pt x="465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738;p62">
              <a:extLst>
                <a:ext uri="{FF2B5EF4-FFF2-40B4-BE49-F238E27FC236}">
                  <a16:creationId xmlns:a16="http://schemas.microsoft.com/office/drawing/2014/main" id="{9C891B2B-F43A-36CB-AA26-49E529332AD1}"/>
                </a:ext>
              </a:extLst>
            </p:cNvPr>
            <p:cNvSpPr/>
            <p:nvPr/>
          </p:nvSpPr>
          <p:spPr>
            <a:xfrm>
              <a:off x="5976866" y="3843268"/>
              <a:ext cx="80364" cy="80364"/>
            </a:xfrm>
            <a:custGeom>
              <a:avLst/>
              <a:gdLst/>
              <a:ahLst/>
              <a:cxnLst/>
              <a:rect l="l" t="t" r="r" b="b"/>
              <a:pathLst>
                <a:path w="2525" h="2525" extrusionOk="0">
                  <a:moveTo>
                    <a:pt x="1263" y="310"/>
                  </a:moveTo>
                  <a:cubicBezTo>
                    <a:pt x="1786" y="310"/>
                    <a:pt x="2215" y="739"/>
                    <a:pt x="2215" y="1263"/>
                  </a:cubicBezTo>
                  <a:cubicBezTo>
                    <a:pt x="2215" y="1787"/>
                    <a:pt x="1798" y="2215"/>
                    <a:pt x="1263" y="2215"/>
                  </a:cubicBezTo>
                  <a:cubicBezTo>
                    <a:pt x="739" y="2215"/>
                    <a:pt x="310" y="1787"/>
                    <a:pt x="310" y="1263"/>
                  </a:cubicBezTo>
                  <a:cubicBezTo>
                    <a:pt x="310" y="739"/>
                    <a:pt x="739" y="310"/>
                    <a:pt x="1263" y="310"/>
                  </a:cubicBezTo>
                  <a:close/>
                  <a:moveTo>
                    <a:pt x="1263" y="1"/>
                  </a:moveTo>
                  <a:cubicBezTo>
                    <a:pt x="560" y="1"/>
                    <a:pt x="1" y="560"/>
                    <a:pt x="1" y="1263"/>
                  </a:cubicBezTo>
                  <a:cubicBezTo>
                    <a:pt x="1" y="1965"/>
                    <a:pt x="560" y="2525"/>
                    <a:pt x="1263" y="2525"/>
                  </a:cubicBezTo>
                  <a:cubicBezTo>
                    <a:pt x="1965" y="2525"/>
                    <a:pt x="2525" y="1965"/>
                    <a:pt x="2525" y="1263"/>
                  </a:cubicBezTo>
                  <a:cubicBezTo>
                    <a:pt x="2525" y="560"/>
                    <a:pt x="1965" y="1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739;p62">
              <a:extLst>
                <a:ext uri="{FF2B5EF4-FFF2-40B4-BE49-F238E27FC236}">
                  <a16:creationId xmlns:a16="http://schemas.microsoft.com/office/drawing/2014/main" id="{4FA8796F-BBC7-C687-4387-142074A23721}"/>
                </a:ext>
              </a:extLst>
            </p:cNvPr>
            <p:cNvSpPr/>
            <p:nvPr/>
          </p:nvSpPr>
          <p:spPr>
            <a:xfrm>
              <a:off x="5879473" y="3826972"/>
              <a:ext cx="193288" cy="144051"/>
            </a:xfrm>
            <a:custGeom>
              <a:avLst/>
              <a:gdLst/>
              <a:ahLst/>
              <a:cxnLst/>
              <a:rect l="l" t="t" r="r" b="b"/>
              <a:pathLst>
                <a:path w="6073" h="4526" extrusionOk="0">
                  <a:moveTo>
                    <a:pt x="1798" y="1775"/>
                  </a:moveTo>
                  <a:cubicBezTo>
                    <a:pt x="2132" y="1775"/>
                    <a:pt x="2430" y="1942"/>
                    <a:pt x="2596" y="2192"/>
                  </a:cubicBezTo>
                  <a:cubicBezTo>
                    <a:pt x="2620" y="2346"/>
                    <a:pt x="2680" y="2477"/>
                    <a:pt x="2739" y="2608"/>
                  </a:cubicBezTo>
                  <a:cubicBezTo>
                    <a:pt x="2739" y="2656"/>
                    <a:pt x="2751" y="2704"/>
                    <a:pt x="2751" y="2727"/>
                  </a:cubicBezTo>
                  <a:cubicBezTo>
                    <a:pt x="2751" y="3251"/>
                    <a:pt x="2322" y="3680"/>
                    <a:pt x="1798" y="3680"/>
                  </a:cubicBezTo>
                  <a:cubicBezTo>
                    <a:pt x="1287" y="3680"/>
                    <a:pt x="846" y="3251"/>
                    <a:pt x="846" y="2727"/>
                  </a:cubicBezTo>
                  <a:cubicBezTo>
                    <a:pt x="846" y="2203"/>
                    <a:pt x="1287" y="1775"/>
                    <a:pt x="1798" y="1775"/>
                  </a:cubicBezTo>
                  <a:close/>
                  <a:moveTo>
                    <a:pt x="1810" y="1251"/>
                  </a:moveTo>
                  <a:cubicBezTo>
                    <a:pt x="2072" y="1251"/>
                    <a:pt x="2334" y="1334"/>
                    <a:pt x="2560" y="1465"/>
                  </a:cubicBezTo>
                  <a:cubicBezTo>
                    <a:pt x="2549" y="1537"/>
                    <a:pt x="2549" y="1632"/>
                    <a:pt x="2537" y="1692"/>
                  </a:cubicBezTo>
                  <a:cubicBezTo>
                    <a:pt x="2322" y="1537"/>
                    <a:pt x="2072" y="1453"/>
                    <a:pt x="1787" y="1453"/>
                  </a:cubicBezTo>
                  <a:cubicBezTo>
                    <a:pt x="1084" y="1453"/>
                    <a:pt x="525" y="2013"/>
                    <a:pt x="525" y="2715"/>
                  </a:cubicBezTo>
                  <a:cubicBezTo>
                    <a:pt x="525" y="3418"/>
                    <a:pt x="1084" y="3978"/>
                    <a:pt x="1787" y="3978"/>
                  </a:cubicBezTo>
                  <a:cubicBezTo>
                    <a:pt x="2382" y="3978"/>
                    <a:pt x="2894" y="3561"/>
                    <a:pt x="3025" y="3001"/>
                  </a:cubicBezTo>
                  <a:lnTo>
                    <a:pt x="3192" y="3156"/>
                  </a:lnTo>
                  <a:cubicBezTo>
                    <a:pt x="3025" y="3775"/>
                    <a:pt x="2465" y="4204"/>
                    <a:pt x="1810" y="4204"/>
                  </a:cubicBezTo>
                  <a:cubicBezTo>
                    <a:pt x="1001" y="4204"/>
                    <a:pt x="334" y="3549"/>
                    <a:pt x="334" y="2727"/>
                  </a:cubicBezTo>
                  <a:cubicBezTo>
                    <a:pt x="334" y="1906"/>
                    <a:pt x="989" y="1251"/>
                    <a:pt x="1810" y="1251"/>
                  </a:cubicBezTo>
                  <a:close/>
                  <a:moveTo>
                    <a:pt x="4299" y="1"/>
                  </a:moveTo>
                  <a:cubicBezTo>
                    <a:pt x="3549" y="1"/>
                    <a:pt x="2894" y="501"/>
                    <a:pt x="2632" y="1168"/>
                  </a:cubicBezTo>
                  <a:cubicBezTo>
                    <a:pt x="2382" y="1037"/>
                    <a:pt x="2084" y="953"/>
                    <a:pt x="1787" y="953"/>
                  </a:cubicBezTo>
                  <a:cubicBezTo>
                    <a:pt x="810" y="953"/>
                    <a:pt x="1" y="1763"/>
                    <a:pt x="1" y="2739"/>
                  </a:cubicBezTo>
                  <a:cubicBezTo>
                    <a:pt x="1" y="3727"/>
                    <a:pt x="810" y="4525"/>
                    <a:pt x="1787" y="4525"/>
                  </a:cubicBezTo>
                  <a:cubicBezTo>
                    <a:pt x="2549" y="4525"/>
                    <a:pt x="3203" y="4049"/>
                    <a:pt x="3453" y="3370"/>
                  </a:cubicBezTo>
                  <a:cubicBezTo>
                    <a:pt x="3703" y="3501"/>
                    <a:pt x="3989" y="3573"/>
                    <a:pt x="4299" y="3573"/>
                  </a:cubicBezTo>
                  <a:cubicBezTo>
                    <a:pt x="4704" y="3573"/>
                    <a:pt x="5108" y="3442"/>
                    <a:pt x="5418" y="3192"/>
                  </a:cubicBezTo>
                  <a:cubicBezTo>
                    <a:pt x="5728" y="2942"/>
                    <a:pt x="5954" y="2596"/>
                    <a:pt x="6049" y="2203"/>
                  </a:cubicBezTo>
                  <a:cubicBezTo>
                    <a:pt x="6073" y="2108"/>
                    <a:pt x="6037" y="2013"/>
                    <a:pt x="5942" y="2001"/>
                  </a:cubicBezTo>
                  <a:cubicBezTo>
                    <a:pt x="5932" y="2000"/>
                    <a:pt x="5921" y="1999"/>
                    <a:pt x="5911" y="1999"/>
                  </a:cubicBezTo>
                  <a:cubicBezTo>
                    <a:pt x="5839" y="1999"/>
                    <a:pt x="5772" y="2037"/>
                    <a:pt x="5751" y="2120"/>
                  </a:cubicBezTo>
                  <a:cubicBezTo>
                    <a:pt x="5597" y="2787"/>
                    <a:pt x="5001" y="3251"/>
                    <a:pt x="4323" y="3251"/>
                  </a:cubicBezTo>
                  <a:cubicBezTo>
                    <a:pt x="3787" y="3251"/>
                    <a:pt x="3311" y="2965"/>
                    <a:pt x="3037" y="2501"/>
                  </a:cubicBezTo>
                  <a:cubicBezTo>
                    <a:pt x="3013" y="2358"/>
                    <a:pt x="2953" y="2203"/>
                    <a:pt x="2882" y="2084"/>
                  </a:cubicBezTo>
                  <a:cubicBezTo>
                    <a:pt x="2680" y="1180"/>
                    <a:pt x="3382" y="322"/>
                    <a:pt x="4311" y="322"/>
                  </a:cubicBezTo>
                  <a:cubicBezTo>
                    <a:pt x="4989" y="322"/>
                    <a:pt x="5585" y="775"/>
                    <a:pt x="5739" y="1453"/>
                  </a:cubicBezTo>
                  <a:cubicBezTo>
                    <a:pt x="5750" y="1528"/>
                    <a:pt x="5818" y="1574"/>
                    <a:pt x="5901" y="1574"/>
                  </a:cubicBezTo>
                  <a:cubicBezTo>
                    <a:pt x="5911" y="1574"/>
                    <a:pt x="5920" y="1574"/>
                    <a:pt x="5930" y="1572"/>
                  </a:cubicBezTo>
                  <a:cubicBezTo>
                    <a:pt x="6013" y="1549"/>
                    <a:pt x="6061" y="1465"/>
                    <a:pt x="6049" y="1370"/>
                  </a:cubicBezTo>
                  <a:cubicBezTo>
                    <a:pt x="5954" y="989"/>
                    <a:pt x="5739" y="644"/>
                    <a:pt x="5418" y="394"/>
                  </a:cubicBezTo>
                  <a:cubicBezTo>
                    <a:pt x="5108" y="144"/>
                    <a:pt x="4704" y="1"/>
                    <a:pt x="4299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740;p62">
              <a:extLst>
                <a:ext uri="{FF2B5EF4-FFF2-40B4-BE49-F238E27FC236}">
                  <a16:creationId xmlns:a16="http://schemas.microsoft.com/office/drawing/2014/main" id="{A69A45E0-FFFA-1A8C-F7FE-FE32627C670D}"/>
                </a:ext>
              </a:extLst>
            </p:cNvPr>
            <p:cNvSpPr/>
            <p:nvPr/>
          </p:nvSpPr>
          <p:spPr>
            <a:xfrm>
              <a:off x="6003760" y="3859946"/>
              <a:ext cx="26958" cy="47773"/>
            </a:xfrm>
            <a:custGeom>
              <a:avLst/>
              <a:gdLst/>
              <a:ahLst/>
              <a:cxnLst/>
              <a:rect l="l" t="t" r="r" b="b"/>
              <a:pathLst>
                <a:path w="847" h="1501" extrusionOk="0">
                  <a:moveTo>
                    <a:pt x="382" y="298"/>
                  </a:moveTo>
                  <a:lnTo>
                    <a:pt x="382" y="572"/>
                  </a:lnTo>
                  <a:cubicBezTo>
                    <a:pt x="287" y="536"/>
                    <a:pt x="239" y="501"/>
                    <a:pt x="239" y="429"/>
                  </a:cubicBezTo>
                  <a:cubicBezTo>
                    <a:pt x="239" y="358"/>
                    <a:pt x="310" y="310"/>
                    <a:pt x="382" y="298"/>
                  </a:cubicBezTo>
                  <a:close/>
                  <a:moveTo>
                    <a:pt x="489" y="870"/>
                  </a:moveTo>
                  <a:cubicBezTo>
                    <a:pt x="608" y="917"/>
                    <a:pt x="620" y="977"/>
                    <a:pt x="620" y="1037"/>
                  </a:cubicBezTo>
                  <a:cubicBezTo>
                    <a:pt x="620" y="1132"/>
                    <a:pt x="560" y="1167"/>
                    <a:pt x="489" y="1203"/>
                  </a:cubicBezTo>
                  <a:lnTo>
                    <a:pt x="489" y="870"/>
                  </a:lnTo>
                  <a:close/>
                  <a:moveTo>
                    <a:pt x="441" y="1"/>
                  </a:moveTo>
                  <a:cubicBezTo>
                    <a:pt x="418" y="1"/>
                    <a:pt x="382" y="13"/>
                    <a:pt x="382" y="36"/>
                  </a:cubicBezTo>
                  <a:lnTo>
                    <a:pt x="382" y="84"/>
                  </a:lnTo>
                  <a:cubicBezTo>
                    <a:pt x="156" y="120"/>
                    <a:pt x="25" y="239"/>
                    <a:pt x="25" y="441"/>
                  </a:cubicBezTo>
                  <a:cubicBezTo>
                    <a:pt x="25" y="679"/>
                    <a:pt x="203" y="739"/>
                    <a:pt x="382" y="810"/>
                  </a:cubicBezTo>
                  <a:lnTo>
                    <a:pt x="382" y="1191"/>
                  </a:lnTo>
                  <a:cubicBezTo>
                    <a:pt x="275" y="1167"/>
                    <a:pt x="239" y="1132"/>
                    <a:pt x="144" y="1072"/>
                  </a:cubicBezTo>
                  <a:cubicBezTo>
                    <a:pt x="125" y="1059"/>
                    <a:pt x="108" y="1053"/>
                    <a:pt x="92" y="1053"/>
                  </a:cubicBezTo>
                  <a:cubicBezTo>
                    <a:pt x="37" y="1053"/>
                    <a:pt x="1" y="1121"/>
                    <a:pt x="1" y="1167"/>
                  </a:cubicBezTo>
                  <a:cubicBezTo>
                    <a:pt x="1" y="1203"/>
                    <a:pt x="13" y="1227"/>
                    <a:pt x="25" y="1251"/>
                  </a:cubicBezTo>
                  <a:cubicBezTo>
                    <a:pt x="96" y="1346"/>
                    <a:pt x="251" y="1394"/>
                    <a:pt x="382" y="1394"/>
                  </a:cubicBezTo>
                  <a:lnTo>
                    <a:pt x="382" y="1453"/>
                  </a:lnTo>
                  <a:cubicBezTo>
                    <a:pt x="382" y="1489"/>
                    <a:pt x="418" y="1501"/>
                    <a:pt x="441" y="1501"/>
                  </a:cubicBezTo>
                  <a:cubicBezTo>
                    <a:pt x="477" y="1501"/>
                    <a:pt x="501" y="1489"/>
                    <a:pt x="501" y="1453"/>
                  </a:cubicBezTo>
                  <a:lnTo>
                    <a:pt x="501" y="1394"/>
                  </a:lnTo>
                  <a:cubicBezTo>
                    <a:pt x="703" y="1370"/>
                    <a:pt x="846" y="1251"/>
                    <a:pt x="846" y="1013"/>
                  </a:cubicBezTo>
                  <a:cubicBezTo>
                    <a:pt x="846" y="786"/>
                    <a:pt x="691" y="691"/>
                    <a:pt x="501" y="620"/>
                  </a:cubicBezTo>
                  <a:lnTo>
                    <a:pt x="501" y="298"/>
                  </a:lnTo>
                  <a:cubicBezTo>
                    <a:pt x="584" y="298"/>
                    <a:pt x="608" y="310"/>
                    <a:pt x="680" y="358"/>
                  </a:cubicBezTo>
                  <a:cubicBezTo>
                    <a:pt x="694" y="362"/>
                    <a:pt x="709" y="364"/>
                    <a:pt x="723" y="364"/>
                  </a:cubicBezTo>
                  <a:cubicBezTo>
                    <a:pt x="754" y="364"/>
                    <a:pt x="782" y="351"/>
                    <a:pt x="799" y="310"/>
                  </a:cubicBezTo>
                  <a:cubicBezTo>
                    <a:pt x="834" y="263"/>
                    <a:pt x="846" y="203"/>
                    <a:pt x="787" y="155"/>
                  </a:cubicBezTo>
                  <a:cubicBezTo>
                    <a:pt x="715" y="96"/>
                    <a:pt x="596" y="84"/>
                    <a:pt x="501" y="84"/>
                  </a:cubicBezTo>
                  <a:lnTo>
                    <a:pt x="501" y="36"/>
                  </a:lnTo>
                  <a:cubicBezTo>
                    <a:pt x="501" y="13"/>
                    <a:pt x="477" y="1"/>
                    <a:pt x="441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741;p62">
              <a:extLst>
                <a:ext uri="{FF2B5EF4-FFF2-40B4-BE49-F238E27FC236}">
                  <a16:creationId xmlns:a16="http://schemas.microsoft.com/office/drawing/2014/main" id="{0B5823C7-331B-730A-5801-81928F531CAB}"/>
                </a:ext>
              </a:extLst>
            </p:cNvPr>
            <p:cNvSpPr/>
            <p:nvPr/>
          </p:nvSpPr>
          <p:spPr>
            <a:xfrm>
              <a:off x="5778676" y="3939865"/>
              <a:ext cx="349052" cy="200163"/>
            </a:xfrm>
            <a:custGeom>
              <a:avLst/>
              <a:gdLst/>
              <a:ahLst/>
              <a:cxnLst/>
              <a:rect l="l" t="t" r="r" b="b"/>
              <a:pathLst>
                <a:path w="10967" h="6289" extrusionOk="0">
                  <a:moveTo>
                    <a:pt x="3483" y="1855"/>
                  </a:moveTo>
                  <a:cubicBezTo>
                    <a:pt x="3500" y="1855"/>
                    <a:pt x="3513" y="1868"/>
                    <a:pt x="3513" y="1895"/>
                  </a:cubicBezTo>
                  <a:cubicBezTo>
                    <a:pt x="3584" y="2074"/>
                    <a:pt x="4573" y="4693"/>
                    <a:pt x="4620" y="4776"/>
                  </a:cubicBezTo>
                  <a:cubicBezTo>
                    <a:pt x="4632" y="4788"/>
                    <a:pt x="4620" y="4824"/>
                    <a:pt x="4584" y="4824"/>
                  </a:cubicBezTo>
                  <a:lnTo>
                    <a:pt x="3882" y="5086"/>
                  </a:lnTo>
                  <a:cubicBezTo>
                    <a:pt x="3846" y="4955"/>
                    <a:pt x="2846" y="2300"/>
                    <a:pt x="2775" y="2133"/>
                  </a:cubicBezTo>
                  <a:lnTo>
                    <a:pt x="3465" y="1859"/>
                  </a:lnTo>
                  <a:cubicBezTo>
                    <a:pt x="3471" y="1856"/>
                    <a:pt x="3477" y="1855"/>
                    <a:pt x="3483" y="1855"/>
                  </a:cubicBezTo>
                  <a:close/>
                  <a:moveTo>
                    <a:pt x="2477" y="2228"/>
                  </a:moveTo>
                  <a:lnTo>
                    <a:pt x="3584" y="5193"/>
                  </a:lnTo>
                  <a:cubicBezTo>
                    <a:pt x="3072" y="5407"/>
                    <a:pt x="1739" y="5907"/>
                    <a:pt x="1513" y="6003"/>
                  </a:cubicBezTo>
                  <a:cubicBezTo>
                    <a:pt x="1507" y="6005"/>
                    <a:pt x="1500" y="6007"/>
                    <a:pt x="1493" y="6007"/>
                  </a:cubicBezTo>
                  <a:cubicBezTo>
                    <a:pt x="1468" y="6007"/>
                    <a:pt x="1438" y="5991"/>
                    <a:pt x="1429" y="5955"/>
                  </a:cubicBezTo>
                  <a:lnTo>
                    <a:pt x="358" y="3109"/>
                  </a:lnTo>
                  <a:cubicBezTo>
                    <a:pt x="346" y="3086"/>
                    <a:pt x="358" y="3038"/>
                    <a:pt x="405" y="3026"/>
                  </a:cubicBezTo>
                  <a:cubicBezTo>
                    <a:pt x="1072" y="2764"/>
                    <a:pt x="2013" y="2407"/>
                    <a:pt x="2477" y="2228"/>
                  </a:cubicBezTo>
                  <a:close/>
                  <a:moveTo>
                    <a:pt x="10060" y="0"/>
                  </a:moveTo>
                  <a:cubicBezTo>
                    <a:pt x="9818" y="0"/>
                    <a:pt x="9583" y="125"/>
                    <a:pt x="9407" y="288"/>
                  </a:cubicBezTo>
                  <a:lnTo>
                    <a:pt x="7728" y="1681"/>
                  </a:lnTo>
                  <a:cubicBezTo>
                    <a:pt x="7632" y="1478"/>
                    <a:pt x="7430" y="1264"/>
                    <a:pt x="7061" y="1264"/>
                  </a:cubicBezTo>
                  <a:cubicBezTo>
                    <a:pt x="6668" y="1264"/>
                    <a:pt x="6361" y="1262"/>
                    <a:pt x="6115" y="1262"/>
                  </a:cubicBezTo>
                  <a:cubicBezTo>
                    <a:pt x="5377" y="1262"/>
                    <a:pt x="5192" y="1276"/>
                    <a:pt x="4906" y="1383"/>
                  </a:cubicBezTo>
                  <a:lnTo>
                    <a:pt x="3834" y="1835"/>
                  </a:lnTo>
                  <a:lnTo>
                    <a:pt x="3822" y="1788"/>
                  </a:lnTo>
                  <a:cubicBezTo>
                    <a:pt x="3766" y="1647"/>
                    <a:pt x="3637" y="1551"/>
                    <a:pt x="3491" y="1551"/>
                  </a:cubicBezTo>
                  <a:cubicBezTo>
                    <a:pt x="3451" y="1551"/>
                    <a:pt x="3411" y="1558"/>
                    <a:pt x="3370" y="1574"/>
                  </a:cubicBezTo>
                  <a:lnTo>
                    <a:pt x="2560" y="1871"/>
                  </a:lnTo>
                  <a:cubicBezTo>
                    <a:pt x="2203" y="2014"/>
                    <a:pt x="1084" y="2431"/>
                    <a:pt x="298" y="2728"/>
                  </a:cubicBezTo>
                  <a:cubicBezTo>
                    <a:pt x="108" y="2800"/>
                    <a:pt x="1" y="3026"/>
                    <a:pt x="72" y="3217"/>
                  </a:cubicBezTo>
                  <a:lnTo>
                    <a:pt x="1144" y="6038"/>
                  </a:lnTo>
                  <a:cubicBezTo>
                    <a:pt x="1199" y="6196"/>
                    <a:pt x="1348" y="6288"/>
                    <a:pt x="1501" y="6288"/>
                  </a:cubicBezTo>
                  <a:cubicBezTo>
                    <a:pt x="1545" y="6288"/>
                    <a:pt x="1589" y="6281"/>
                    <a:pt x="1632" y="6265"/>
                  </a:cubicBezTo>
                  <a:cubicBezTo>
                    <a:pt x="1870" y="6181"/>
                    <a:pt x="3501" y="5562"/>
                    <a:pt x="3858" y="5431"/>
                  </a:cubicBezTo>
                  <a:lnTo>
                    <a:pt x="4704" y="5122"/>
                  </a:lnTo>
                  <a:cubicBezTo>
                    <a:pt x="4882" y="5050"/>
                    <a:pt x="4989" y="4848"/>
                    <a:pt x="4918" y="4657"/>
                  </a:cubicBezTo>
                  <a:lnTo>
                    <a:pt x="4894" y="4622"/>
                  </a:lnTo>
                  <a:cubicBezTo>
                    <a:pt x="5454" y="4383"/>
                    <a:pt x="5466" y="4360"/>
                    <a:pt x="6049" y="4360"/>
                  </a:cubicBezTo>
                  <a:cubicBezTo>
                    <a:pt x="6132" y="4360"/>
                    <a:pt x="6204" y="4288"/>
                    <a:pt x="6204" y="4193"/>
                  </a:cubicBezTo>
                  <a:cubicBezTo>
                    <a:pt x="6204" y="4110"/>
                    <a:pt x="6132" y="4026"/>
                    <a:pt x="6049" y="4026"/>
                  </a:cubicBezTo>
                  <a:cubicBezTo>
                    <a:pt x="5418" y="4026"/>
                    <a:pt x="5358" y="4074"/>
                    <a:pt x="4799" y="4312"/>
                  </a:cubicBezTo>
                  <a:lnTo>
                    <a:pt x="3965" y="2097"/>
                  </a:lnTo>
                  <a:lnTo>
                    <a:pt x="5037" y="1645"/>
                  </a:lnTo>
                  <a:cubicBezTo>
                    <a:pt x="5251" y="1571"/>
                    <a:pt x="5403" y="1559"/>
                    <a:pt x="5989" y="1559"/>
                  </a:cubicBezTo>
                  <a:cubicBezTo>
                    <a:pt x="6250" y="1559"/>
                    <a:pt x="6597" y="1562"/>
                    <a:pt x="7073" y="1562"/>
                  </a:cubicBezTo>
                  <a:cubicBezTo>
                    <a:pt x="7240" y="1562"/>
                    <a:pt x="7359" y="1621"/>
                    <a:pt x="7430" y="1740"/>
                  </a:cubicBezTo>
                  <a:cubicBezTo>
                    <a:pt x="7478" y="1835"/>
                    <a:pt x="7490" y="1919"/>
                    <a:pt x="7502" y="1931"/>
                  </a:cubicBezTo>
                  <a:cubicBezTo>
                    <a:pt x="7502" y="1990"/>
                    <a:pt x="7454" y="2276"/>
                    <a:pt x="7180" y="2336"/>
                  </a:cubicBezTo>
                  <a:cubicBezTo>
                    <a:pt x="6740" y="2407"/>
                    <a:pt x="5823" y="2538"/>
                    <a:pt x="5811" y="2538"/>
                  </a:cubicBezTo>
                  <a:cubicBezTo>
                    <a:pt x="5716" y="2562"/>
                    <a:pt x="5656" y="2633"/>
                    <a:pt x="5668" y="2728"/>
                  </a:cubicBezTo>
                  <a:cubicBezTo>
                    <a:pt x="5692" y="2800"/>
                    <a:pt x="5751" y="2859"/>
                    <a:pt x="5823" y="2859"/>
                  </a:cubicBezTo>
                  <a:lnTo>
                    <a:pt x="5847" y="2859"/>
                  </a:lnTo>
                  <a:cubicBezTo>
                    <a:pt x="5870" y="2859"/>
                    <a:pt x="6787" y="2728"/>
                    <a:pt x="7240" y="2645"/>
                  </a:cubicBezTo>
                  <a:cubicBezTo>
                    <a:pt x="7632" y="2574"/>
                    <a:pt x="7787" y="2240"/>
                    <a:pt x="7811" y="2026"/>
                  </a:cubicBezTo>
                  <a:lnTo>
                    <a:pt x="9633" y="514"/>
                  </a:lnTo>
                  <a:cubicBezTo>
                    <a:pt x="9747" y="415"/>
                    <a:pt x="9895" y="311"/>
                    <a:pt x="10058" y="311"/>
                  </a:cubicBezTo>
                  <a:cubicBezTo>
                    <a:pt x="10151" y="311"/>
                    <a:pt x="10248" y="344"/>
                    <a:pt x="10347" y="431"/>
                  </a:cubicBezTo>
                  <a:cubicBezTo>
                    <a:pt x="10645" y="728"/>
                    <a:pt x="10371" y="1073"/>
                    <a:pt x="10299" y="1145"/>
                  </a:cubicBezTo>
                  <a:cubicBezTo>
                    <a:pt x="10228" y="1216"/>
                    <a:pt x="8013" y="3609"/>
                    <a:pt x="8013" y="3609"/>
                  </a:cubicBezTo>
                  <a:cubicBezTo>
                    <a:pt x="7680" y="3990"/>
                    <a:pt x="7251" y="4050"/>
                    <a:pt x="7073" y="4062"/>
                  </a:cubicBezTo>
                  <a:lnTo>
                    <a:pt x="6787" y="4062"/>
                  </a:lnTo>
                  <a:cubicBezTo>
                    <a:pt x="6704" y="4062"/>
                    <a:pt x="6620" y="4133"/>
                    <a:pt x="6620" y="4229"/>
                  </a:cubicBezTo>
                  <a:cubicBezTo>
                    <a:pt x="6620" y="4312"/>
                    <a:pt x="6704" y="4383"/>
                    <a:pt x="6787" y="4383"/>
                  </a:cubicBezTo>
                  <a:lnTo>
                    <a:pt x="7097" y="4383"/>
                  </a:lnTo>
                  <a:cubicBezTo>
                    <a:pt x="7311" y="4371"/>
                    <a:pt x="7859" y="4300"/>
                    <a:pt x="8264" y="3836"/>
                  </a:cubicBezTo>
                  <a:lnTo>
                    <a:pt x="10550" y="1371"/>
                  </a:lnTo>
                  <a:cubicBezTo>
                    <a:pt x="10728" y="1121"/>
                    <a:pt x="10966" y="621"/>
                    <a:pt x="10550" y="204"/>
                  </a:cubicBezTo>
                  <a:cubicBezTo>
                    <a:pt x="10395" y="59"/>
                    <a:pt x="10226" y="0"/>
                    <a:pt x="10060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8840;p61">
            <a:extLst>
              <a:ext uri="{FF2B5EF4-FFF2-40B4-BE49-F238E27FC236}">
                <a16:creationId xmlns:a16="http://schemas.microsoft.com/office/drawing/2014/main" id="{3AB73C61-2092-CABF-6099-FCAEE939B4EB}"/>
              </a:ext>
            </a:extLst>
          </p:cNvPr>
          <p:cNvGrpSpPr/>
          <p:nvPr/>
        </p:nvGrpSpPr>
        <p:grpSpPr>
          <a:xfrm>
            <a:off x="2951090" y="2987840"/>
            <a:ext cx="1070469" cy="1164538"/>
            <a:chOff x="852385" y="1510916"/>
            <a:chExt cx="353145" cy="351998"/>
          </a:xfrm>
          <a:solidFill>
            <a:srgbClr val="1C60A9"/>
          </a:solidFill>
        </p:grpSpPr>
        <p:sp>
          <p:nvSpPr>
            <p:cNvPr id="47" name="Google Shape;8841;p61">
              <a:extLst>
                <a:ext uri="{FF2B5EF4-FFF2-40B4-BE49-F238E27FC236}">
                  <a16:creationId xmlns:a16="http://schemas.microsoft.com/office/drawing/2014/main" id="{399BFD79-D546-2AA3-BD74-8C4F7EB84765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8842;p61">
              <a:extLst>
                <a:ext uri="{FF2B5EF4-FFF2-40B4-BE49-F238E27FC236}">
                  <a16:creationId xmlns:a16="http://schemas.microsoft.com/office/drawing/2014/main" id="{8A34ABFA-0AF5-2732-E6EF-4DCCBA8833E7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8843;p61">
              <a:extLst>
                <a:ext uri="{FF2B5EF4-FFF2-40B4-BE49-F238E27FC236}">
                  <a16:creationId xmlns:a16="http://schemas.microsoft.com/office/drawing/2014/main" id="{1079EC86-A04B-E2A6-028C-3A15E7474EF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8363;p60">
            <a:extLst>
              <a:ext uri="{FF2B5EF4-FFF2-40B4-BE49-F238E27FC236}">
                <a16:creationId xmlns:a16="http://schemas.microsoft.com/office/drawing/2014/main" id="{08C790DD-D246-811B-B409-289DD4191A21}"/>
              </a:ext>
            </a:extLst>
          </p:cNvPr>
          <p:cNvGrpSpPr/>
          <p:nvPr/>
        </p:nvGrpSpPr>
        <p:grpSpPr>
          <a:xfrm>
            <a:off x="4216952" y="2797155"/>
            <a:ext cx="1101394" cy="992715"/>
            <a:chOff x="1404617" y="3226962"/>
            <a:chExt cx="370169" cy="325966"/>
          </a:xfrm>
          <a:solidFill>
            <a:srgbClr val="1C60A9"/>
          </a:solidFill>
        </p:grpSpPr>
        <p:sp>
          <p:nvSpPr>
            <p:cNvPr id="51" name="Google Shape;8364;p60">
              <a:extLst>
                <a:ext uri="{FF2B5EF4-FFF2-40B4-BE49-F238E27FC236}">
                  <a16:creationId xmlns:a16="http://schemas.microsoft.com/office/drawing/2014/main" id="{D86ACDC4-90AF-0AD7-6C9A-7FF586499A0B}"/>
                </a:ext>
              </a:extLst>
            </p:cNvPr>
            <p:cNvSpPr/>
            <p:nvPr/>
          </p:nvSpPr>
          <p:spPr>
            <a:xfrm>
              <a:off x="1535067" y="3226962"/>
              <a:ext cx="12130" cy="37090"/>
            </a:xfrm>
            <a:custGeom>
              <a:avLst/>
              <a:gdLst/>
              <a:ahLst/>
              <a:cxnLst/>
              <a:rect l="l" t="t" r="r" b="b"/>
              <a:pathLst>
                <a:path w="382" h="1168" extrusionOk="0">
                  <a:moveTo>
                    <a:pt x="191" y="1"/>
                  </a:moveTo>
                  <a:cubicBezTo>
                    <a:pt x="84" y="1"/>
                    <a:pt x="0" y="84"/>
                    <a:pt x="0" y="191"/>
                  </a:cubicBezTo>
                  <a:lnTo>
                    <a:pt x="0" y="977"/>
                  </a:lnTo>
                  <a:cubicBezTo>
                    <a:pt x="0" y="1084"/>
                    <a:pt x="84" y="1168"/>
                    <a:pt x="191" y="1168"/>
                  </a:cubicBezTo>
                  <a:cubicBezTo>
                    <a:pt x="298" y="1168"/>
                    <a:pt x="381" y="1084"/>
                    <a:pt x="381" y="977"/>
                  </a:cubicBezTo>
                  <a:lnTo>
                    <a:pt x="381" y="191"/>
                  </a:lnTo>
                  <a:cubicBezTo>
                    <a:pt x="381" y="84"/>
                    <a:pt x="298" y="1"/>
                    <a:pt x="191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8365;p60">
              <a:extLst>
                <a:ext uri="{FF2B5EF4-FFF2-40B4-BE49-F238E27FC236}">
                  <a16:creationId xmlns:a16="http://schemas.microsoft.com/office/drawing/2014/main" id="{493B878A-2DEA-5D36-EADA-0C8779BC6EF1}"/>
                </a:ext>
              </a:extLst>
            </p:cNvPr>
            <p:cNvSpPr/>
            <p:nvPr/>
          </p:nvSpPr>
          <p:spPr>
            <a:xfrm>
              <a:off x="1472287" y="3243221"/>
              <a:ext cx="25753" cy="34073"/>
            </a:xfrm>
            <a:custGeom>
              <a:avLst/>
              <a:gdLst/>
              <a:ahLst/>
              <a:cxnLst/>
              <a:rect l="l" t="t" r="r" b="b"/>
              <a:pathLst>
                <a:path w="811" h="1073" extrusionOk="0">
                  <a:moveTo>
                    <a:pt x="217" y="1"/>
                  </a:moveTo>
                  <a:cubicBezTo>
                    <a:pt x="185" y="1"/>
                    <a:pt x="152" y="9"/>
                    <a:pt x="120" y="25"/>
                  </a:cubicBezTo>
                  <a:cubicBezTo>
                    <a:pt x="25" y="72"/>
                    <a:pt x="1" y="179"/>
                    <a:pt x="37" y="287"/>
                  </a:cubicBezTo>
                  <a:lnTo>
                    <a:pt x="442" y="989"/>
                  </a:lnTo>
                  <a:cubicBezTo>
                    <a:pt x="477" y="1049"/>
                    <a:pt x="549" y="1072"/>
                    <a:pt x="608" y="1072"/>
                  </a:cubicBezTo>
                  <a:cubicBezTo>
                    <a:pt x="632" y="1072"/>
                    <a:pt x="668" y="1061"/>
                    <a:pt x="692" y="1049"/>
                  </a:cubicBezTo>
                  <a:cubicBezTo>
                    <a:pt x="787" y="989"/>
                    <a:pt x="811" y="882"/>
                    <a:pt x="775" y="775"/>
                  </a:cubicBezTo>
                  <a:lnTo>
                    <a:pt x="382" y="96"/>
                  </a:lnTo>
                  <a:cubicBezTo>
                    <a:pt x="342" y="33"/>
                    <a:pt x="281" y="1"/>
                    <a:pt x="217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366;p60">
              <a:extLst>
                <a:ext uri="{FF2B5EF4-FFF2-40B4-BE49-F238E27FC236}">
                  <a16:creationId xmlns:a16="http://schemas.microsoft.com/office/drawing/2014/main" id="{06941634-E354-CE20-7FD9-0E01FA956C69}"/>
                </a:ext>
              </a:extLst>
            </p:cNvPr>
            <p:cNvSpPr/>
            <p:nvPr/>
          </p:nvSpPr>
          <p:spPr>
            <a:xfrm>
              <a:off x="1426179" y="3289266"/>
              <a:ext cx="35947" cy="24705"/>
            </a:xfrm>
            <a:custGeom>
              <a:avLst/>
              <a:gdLst/>
              <a:ahLst/>
              <a:cxnLst/>
              <a:rect l="l" t="t" r="r" b="b"/>
              <a:pathLst>
                <a:path w="1132" h="778" extrusionOk="0">
                  <a:moveTo>
                    <a:pt x="229" y="1"/>
                  </a:moveTo>
                  <a:cubicBezTo>
                    <a:pt x="159" y="1"/>
                    <a:pt x="89" y="41"/>
                    <a:pt x="48" y="99"/>
                  </a:cubicBezTo>
                  <a:cubicBezTo>
                    <a:pt x="0" y="194"/>
                    <a:pt x="36" y="301"/>
                    <a:pt x="143" y="361"/>
                  </a:cubicBezTo>
                  <a:lnTo>
                    <a:pt x="822" y="742"/>
                  </a:lnTo>
                  <a:cubicBezTo>
                    <a:pt x="858" y="754"/>
                    <a:pt x="881" y="777"/>
                    <a:pt x="917" y="777"/>
                  </a:cubicBezTo>
                  <a:cubicBezTo>
                    <a:pt x="977" y="777"/>
                    <a:pt x="1048" y="742"/>
                    <a:pt x="1072" y="682"/>
                  </a:cubicBezTo>
                  <a:cubicBezTo>
                    <a:pt x="1132" y="599"/>
                    <a:pt x="1096" y="480"/>
                    <a:pt x="1001" y="420"/>
                  </a:cubicBezTo>
                  <a:lnTo>
                    <a:pt x="322" y="27"/>
                  </a:lnTo>
                  <a:cubicBezTo>
                    <a:pt x="292" y="9"/>
                    <a:pt x="261" y="1"/>
                    <a:pt x="229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367;p60">
              <a:extLst>
                <a:ext uri="{FF2B5EF4-FFF2-40B4-BE49-F238E27FC236}">
                  <a16:creationId xmlns:a16="http://schemas.microsoft.com/office/drawing/2014/main" id="{D3E03EE8-C931-F5EE-BC44-9B7DD7F55425}"/>
                </a:ext>
              </a:extLst>
            </p:cNvPr>
            <p:cNvSpPr/>
            <p:nvPr/>
          </p:nvSpPr>
          <p:spPr>
            <a:xfrm>
              <a:off x="1410682" y="3350997"/>
              <a:ext cx="37439" cy="12511"/>
            </a:xfrm>
            <a:custGeom>
              <a:avLst/>
              <a:gdLst/>
              <a:ahLst/>
              <a:cxnLst/>
              <a:rect l="l" t="t" r="r" b="b"/>
              <a:pathLst>
                <a:path w="1179" h="394" extrusionOk="0">
                  <a:moveTo>
                    <a:pt x="191" y="0"/>
                  </a:moveTo>
                  <a:cubicBezTo>
                    <a:pt x="96" y="0"/>
                    <a:pt x="0" y="95"/>
                    <a:pt x="0" y="203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988" y="393"/>
                  </a:lnTo>
                  <a:cubicBezTo>
                    <a:pt x="1084" y="393"/>
                    <a:pt x="1179" y="298"/>
                    <a:pt x="1179" y="203"/>
                  </a:cubicBezTo>
                  <a:cubicBezTo>
                    <a:pt x="1179" y="95"/>
                    <a:pt x="1084" y="0"/>
                    <a:pt x="988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368;p60">
              <a:extLst>
                <a:ext uri="{FF2B5EF4-FFF2-40B4-BE49-F238E27FC236}">
                  <a16:creationId xmlns:a16="http://schemas.microsoft.com/office/drawing/2014/main" id="{9DBB00E3-E4B9-44B6-B4C9-D6B2D8822E6D}"/>
                </a:ext>
              </a:extLst>
            </p:cNvPr>
            <p:cNvSpPr/>
            <p:nvPr/>
          </p:nvSpPr>
          <p:spPr>
            <a:xfrm>
              <a:off x="1426179" y="3400980"/>
              <a:ext cx="35566" cy="24896"/>
            </a:xfrm>
            <a:custGeom>
              <a:avLst/>
              <a:gdLst/>
              <a:ahLst/>
              <a:cxnLst/>
              <a:rect l="l" t="t" r="r" b="b"/>
              <a:pathLst>
                <a:path w="1120" h="784" extrusionOk="0">
                  <a:moveTo>
                    <a:pt x="904" y="0"/>
                  </a:moveTo>
                  <a:cubicBezTo>
                    <a:pt x="874" y="0"/>
                    <a:pt x="843" y="7"/>
                    <a:pt x="810" y="22"/>
                  </a:cubicBezTo>
                  <a:lnTo>
                    <a:pt x="119" y="414"/>
                  </a:lnTo>
                  <a:cubicBezTo>
                    <a:pt x="36" y="486"/>
                    <a:pt x="0" y="593"/>
                    <a:pt x="60" y="688"/>
                  </a:cubicBezTo>
                  <a:cubicBezTo>
                    <a:pt x="96" y="748"/>
                    <a:pt x="167" y="784"/>
                    <a:pt x="227" y="784"/>
                  </a:cubicBezTo>
                  <a:cubicBezTo>
                    <a:pt x="262" y="784"/>
                    <a:pt x="286" y="760"/>
                    <a:pt x="322" y="748"/>
                  </a:cubicBezTo>
                  <a:lnTo>
                    <a:pt x="1001" y="367"/>
                  </a:lnTo>
                  <a:cubicBezTo>
                    <a:pt x="1096" y="307"/>
                    <a:pt x="1120" y="200"/>
                    <a:pt x="1072" y="93"/>
                  </a:cubicBezTo>
                  <a:cubicBezTo>
                    <a:pt x="1031" y="35"/>
                    <a:pt x="972" y="0"/>
                    <a:pt x="904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369;p60">
              <a:extLst>
                <a:ext uri="{FF2B5EF4-FFF2-40B4-BE49-F238E27FC236}">
                  <a16:creationId xmlns:a16="http://schemas.microsoft.com/office/drawing/2014/main" id="{F825EBAD-5929-5143-1479-00BF3DFB93A2}"/>
                </a:ext>
              </a:extLst>
            </p:cNvPr>
            <p:cNvSpPr/>
            <p:nvPr/>
          </p:nvSpPr>
          <p:spPr>
            <a:xfrm>
              <a:off x="1620138" y="3289043"/>
              <a:ext cx="35566" cy="24928"/>
            </a:xfrm>
            <a:custGeom>
              <a:avLst/>
              <a:gdLst/>
              <a:ahLst/>
              <a:cxnLst/>
              <a:rect l="l" t="t" r="r" b="b"/>
              <a:pathLst>
                <a:path w="1120" h="785" extrusionOk="0">
                  <a:moveTo>
                    <a:pt x="895" y="1"/>
                  </a:moveTo>
                  <a:cubicBezTo>
                    <a:pt x="864" y="1"/>
                    <a:pt x="831" y="8"/>
                    <a:pt x="798" y="22"/>
                  </a:cubicBezTo>
                  <a:lnTo>
                    <a:pt x="119" y="403"/>
                  </a:lnTo>
                  <a:cubicBezTo>
                    <a:pt x="24" y="463"/>
                    <a:pt x="0" y="570"/>
                    <a:pt x="48" y="677"/>
                  </a:cubicBezTo>
                  <a:cubicBezTo>
                    <a:pt x="107" y="749"/>
                    <a:pt x="167" y="784"/>
                    <a:pt x="227" y="784"/>
                  </a:cubicBezTo>
                  <a:cubicBezTo>
                    <a:pt x="250" y="784"/>
                    <a:pt x="286" y="761"/>
                    <a:pt x="310" y="749"/>
                  </a:cubicBezTo>
                  <a:lnTo>
                    <a:pt x="1000" y="368"/>
                  </a:lnTo>
                  <a:cubicBezTo>
                    <a:pt x="1084" y="308"/>
                    <a:pt x="1120" y="201"/>
                    <a:pt x="1072" y="94"/>
                  </a:cubicBezTo>
                  <a:cubicBezTo>
                    <a:pt x="1031" y="36"/>
                    <a:pt x="966" y="1"/>
                    <a:pt x="895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8370;p60">
              <a:extLst>
                <a:ext uri="{FF2B5EF4-FFF2-40B4-BE49-F238E27FC236}">
                  <a16:creationId xmlns:a16="http://schemas.microsoft.com/office/drawing/2014/main" id="{C6168B47-3E9D-B09F-2CDD-9DFD75B7B7D6}"/>
                </a:ext>
              </a:extLst>
            </p:cNvPr>
            <p:cNvSpPr/>
            <p:nvPr/>
          </p:nvSpPr>
          <p:spPr>
            <a:xfrm>
              <a:off x="1584224" y="3243507"/>
              <a:ext cx="26103" cy="33787"/>
            </a:xfrm>
            <a:custGeom>
              <a:avLst/>
              <a:gdLst/>
              <a:ahLst/>
              <a:cxnLst/>
              <a:rect l="l" t="t" r="r" b="b"/>
              <a:pathLst>
                <a:path w="822" h="1064" extrusionOk="0">
                  <a:moveTo>
                    <a:pt x="594" y="1"/>
                  </a:moveTo>
                  <a:cubicBezTo>
                    <a:pt x="527" y="1"/>
                    <a:pt x="458" y="41"/>
                    <a:pt x="417" y="99"/>
                  </a:cubicBezTo>
                  <a:lnTo>
                    <a:pt x="24" y="790"/>
                  </a:lnTo>
                  <a:cubicBezTo>
                    <a:pt x="0" y="873"/>
                    <a:pt x="24" y="992"/>
                    <a:pt x="119" y="1040"/>
                  </a:cubicBezTo>
                  <a:cubicBezTo>
                    <a:pt x="143" y="1052"/>
                    <a:pt x="179" y="1063"/>
                    <a:pt x="203" y="1063"/>
                  </a:cubicBezTo>
                  <a:cubicBezTo>
                    <a:pt x="262" y="1063"/>
                    <a:pt x="346" y="1040"/>
                    <a:pt x="369" y="980"/>
                  </a:cubicBezTo>
                  <a:lnTo>
                    <a:pt x="762" y="290"/>
                  </a:lnTo>
                  <a:cubicBezTo>
                    <a:pt x="822" y="206"/>
                    <a:pt x="774" y="87"/>
                    <a:pt x="679" y="28"/>
                  </a:cubicBezTo>
                  <a:cubicBezTo>
                    <a:pt x="653" y="9"/>
                    <a:pt x="624" y="1"/>
                    <a:pt x="594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8371;p60">
              <a:extLst>
                <a:ext uri="{FF2B5EF4-FFF2-40B4-BE49-F238E27FC236}">
                  <a16:creationId xmlns:a16="http://schemas.microsoft.com/office/drawing/2014/main" id="{B4F498FA-4576-BFBC-72A0-44938D5D54AB}"/>
                </a:ext>
              </a:extLst>
            </p:cNvPr>
            <p:cNvSpPr/>
            <p:nvPr/>
          </p:nvSpPr>
          <p:spPr>
            <a:xfrm>
              <a:off x="1404617" y="3271197"/>
              <a:ext cx="285859" cy="281349"/>
            </a:xfrm>
            <a:custGeom>
              <a:avLst/>
              <a:gdLst/>
              <a:ahLst/>
              <a:cxnLst/>
              <a:rect l="l" t="t" r="r" b="b"/>
              <a:pathLst>
                <a:path w="9002" h="8860" extrusionOk="0">
                  <a:moveTo>
                    <a:pt x="4525" y="1013"/>
                  </a:moveTo>
                  <a:lnTo>
                    <a:pt x="4573" y="1025"/>
                  </a:lnTo>
                  <a:lnTo>
                    <a:pt x="4704" y="1025"/>
                  </a:lnTo>
                  <a:lnTo>
                    <a:pt x="4787" y="1061"/>
                  </a:lnTo>
                  <a:lnTo>
                    <a:pt x="4811" y="1061"/>
                  </a:lnTo>
                  <a:lnTo>
                    <a:pt x="4823" y="1072"/>
                  </a:lnTo>
                  <a:cubicBezTo>
                    <a:pt x="4835" y="1072"/>
                    <a:pt x="4835" y="1084"/>
                    <a:pt x="4847" y="1084"/>
                  </a:cubicBezTo>
                  <a:cubicBezTo>
                    <a:pt x="4847" y="1084"/>
                    <a:pt x="4870" y="1084"/>
                    <a:pt x="4870" y="1096"/>
                  </a:cubicBezTo>
                  <a:lnTo>
                    <a:pt x="4942" y="1132"/>
                  </a:lnTo>
                  <a:lnTo>
                    <a:pt x="4954" y="1132"/>
                  </a:lnTo>
                  <a:lnTo>
                    <a:pt x="4989" y="1144"/>
                  </a:lnTo>
                  <a:cubicBezTo>
                    <a:pt x="4989" y="1144"/>
                    <a:pt x="5001" y="1144"/>
                    <a:pt x="5001" y="1156"/>
                  </a:cubicBezTo>
                  <a:cubicBezTo>
                    <a:pt x="5001" y="1156"/>
                    <a:pt x="5013" y="1156"/>
                    <a:pt x="5013" y="1180"/>
                  </a:cubicBezTo>
                  <a:lnTo>
                    <a:pt x="5049" y="1192"/>
                  </a:lnTo>
                  <a:cubicBezTo>
                    <a:pt x="5049" y="1192"/>
                    <a:pt x="5061" y="1192"/>
                    <a:pt x="5061" y="1203"/>
                  </a:cubicBezTo>
                  <a:cubicBezTo>
                    <a:pt x="5061" y="1203"/>
                    <a:pt x="5073" y="1203"/>
                    <a:pt x="5073" y="1215"/>
                  </a:cubicBezTo>
                  <a:lnTo>
                    <a:pt x="5085" y="1239"/>
                  </a:lnTo>
                  <a:cubicBezTo>
                    <a:pt x="5085" y="1239"/>
                    <a:pt x="5109" y="1239"/>
                    <a:pt x="5109" y="1251"/>
                  </a:cubicBezTo>
                  <a:cubicBezTo>
                    <a:pt x="5109" y="1251"/>
                    <a:pt x="5120" y="1251"/>
                    <a:pt x="5120" y="1263"/>
                  </a:cubicBezTo>
                  <a:cubicBezTo>
                    <a:pt x="5120" y="1263"/>
                    <a:pt x="5132" y="1263"/>
                    <a:pt x="5132" y="1275"/>
                  </a:cubicBezTo>
                  <a:lnTo>
                    <a:pt x="5144" y="1299"/>
                  </a:lnTo>
                  <a:cubicBezTo>
                    <a:pt x="5144" y="1299"/>
                    <a:pt x="5168" y="1299"/>
                    <a:pt x="5168" y="1311"/>
                  </a:cubicBezTo>
                  <a:lnTo>
                    <a:pt x="5263" y="1394"/>
                  </a:lnTo>
                  <a:lnTo>
                    <a:pt x="5299" y="1430"/>
                  </a:lnTo>
                  <a:cubicBezTo>
                    <a:pt x="5382" y="1501"/>
                    <a:pt x="5466" y="1596"/>
                    <a:pt x="5537" y="1680"/>
                  </a:cubicBezTo>
                  <a:cubicBezTo>
                    <a:pt x="5561" y="1715"/>
                    <a:pt x="5585" y="1739"/>
                    <a:pt x="5597" y="1787"/>
                  </a:cubicBezTo>
                  <a:lnTo>
                    <a:pt x="5597" y="1799"/>
                  </a:lnTo>
                  <a:cubicBezTo>
                    <a:pt x="5609" y="1834"/>
                    <a:pt x="5644" y="1858"/>
                    <a:pt x="5656" y="1894"/>
                  </a:cubicBezTo>
                  <a:lnTo>
                    <a:pt x="5656" y="1906"/>
                  </a:lnTo>
                  <a:cubicBezTo>
                    <a:pt x="5668" y="1930"/>
                    <a:pt x="5680" y="1965"/>
                    <a:pt x="5704" y="2013"/>
                  </a:cubicBezTo>
                  <a:lnTo>
                    <a:pt x="5704" y="2025"/>
                  </a:lnTo>
                  <a:cubicBezTo>
                    <a:pt x="5716" y="2049"/>
                    <a:pt x="5728" y="2096"/>
                    <a:pt x="5740" y="2132"/>
                  </a:cubicBezTo>
                  <a:lnTo>
                    <a:pt x="5740" y="2144"/>
                  </a:lnTo>
                  <a:cubicBezTo>
                    <a:pt x="5763" y="2168"/>
                    <a:pt x="5775" y="2215"/>
                    <a:pt x="5775" y="2251"/>
                  </a:cubicBezTo>
                  <a:lnTo>
                    <a:pt x="5775" y="2263"/>
                  </a:lnTo>
                  <a:cubicBezTo>
                    <a:pt x="5787" y="2287"/>
                    <a:pt x="5787" y="2335"/>
                    <a:pt x="5799" y="2382"/>
                  </a:cubicBezTo>
                  <a:lnTo>
                    <a:pt x="5799" y="2394"/>
                  </a:lnTo>
                  <a:cubicBezTo>
                    <a:pt x="5799" y="2442"/>
                    <a:pt x="5823" y="2466"/>
                    <a:pt x="5823" y="2513"/>
                  </a:cubicBezTo>
                  <a:lnTo>
                    <a:pt x="5823" y="2525"/>
                  </a:lnTo>
                  <a:lnTo>
                    <a:pt x="5823" y="2549"/>
                  </a:lnTo>
                  <a:cubicBezTo>
                    <a:pt x="5728" y="2620"/>
                    <a:pt x="5466" y="2739"/>
                    <a:pt x="5240" y="2894"/>
                  </a:cubicBezTo>
                  <a:cubicBezTo>
                    <a:pt x="5216" y="2894"/>
                    <a:pt x="5216" y="2906"/>
                    <a:pt x="5216" y="2906"/>
                  </a:cubicBezTo>
                  <a:cubicBezTo>
                    <a:pt x="5192" y="2918"/>
                    <a:pt x="5180" y="2930"/>
                    <a:pt x="5144" y="2966"/>
                  </a:cubicBezTo>
                  <a:cubicBezTo>
                    <a:pt x="5120" y="2977"/>
                    <a:pt x="5085" y="3013"/>
                    <a:pt x="5061" y="3037"/>
                  </a:cubicBezTo>
                  <a:cubicBezTo>
                    <a:pt x="5025" y="3049"/>
                    <a:pt x="5013" y="3085"/>
                    <a:pt x="4978" y="3097"/>
                  </a:cubicBezTo>
                  <a:cubicBezTo>
                    <a:pt x="4620" y="3406"/>
                    <a:pt x="4347" y="3823"/>
                    <a:pt x="4204" y="4299"/>
                  </a:cubicBezTo>
                  <a:cubicBezTo>
                    <a:pt x="4180" y="4299"/>
                    <a:pt x="4144" y="4287"/>
                    <a:pt x="4132" y="4287"/>
                  </a:cubicBezTo>
                  <a:cubicBezTo>
                    <a:pt x="4061" y="4275"/>
                    <a:pt x="3966" y="4275"/>
                    <a:pt x="3894" y="4275"/>
                  </a:cubicBezTo>
                  <a:lnTo>
                    <a:pt x="3632" y="4275"/>
                  </a:lnTo>
                  <a:cubicBezTo>
                    <a:pt x="3608" y="4275"/>
                    <a:pt x="3596" y="4251"/>
                    <a:pt x="3585" y="4251"/>
                  </a:cubicBezTo>
                  <a:lnTo>
                    <a:pt x="3573" y="4251"/>
                  </a:lnTo>
                  <a:cubicBezTo>
                    <a:pt x="3549" y="4240"/>
                    <a:pt x="3537" y="4240"/>
                    <a:pt x="3525" y="4228"/>
                  </a:cubicBezTo>
                  <a:cubicBezTo>
                    <a:pt x="3513" y="4216"/>
                    <a:pt x="3489" y="4216"/>
                    <a:pt x="3465" y="4192"/>
                  </a:cubicBezTo>
                  <a:lnTo>
                    <a:pt x="3454" y="4180"/>
                  </a:lnTo>
                  <a:cubicBezTo>
                    <a:pt x="3430" y="4168"/>
                    <a:pt x="3418" y="4168"/>
                    <a:pt x="3406" y="4156"/>
                  </a:cubicBezTo>
                  <a:lnTo>
                    <a:pt x="3394" y="4156"/>
                  </a:lnTo>
                  <a:cubicBezTo>
                    <a:pt x="3370" y="4132"/>
                    <a:pt x="3358" y="4120"/>
                    <a:pt x="3346" y="4120"/>
                  </a:cubicBezTo>
                  <a:lnTo>
                    <a:pt x="3335" y="4109"/>
                  </a:lnTo>
                  <a:cubicBezTo>
                    <a:pt x="3311" y="4097"/>
                    <a:pt x="3299" y="4097"/>
                    <a:pt x="3287" y="4073"/>
                  </a:cubicBezTo>
                  <a:lnTo>
                    <a:pt x="3275" y="4073"/>
                  </a:lnTo>
                  <a:lnTo>
                    <a:pt x="3227" y="4037"/>
                  </a:lnTo>
                  <a:lnTo>
                    <a:pt x="3215" y="4013"/>
                  </a:lnTo>
                  <a:cubicBezTo>
                    <a:pt x="3192" y="4001"/>
                    <a:pt x="3180" y="3990"/>
                    <a:pt x="3168" y="3990"/>
                  </a:cubicBezTo>
                  <a:lnTo>
                    <a:pt x="3156" y="3990"/>
                  </a:lnTo>
                  <a:lnTo>
                    <a:pt x="3108" y="3942"/>
                  </a:lnTo>
                  <a:lnTo>
                    <a:pt x="3096" y="3930"/>
                  </a:lnTo>
                  <a:lnTo>
                    <a:pt x="3061" y="3894"/>
                  </a:lnTo>
                  <a:lnTo>
                    <a:pt x="3049" y="3882"/>
                  </a:lnTo>
                  <a:lnTo>
                    <a:pt x="3001" y="3835"/>
                  </a:lnTo>
                  <a:lnTo>
                    <a:pt x="2989" y="3823"/>
                  </a:lnTo>
                  <a:lnTo>
                    <a:pt x="2989" y="3811"/>
                  </a:lnTo>
                  <a:cubicBezTo>
                    <a:pt x="2870" y="3680"/>
                    <a:pt x="2775" y="3525"/>
                    <a:pt x="2715" y="3358"/>
                  </a:cubicBezTo>
                  <a:cubicBezTo>
                    <a:pt x="2715" y="3347"/>
                    <a:pt x="2703" y="3335"/>
                    <a:pt x="2703" y="3323"/>
                  </a:cubicBezTo>
                  <a:lnTo>
                    <a:pt x="2703" y="3299"/>
                  </a:lnTo>
                  <a:cubicBezTo>
                    <a:pt x="2703" y="3287"/>
                    <a:pt x="2692" y="3275"/>
                    <a:pt x="2692" y="3263"/>
                  </a:cubicBezTo>
                  <a:lnTo>
                    <a:pt x="2692" y="3239"/>
                  </a:lnTo>
                  <a:cubicBezTo>
                    <a:pt x="2692" y="3228"/>
                    <a:pt x="2680" y="3204"/>
                    <a:pt x="2680" y="3180"/>
                  </a:cubicBezTo>
                  <a:cubicBezTo>
                    <a:pt x="2656" y="3108"/>
                    <a:pt x="2644" y="3049"/>
                    <a:pt x="2632" y="2977"/>
                  </a:cubicBezTo>
                  <a:lnTo>
                    <a:pt x="2632" y="2930"/>
                  </a:lnTo>
                  <a:lnTo>
                    <a:pt x="2632" y="2882"/>
                  </a:lnTo>
                  <a:cubicBezTo>
                    <a:pt x="2632" y="2823"/>
                    <a:pt x="2620" y="2763"/>
                    <a:pt x="2620" y="2704"/>
                  </a:cubicBezTo>
                  <a:lnTo>
                    <a:pt x="2620" y="2644"/>
                  </a:lnTo>
                  <a:lnTo>
                    <a:pt x="2620" y="2632"/>
                  </a:lnTo>
                  <a:lnTo>
                    <a:pt x="2620" y="2573"/>
                  </a:lnTo>
                  <a:lnTo>
                    <a:pt x="2620" y="2513"/>
                  </a:lnTo>
                  <a:lnTo>
                    <a:pt x="2620" y="2501"/>
                  </a:lnTo>
                  <a:cubicBezTo>
                    <a:pt x="2620" y="2454"/>
                    <a:pt x="2632" y="2430"/>
                    <a:pt x="2632" y="2382"/>
                  </a:cubicBezTo>
                  <a:lnTo>
                    <a:pt x="2632" y="2370"/>
                  </a:lnTo>
                  <a:cubicBezTo>
                    <a:pt x="2632" y="2335"/>
                    <a:pt x="2644" y="2287"/>
                    <a:pt x="2656" y="2263"/>
                  </a:cubicBezTo>
                  <a:lnTo>
                    <a:pt x="2656" y="2251"/>
                  </a:lnTo>
                  <a:cubicBezTo>
                    <a:pt x="2680" y="2215"/>
                    <a:pt x="2680" y="2168"/>
                    <a:pt x="2692" y="2144"/>
                  </a:cubicBezTo>
                  <a:lnTo>
                    <a:pt x="2692" y="2132"/>
                  </a:lnTo>
                  <a:cubicBezTo>
                    <a:pt x="2703" y="2096"/>
                    <a:pt x="2715" y="2049"/>
                    <a:pt x="2739" y="2025"/>
                  </a:cubicBezTo>
                  <a:lnTo>
                    <a:pt x="2739" y="2013"/>
                  </a:lnTo>
                  <a:cubicBezTo>
                    <a:pt x="2751" y="1977"/>
                    <a:pt x="2763" y="1930"/>
                    <a:pt x="2775" y="1906"/>
                  </a:cubicBezTo>
                  <a:lnTo>
                    <a:pt x="2775" y="1894"/>
                  </a:lnTo>
                  <a:cubicBezTo>
                    <a:pt x="2799" y="1858"/>
                    <a:pt x="2811" y="1834"/>
                    <a:pt x="2834" y="1799"/>
                  </a:cubicBezTo>
                  <a:lnTo>
                    <a:pt x="2858" y="1787"/>
                  </a:lnTo>
                  <a:cubicBezTo>
                    <a:pt x="2870" y="1751"/>
                    <a:pt x="2894" y="1727"/>
                    <a:pt x="2918" y="1692"/>
                  </a:cubicBezTo>
                  <a:cubicBezTo>
                    <a:pt x="2989" y="1608"/>
                    <a:pt x="3061" y="1513"/>
                    <a:pt x="3156" y="1442"/>
                  </a:cubicBezTo>
                  <a:lnTo>
                    <a:pt x="3180" y="1418"/>
                  </a:lnTo>
                  <a:lnTo>
                    <a:pt x="3299" y="1311"/>
                  </a:lnTo>
                  <a:cubicBezTo>
                    <a:pt x="3299" y="1311"/>
                    <a:pt x="3311" y="1311"/>
                    <a:pt x="3311" y="1299"/>
                  </a:cubicBezTo>
                  <a:cubicBezTo>
                    <a:pt x="3311" y="1299"/>
                    <a:pt x="3335" y="1299"/>
                    <a:pt x="3335" y="1275"/>
                  </a:cubicBezTo>
                  <a:lnTo>
                    <a:pt x="3346" y="1263"/>
                  </a:lnTo>
                  <a:cubicBezTo>
                    <a:pt x="3346" y="1263"/>
                    <a:pt x="3358" y="1263"/>
                    <a:pt x="3358" y="1251"/>
                  </a:cubicBezTo>
                  <a:cubicBezTo>
                    <a:pt x="3358" y="1251"/>
                    <a:pt x="3370" y="1251"/>
                    <a:pt x="3370" y="1239"/>
                  </a:cubicBezTo>
                  <a:cubicBezTo>
                    <a:pt x="3370" y="1239"/>
                    <a:pt x="3394" y="1239"/>
                    <a:pt x="3394" y="1215"/>
                  </a:cubicBezTo>
                  <a:cubicBezTo>
                    <a:pt x="3394" y="1215"/>
                    <a:pt x="3406" y="1215"/>
                    <a:pt x="3406" y="1203"/>
                  </a:cubicBezTo>
                  <a:lnTo>
                    <a:pt x="3430" y="1192"/>
                  </a:lnTo>
                  <a:cubicBezTo>
                    <a:pt x="3430" y="1192"/>
                    <a:pt x="3454" y="1192"/>
                    <a:pt x="3454" y="1180"/>
                  </a:cubicBezTo>
                  <a:cubicBezTo>
                    <a:pt x="3454" y="1180"/>
                    <a:pt x="3465" y="1180"/>
                    <a:pt x="3465" y="1156"/>
                  </a:cubicBezTo>
                  <a:lnTo>
                    <a:pt x="3489" y="1144"/>
                  </a:lnTo>
                  <a:cubicBezTo>
                    <a:pt x="3489" y="1144"/>
                    <a:pt x="3513" y="1144"/>
                    <a:pt x="3513" y="1132"/>
                  </a:cubicBezTo>
                  <a:lnTo>
                    <a:pt x="3585" y="1096"/>
                  </a:lnTo>
                  <a:cubicBezTo>
                    <a:pt x="3585" y="1096"/>
                    <a:pt x="3596" y="1096"/>
                    <a:pt x="3596" y="1084"/>
                  </a:cubicBezTo>
                  <a:cubicBezTo>
                    <a:pt x="3608" y="1084"/>
                    <a:pt x="3608" y="1072"/>
                    <a:pt x="3632" y="1072"/>
                  </a:cubicBezTo>
                  <a:lnTo>
                    <a:pt x="3644" y="1061"/>
                  </a:lnTo>
                  <a:lnTo>
                    <a:pt x="3656" y="1061"/>
                  </a:lnTo>
                  <a:lnTo>
                    <a:pt x="3763" y="1025"/>
                  </a:lnTo>
                  <a:lnTo>
                    <a:pt x="3882" y="1025"/>
                  </a:lnTo>
                  <a:lnTo>
                    <a:pt x="3930" y="1013"/>
                  </a:lnTo>
                  <a:close/>
                  <a:moveTo>
                    <a:pt x="4347" y="418"/>
                  </a:moveTo>
                  <a:cubicBezTo>
                    <a:pt x="4847" y="418"/>
                    <a:pt x="5335" y="584"/>
                    <a:pt x="5740" y="882"/>
                  </a:cubicBezTo>
                  <a:cubicBezTo>
                    <a:pt x="6156" y="1192"/>
                    <a:pt x="6454" y="1620"/>
                    <a:pt x="6585" y="2108"/>
                  </a:cubicBezTo>
                  <a:cubicBezTo>
                    <a:pt x="6621" y="2227"/>
                    <a:pt x="6644" y="2370"/>
                    <a:pt x="6668" y="2489"/>
                  </a:cubicBezTo>
                  <a:lnTo>
                    <a:pt x="6442" y="2489"/>
                  </a:lnTo>
                  <a:cubicBezTo>
                    <a:pt x="6442" y="2442"/>
                    <a:pt x="6430" y="2394"/>
                    <a:pt x="6430" y="2346"/>
                  </a:cubicBezTo>
                  <a:lnTo>
                    <a:pt x="6430" y="2335"/>
                  </a:lnTo>
                  <a:cubicBezTo>
                    <a:pt x="6406" y="2287"/>
                    <a:pt x="6406" y="2251"/>
                    <a:pt x="6394" y="2204"/>
                  </a:cubicBezTo>
                  <a:lnTo>
                    <a:pt x="6394" y="2192"/>
                  </a:lnTo>
                  <a:lnTo>
                    <a:pt x="6347" y="2049"/>
                  </a:lnTo>
                  <a:lnTo>
                    <a:pt x="6347" y="2037"/>
                  </a:lnTo>
                  <a:lnTo>
                    <a:pt x="6311" y="1906"/>
                  </a:lnTo>
                  <a:lnTo>
                    <a:pt x="6311" y="1894"/>
                  </a:lnTo>
                  <a:cubicBezTo>
                    <a:pt x="6287" y="1846"/>
                    <a:pt x="6263" y="1799"/>
                    <a:pt x="6252" y="1775"/>
                  </a:cubicBezTo>
                  <a:lnTo>
                    <a:pt x="6228" y="1751"/>
                  </a:lnTo>
                  <a:cubicBezTo>
                    <a:pt x="6216" y="1715"/>
                    <a:pt x="6192" y="1680"/>
                    <a:pt x="6156" y="1632"/>
                  </a:cubicBezTo>
                  <a:lnTo>
                    <a:pt x="6144" y="1620"/>
                  </a:lnTo>
                  <a:cubicBezTo>
                    <a:pt x="6109" y="1573"/>
                    <a:pt x="6085" y="1549"/>
                    <a:pt x="6073" y="1501"/>
                  </a:cubicBezTo>
                  <a:cubicBezTo>
                    <a:pt x="5978" y="1382"/>
                    <a:pt x="5894" y="1275"/>
                    <a:pt x="5787" y="1192"/>
                  </a:cubicBezTo>
                  <a:lnTo>
                    <a:pt x="5775" y="1180"/>
                  </a:lnTo>
                  <a:lnTo>
                    <a:pt x="5751" y="1156"/>
                  </a:lnTo>
                  <a:lnTo>
                    <a:pt x="5740" y="1144"/>
                  </a:lnTo>
                  <a:lnTo>
                    <a:pt x="5680" y="1084"/>
                  </a:lnTo>
                  <a:lnTo>
                    <a:pt x="5668" y="1072"/>
                  </a:lnTo>
                  <a:lnTo>
                    <a:pt x="5621" y="1037"/>
                  </a:lnTo>
                  <a:lnTo>
                    <a:pt x="5609" y="1025"/>
                  </a:lnTo>
                  <a:lnTo>
                    <a:pt x="5597" y="1013"/>
                  </a:lnTo>
                  <a:lnTo>
                    <a:pt x="5573" y="1001"/>
                  </a:lnTo>
                  <a:lnTo>
                    <a:pt x="5561" y="977"/>
                  </a:lnTo>
                  <a:lnTo>
                    <a:pt x="5549" y="965"/>
                  </a:lnTo>
                  <a:lnTo>
                    <a:pt x="5537" y="953"/>
                  </a:lnTo>
                  <a:lnTo>
                    <a:pt x="5513" y="942"/>
                  </a:lnTo>
                  <a:cubicBezTo>
                    <a:pt x="5513" y="942"/>
                    <a:pt x="5501" y="918"/>
                    <a:pt x="5490" y="918"/>
                  </a:cubicBezTo>
                  <a:lnTo>
                    <a:pt x="5442" y="894"/>
                  </a:lnTo>
                  <a:cubicBezTo>
                    <a:pt x="5430" y="894"/>
                    <a:pt x="5430" y="882"/>
                    <a:pt x="5430" y="882"/>
                  </a:cubicBezTo>
                  <a:cubicBezTo>
                    <a:pt x="5430" y="882"/>
                    <a:pt x="5418" y="858"/>
                    <a:pt x="5394" y="858"/>
                  </a:cubicBezTo>
                  <a:lnTo>
                    <a:pt x="5359" y="834"/>
                  </a:lnTo>
                  <a:cubicBezTo>
                    <a:pt x="5359" y="834"/>
                    <a:pt x="5335" y="834"/>
                    <a:pt x="5335" y="822"/>
                  </a:cubicBezTo>
                  <a:lnTo>
                    <a:pt x="5299" y="787"/>
                  </a:lnTo>
                  <a:cubicBezTo>
                    <a:pt x="5299" y="787"/>
                    <a:pt x="5275" y="787"/>
                    <a:pt x="5275" y="775"/>
                  </a:cubicBezTo>
                  <a:lnTo>
                    <a:pt x="5251" y="763"/>
                  </a:lnTo>
                  <a:cubicBezTo>
                    <a:pt x="5251" y="763"/>
                    <a:pt x="5240" y="763"/>
                    <a:pt x="5216" y="739"/>
                  </a:cubicBezTo>
                  <a:cubicBezTo>
                    <a:pt x="5204" y="739"/>
                    <a:pt x="5192" y="727"/>
                    <a:pt x="5180" y="727"/>
                  </a:cubicBezTo>
                  <a:lnTo>
                    <a:pt x="5144" y="727"/>
                  </a:lnTo>
                  <a:cubicBezTo>
                    <a:pt x="5144" y="727"/>
                    <a:pt x="5132" y="727"/>
                    <a:pt x="5120" y="715"/>
                  </a:cubicBezTo>
                  <a:lnTo>
                    <a:pt x="5037" y="715"/>
                  </a:lnTo>
                  <a:lnTo>
                    <a:pt x="5013" y="703"/>
                  </a:lnTo>
                  <a:lnTo>
                    <a:pt x="5001" y="703"/>
                  </a:lnTo>
                  <a:cubicBezTo>
                    <a:pt x="4978" y="703"/>
                    <a:pt x="4978" y="703"/>
                    <a:pt x="4966" y="680"/>
                  </a:cubicBezTo>
                  <a:lnTo>
                    <a:pt x="3989" y="680"/>
                  </a:lnTo>
                  <a:lnTo>
                    <a:pt x="3942" y="703"/>
                  </a:lnTo>
                  <a:lnTo>
                    <a:pt x="3727" y="703"/>
                  </a:lnTo>
                  <a:cubicBezTo>
                    <a:pt x="3716" y="703"/>
                    <a:pt x="3716" y="703"/>
                    <a:pt x="3704" y="715"/>
                  </a:cubicBezTo>
                  <a:lnTo>
                    <a:pt x="3585" y="715"/>
                  </a:lnTo>
                  <a:cubicBezTo>
                    <a:pt x="3573" y="715"/>
                    <a:pt x="3573" y="715"/>
                    <a:pt x="3549" y="727"/>
                  </a:cubicBezTo>
                  <a:lnTo>
                    <a:pt x="3525" y="727"/>
                  </a:lnTo>
                  <a:cubicBezTo>
                    <a:pt x="3513" y="727"/>
                    <a:pt x="3489" y="751"/>
                    <a:pt x="3477" y="751"/>
                  </a:cubicBezTo>
                  <a:cubicBezTo>
                    <a:pt x="3465" y="751"/>
                    <a:pt x="3465" y="751"/>
                    <a:pt x="3454" y="763"/>
                  </a:cubicBezTo>
                  <a:lnTo>
                    <a:pt x="3418" y="775"/>
                  </a:lnTo>
                  <a:cubicBezTo>
                    <a:pt x="3418" y="775"/>
                    <a:pt x="3406" y="775"/>
                    <a:pt x="3406" y="787"/>
                  </a:cubicBezTo>
                  <a:lnTo>
                    <a:pt x="3370" y="811"/>
                  </a:lnTo>
                  <a:lnTo>
                    <a:pt x="3358" y="822"/>
                  </a:lnTo>
                  <a:cubicBezTo>
                    <a:pt x="3358" y="822"/>
                    <a:pt x="3346" y="822"/>
                    <a:pt x="3346" y="834"/>
                  </a:cubicBezTo>
                  <a:lnTo>
                    <a:pt x="3299" y="870"/>
                  </a:lnTo>
                  <a:lnTo>
                    <a:pt x="3287" y="882"/>
                  </a:lnTo>
                  <a:cubicBezTo>
                    <a:pt x="3275" y="882"/>
                    <a:pt x="3275" y="894"/>
                    <a:pt x="3251" y="894"/>
                  </a:cubicBezTo>
                  <a:lnTo>
                    <a:pt x="3215" y="930"/>
                  </a:lnTo>
                  <a:lnTo>
                    <a:pt x="3192" y="942"/>
                  </a:lnTo>
                  <a:lnTo>
                    <a:pt x="3180" y="953"/>
                  </a:lnTo>
                  <a:cubicBezTo>
                    <a:pt x="3180" y="953"/>
                    <a:pt x="3168" y="965"/>
                    <a:pt x="3156" y="965"/>
                  </a:cubicBezTo>
                  <a:lnTo>
                    <a:pt x="3132" y="989"/>
                  </a:lnTo>
                  <a:lnTo>
                    <a:pt x="3120" y="1001"/>
                  </a:lnTo>
                  <a:lnTo>
                    <a:pt x="3108" y="1013"/>
                  </a:lnTo>
                  <a:cubicBezTo>
                    <a:pt x="3096" y="1013"/>
                    <a:pt x="3096" y="1025"/>
                    <a:pt x="3096" y="1025"/>
                  </a:cubicBezTo>
                  <a:lnTo>
                    <a:pt x="3073" y="1049"/>
                  </a:lnTo>
                  <a:lnTo>
                    <a:pt x="3037" y="1072"/>
                  </a:lnTo>
                  <a:lnTo>
                    <a:pt x="3013" y="1084"/>
                  </a:lnTo>
                  <a:lnTo>
                    <a:pt x="2954" y="1144"/>
                  </a:lnTo>
                  <a:lnTo>
                    <a:pt x="2942" y="1168"/>
                  </a:lnTo>
                  <a:lnTo>
                    <a:pt x="2930" y="1180"/>
                  </a:lnTo>
                  <a:lnTo>
                    <a:pt x="2918" y="1192"/>
                  </a:lnTo>
                  <a:cubicBezTo>
                    <a:pt x="2811" y="1287"/>
                    <a:pt x="2715" y="1382"/>
                    <a:pt x="2632" y="1501"/>
                  </a:cubicBezTo>
                  <a:cubicBezTo>
                    <a:pt x="2596" y="1549"/>
                    <a:pt x="2573" y="1584"/>
                    <a:pt x="2561" y="1620"/>
                  </a:cubicBezTo>
                  <a:lnTo>
                    <a:pt x="2537" y="1644"/>
                  </a:lnTo>
                  <a:cubicBezTo>
                    <a:pt x="2513" y="1680"/>
                    <a:pt x="2501" y="1715"/>
                    <a:pt x="2465" y="1763"/>
                  </a:cubicBezTo>
                  <a:lnTo>
                    <a:pt x="2465" y="1775"/>
                  </a:lnTo>
                  <a:cubicBezTo>
                    <a:pt x="2453" y="1823"/>
                    <a:pt x="2418" y="1846"/>
                    <a:pt x="2406" y="1894"/>
                  </a:cubicBezTo>
                  <a:lnTo>
                    <a:pt x="2406" y="1906"/>
                  </a:lnTo>
                  <a:lnTo>
                    <a:pt x="2358" y="2037"/>
                  </a:lnTo>
                  <a:lnTo>
                    <a:pt x="2358" y="2061"/>
                  </a:lnTo>
                  <a:lnTo>
                    <a:pt x="2322" y="2192"/>
                  </a:lnTo>
                  <a:lnTo>
                    <a:pt x="2322" y="2204"/>
                  </a:lnTo>
                  <a:cubicBezTo>
                    <a:pt x="2299" y="2251"/>
                    <a:pt x="2287" y="2299"/>
                    <a:pt x="2287" y="2335"/>
                  </a:cubicBezTo>
                  <a:lnTo>
                    <a:pt x="2287" y="2358"/>
                  </a:lnTo>
                  <a:cubicBezTo>
                    <a:pt x="2275" y="2394"/>
                    <a:pt x="2275" y="2442"/>
                    <a:pt x="2275" y="2489"/>
                  </a:cubicBezTo>
                  <a:lnTo>
                    <a:pt x="2275" y="2501"/>
                  </a:lnTo>
                  <a:lnTo>
                    <a:pt x="2275" y="2573"/>
                  </a:lnTo>
                  <a:lnTo>
                    <a:pt x="2275" y="2656"/>
                  </a:lnTo>
                  <a:lnTo>
                    <a:pt x="2275" y="2668"/>
                  </a:lnTo>
                  <a:lnTo>
                    <a:pt x="2275" y="2739"/>
                  </a:lnTo>
                  <a:cubicBezTo>
                    <a:pt x="2275" y="2811"/>
                    <a:pt x="2275" y="2894"/>
                    <a:pt x="2287" y="2954"/>
                  </a:cubicBezTo>
                  <a:lnTo>
                    <a:pt x="2287" y="2989"/>
                  </a:lnTo>
                  <a:cubicBezTo>
                    <a:pt x="2287" y="3013"/>
                    <a:pt x="2287" y="3037"/>
                    <a:pt x="2299" y="3049"/>
                  </a:cubicBezTo>
                  <a:cubicBezTo>
                    <a:pt x="2322" y="3144"/>
                    <a:pt x="2334" y="3228"/>
                    <a:pt x="2358" y="3311"/>
                  </a:cubicBezTo>
                  <a:cubicBezTo>
                    <a:pt x="2358" y="3335"/>
                    <a:pt x="2382" y="3347"/>
                    <a:pt x="2394" y="3382"/>
                  </a:cubicBezTo>
                  <a:lnTo>
                    <a:pt x="2394" y="3394"/>
                  </a:lnTo>
                  <a:cubicBezTo>
                    <a:pt x="2394" y="3406"/>
                    <a:pt x="2406" y="3442"/>
                    <a:pt x="2406" y="3454"/>
                  </a:cubicBezTo>
                  <a:lnTo>
                    <a:pt x="2406" y="3466"/>
                  </a:lnTo>
                  <a:cubicBezTo>
                    <a:pt x="2418" y="3489"/>
                    <a:pt x="2418" y="3513"/>
                    <a:pt x="2442" y="3525"/>
                  </a:cubicBezTo>
                  <a:lnTo>
                    <a:pt x="2442" y="3549"/>
                  </a:lnTo>
                  <a:cubicBezTo>
                    <a:pt x="2513" y="3739"/>
                    <a:pt x="2632" y="3918"/>
                    <a:pt x="2763" y="4085"/>
                  </a:cubicBezTo>
                  <a:lnTo>
                    <a:pt x="2775" y="4097"/>
                  </a:lnTo>
                  <a:lnTo>
                    <a:pt x="2799" y="4109"/>
                  </a:lnTo>
                  <a:lnTo>
                    <a:pt x="2799" y="4120"/>
                  </a:lnTo>
                  <a:lnTo>
                    <a:pt x="2811" y="4144"/>
                  </a:lnTo>
                  <a:cubicBezTo>
                    <a:pt x="2823" y="4156"/>
                    <a:pt x="2834" y="4168"/>
                    <a:pt x="2858" y="4204"/>
                  </a:cubicBezTo>
                  <a:lnTo>
                    <a:pt x="2870" y="4216"/>
                  </a:lnTo>
                  <a:lnTo>
                    <a:pt x="2918" y="4263"/>
                  </a:lnTo>
                  <a:lnTo>
                    <a:pt x="2930" y="4275"/>
                  </a:lnTo>
                  <a:cubicBezTo>
                    <a:pt x="2942" y="4287"/>
                    <a:pt x="2954" y="4299"/>
                    <a:pt x="2989" y="4323"/>
                  </a:cubicBezTo>
                  <a:lnTo>
                    <a:pt x="3001" y="4335"/>
                  </a:lnTo>
                  <a:lnTo>
                    <a:pt x="3049" y="4382"/>
                  </a:lnTo>
                  <a:lnTo>
                    <a:pt x="3061" y="4394"/>
                  </a:lnTo>
                  <a:cubicBezTo>
                    <a:pt x="3073" y="4406"/>
                    <a:pt x="3108" y="4418"/>
                    <a:pt x="3120" y="4442"/>
                  </a:cubicBezTo>
                  <a:lnTo>
                    <a:pt x="3132" y="4442"/>
                  </a:lnTo>
                  <a:cubicBezTo>
                    <a:pt x="3156" y="4454"/>
                    <a:pt x="3168" y="4466"/>
                    <a:pt x="3192" y="4478"/>
                  </a:cubicBezTo>
                  <a:lnTo>
                    <a:pt x="3215" y="4501"/>
                  </a:lnTo>
                  <a:lnTo>
                    <a:pt x="3227" y="4501"/>
                  </a:lnTo>
                  <a:cubicBezTo>
                    <a:pt x="3215" y="4501"/>
                    <a:pt x="3215" y="4513"/>
                    <a:pt x="3192" y="4513"/>
                  </a:cubicBezTo>
                  <a:cubicBezTo>
                    <a:pt x="3156" y="4537"/>
                    <a:pt x="3096" y="4573"/>
                    <a:pt x="3049" y="4597"/>
                  </a:cubicBezTo>
                  <a:cubicBezTo>
                    <a:pt x="3037" y="4597"/>
                    <a:pt x="3037" y="4621"/>
                    <a:pt x="3013" y="4621"/>
                  </a:cubicBezTo>
                  <a:cubicBezTo>
                    <a:pt x="2977" y="4585"/>
                    <a:pt x="2942" y="4561"/>
                    <a:pt x="2894" y="4525"/>
                  </a:cubicBezTo>
                  <a:lnTo>
                    <a:pt x="2858" y="4478"/>
                  </a:lnTo>
                  <a:lnTo>
                    <a:pt x="2811" y="4442"/>
                  </a:lnTo>
                  <a:lnTo>
                    <a:pt x="2799" y="4418"/>
                  </a:lnTo>
                  <a:lnTo>
                    <a:pt x="2763" y="4394"/>
                  </a:lnTo>
                  <a:lnTo>
                    <a:pt x="2751" y="4382"/>
                  </a:lnTo>
                  <a:cubicBezTo>
                    <a:pt x="2620" y="4347"/>
                    <a:pt x="2608" y="4335"/>
                    <a:pt x="2608" y="4335"/>
                  </a:cubicBezTo>
                  <a:lnTo>
                    <a:pt x="2584" y="4311"/>
                  </a:lnTo>
                  <a:lnTo>
                    <a:pt x="2561" y="4287"/>
                  </a:lnTo>
                  <a:lnTo>
                    <a:pt x="2537" y="4275"/>
                  </a:lnTo>
                  <a:lnTo>
                    <a:pt x="2513" y="4240"/>
                  </a:lnTo>
                  <a:lnTo>
                    <a:pt x="2501" y="4228"/>
                  </a:lnTo>
                  <a:cubicBezTo>
                    <a:pt x="2501" y="4216"/>
                    <a:pt x="2477" y="4216"/>
                    <a:pt x="2477" y="4192"/>
                  </a:cubicBezTo>
                  <a:lnTo>
                    <a:pt x="2465" y="4180"/>
                  </a:lnTo>
                  <a:cubicBezTo>
                    <a:pt x="2465" y="4168"/>
                    <a:pt x="2453" y="4168"/>
                    <a:pt x="2453" y="4156"/>
                  </a:cubicBezTo>
                  <a:lnTo>
                    <a:pt x="2442" y="4132"/>
                  </a:lnTo>
                  <a:cubicBezTo>
                    <a:pt x="2442" y="4120"/>
                    <a:pt x="2418" y="4120"/>
                    <a:pt x="2418" y="4109"/>
                  </a:cubicBezTo>
                  <a:lnTo>
                    <a:pt x="2406" y="4097"/>
                  </a:lnTo>
                  <a:cubicBezTo>
                    <a:pt x="2406" y="4073"/>
                    <a:pt x="2394" y="4073"/>
                    <a:pt x="2394" y="4061"/>
                  </a:cubicBezTo>
                  <a:lnTo>
                    <a:pt x="2382" y="4049"/>
                  </a:lnTo>
                  <a:cubicBezTo>
                    <a:pt x="2358" y="4037"/>
                    <a:pt x="2358" y="4013"/>
                    <a:pt x="2346" y="4001"/>
                  </a:cubicBezTo>
                  <a:lnTo>
                    <a:pt x="2346" y="3990"/>
                  </a:lnTo>
                  <a:cubicBezTo>
                    <a:pt x="2334" y="3978"/>
                    <a:pt x="2334" y="3954"/>
                    <a:pt x="2322" y="3942"/>
                  </a:cubicBezTo>
                  <a:lnTo>
                    <a:pt x="2299" y="3930"/>
                  </a:lnTo>
                  <a:cubicBezTo>
                    <a:pt x="2299" y="3918"/>
                    <a:pt x="2287" y="3894"/>
                    <a:pt x="2287" y="3894"/>
                  </a:cubicBezTo>
                  <a:lnTo>
                    <a:pt x="2275" y="3882"/>
                  </a:lnTo>
                  <a:cubicBezTo>
                    <a:pt x="2275" y="3870"/>
                    <a:pt x="2263" y="3870"/>
                    <a:pt x="2263" y="3859"/>
                  </a:cubicBezTo>
                  <a:lnTo>
                    <a:pt x="2239" y="3835"/>
                  </a:lnTo>
                  <a:cubicBezTo>
                    <a:pt x="2239" y="3823"/>
                    <a:pt x="2227" y="3823"/>
                    <a:pt x="2227" y="3811"/>
                  </a:cubicBezTo>
                  <a:lnTo>
                    <a:pt x="2215" y="3775"/>
                  </a:lnTo>
                  <a:cubicBezTo>
                    <a:pt x="2215" y="3763"/>
                    <a:pt x="2203" y="3763"/>
                    <a:pt x="2203" y="3751"/>
                  </a:cubicBezTo>
                  <a:cubicBezTo>
                    <a:pt x="2203" y="3739"/>
                    <a:pt x="2203" y="3739"/>
                    <a:pt x="2180" y="3716"/>
                  </a:cubicBezTo>
                  <a:cubicBezTo>
                    <a:pt x="2180" y="3704"/>
                    <a:pt x="2168" y="3704"/>
                    <a:pt x="2168" y="3692"/>
                  </a:cubicBezTo>
                  <a:cubicBezTo>
                    <a:pt x="2168" y="3692"/>
                    <a:pt x="2168" y="3680"/>
                    <a:pt x="2156" y="3680"/>
                  </a:cubicBezTo>
                  <a:cubicBezTo>
                    <a:pt x="2156" y="3656"/>
                    <a:pt x="2144" y="3656"/>
                    <a:pt x="2144" y="3644"/>
                  </a:cubicBezTo>
                  <a:cubicBezTo>
                    <a:pt x="2144" y="3632"/>
                    <a:pt x="2144" y="3632"/>
                    <a:pt x="2120" y="3620"/>
                  </a:cubicBezTo>
                  <a:cubicBezTo>
                    <a:pt x="2120" y="3597"/>
                    <a:pt x="2108" y="3597"/>
                    <a:pt x="2108" y="3585"/>
                  </a:cubicBezTo>
                  <a:lnTo>
                    <a:pt x="2096" y="3561"/>
                  </a:lnTo>
                  <a:cubicBezTo>
                    <a:pt x="2096" y="3537"/>
                    <a:pt x="2084" y="3537"/>
                    <a:pt x="2084" y="3525"/>
                  </a:cubicBezTo>
                  <a:lnTo>
                    <a:pt x="2061" y="3501"/>
                  </a:lnTo>
                  <a:cubicBezTo>
                    <a:pt x="2061" y="3478"/>
                    <a:pt x="2049" y="3466"/>
                    <a:pt x="2049" y="3454"/>
                  </a:cubicBezTo>
                  <a:lnTo>
                    <a:pt x="2049" y="3442"/>
                  </a:lnTo>
                  <a:cubicBezTo>
                    <a:pt x="2049" y="3418"/>
                    <a:pt x="2037" y="3394"/>
                    <a:pt x="2037" y="3382"/>
                  </a:cubicBezTo>
                  <a:lnTo>
                    <a:pt x="2037" y="3358"/>
                  </a:lnTo>
                  <a:cubicBezTo>
                    <a:pt x="2037" y="3347"/>
                    <a:pt x="2025" y="3335"/>
                    <a:pt x="2025" y="3323"/>
                  </a:cubicBezTo>
                  <a:lnTo>
                    <a:pt x="2025" y="3287"/>
                  </a:lnTo>
                  <a:cubicBezTo>
                    <a:pt x="2025" y="3275"/>
                    <a:pt x="2025" y="3263"/>
                    <a:pt x="2001" y="3239"/>
                  </a:cubicBezTo>
                  <a:lnTo>
                    <a:pt x="2001" y="3216"/>
                  </a:lnTo>
                  <a:lnTo>
                    <a:pt x="2001" y="3180"/>
                  </a:lnTo>
                  <a:lnTo>
                    <a:pt x="2001" y="3156"/>
                  </a:lnTo>
                  <a:lnTo>
                    <a:pt x="2001" y="3120"/>
                  </a:lnTo>
                  <a:lnTo>
                    <a:pt x="2001" y="3097"/>
                  </a:lnTo>
                  <a:lnTo>
                    <a:pt x="2001" y="3061"/>
                  </a:lnTo>
                  <a:lnTo>
                    <a:pt x="2001" y="3037"/>
                  </a:lnTo>
                  <a:lnTo>
                    <a:pt x="2001" y="3001"/>
                  </a:lnTo>
                  <a:lnTo>
                    <a:pt x="2001" y="2977"/>
                  </a:lnTo>
                  <a:lnTo>
                    <a:pt x="2001" y="2942"/>
                  </a:lnTo>
                  <a:lnTo>
                    <a:pt x="2001" y="2930"/>
                  </a:lnTo>
                  <a:lnTo>
                    <a:pt x="2001" y="2906"/>
                  </a:lnTo>
                  <a:lnTo>
                    <a:pt x="2001" y="2870"/>
                  </a:lnTo>
                  <a:lnTo>
                    <a:pt x="2001" y="2823"/>
                  </a:lnTo>
                  <a:lnTo>
                    <a:pt x="2001" y="2811"/>
                  </a:lnTo>
                  <a:lnTo>
                    <a:pt x="2001" y="2751"/>
                  </a:lnTo>
                  <a:cubicBezTo>
                    <a:pt x="2001" y="2525"/>
                    <a:pt x="2037" y="2323"/>
                    <a:pt x="2096" y="2108"/>
                  </a:cubicBezTo>
                  <a:cubicBezTo>
                    <a:pt x="2227" y="1620"/>
                    <a:pt x="2537" y="1192"/>
                    <a:pt x="2942" y="882"/>
                  </a:cubicBezTo>
                  <a:cubicBezTo>
                    <a:pt x="3346" y="584"/>
                    <a:pt x="3835" y="418"/>
                    <a:pt x="4347" y="418"/>
                  </a:cubicBezTo>
                  <a:close/>
                  <a:moveTo>
                    <a:pt x="4251" y="1"/>
                  </a:moveTo>
                  <a:cubicBezTo>
                    <a:pt x="3656" y="1"/>
                    <a:pt x="3096" y="191"/>
                    <a:pt x="2620" y="537"/>
                  </a:cubicBezTo>
                  <a:cubicBezTo>
                    <a:pt x="2144" y="894"/>
                    <a:pt x="1787" y="1406"/>
                    <a:pt x="1620" y="1977"/>
                  </a:cubicBezTo>
                  <a:cubicBezTo>
                    <a:pt x="1549" y="2215"/>
                    <a:pt x="1513" y="2477"/>
                    <a:pt x="1513" y="2727"/>
                  </a:cubicBezTo>
                  <a:lnTo>
                    <a:pt x="1513" y="2799"/>
                  </a:lnTo>
                  <a:lnTo>
                    <a:pt x="1513" y="2811"/>
                  </a:lnTo>
                  <a:lnTo>
                    <a:pt x="1513" y="2835"/>
                  </a:lnTo>
                  <a:lnTo>
                    <a:pt x="1513" y="2870"/>
                  </a:lnTo>
                  <a:lnTo>
                    <a:pt x="1513" y="2906"/>
                  </a:lnTo>
                  <a:lnTo>
                    <a:pt x="1513" y="2954"/>
                  </a:lnTo>
                  <a:lnTo>
                    <a:pt x="1513" y="2977"/>
                  </a:lnTo>
                  <a:lnTo>
                    <a:pt x="1513" y="3025"/>
                  </a:lnTo>
                  <a:lnTo>
                    <a:pt x="1513" y="3049"/>
                  </a:lnTo>
                  <a:lnTo>
                    <a:pt x="1513" y="3097"/>
                  </a:lnTo>
                  <a:lnTo>
                    <a:pt x="1513" y="3132"/>
                  </a:lnTo>
                  <a:lnTo>
                    <a:pt x="1513" y="3168"/>
                  </a:lnTo>
                  <a:lnTo>
                    <a:pt x="1513" y="3204"/>
                  </a:lnTo>
                  <a:lnTo>
                    <a:pt x="1513" y="3251"/>
                  </a:lnTo>
                  <a:lnTo>
                    <a:pt x="1513" y="3275"/>
                  </a:lnTo>
                  <a:cubicBezTo>
                    <a:pt x="1513" y="3287"/>
                    <a:pt x="1513" y="3311"/>
                    <a:pt x="1537" y="3323"/>
                  </a:cubicBezTo>
                  <a:lnTo>
                    <a:pt x="1537" y="3335"/>
                  </a:lnTo>
                  <a:lnTo>
                    <a:pt x="1537" y="3347"/>
                  </a:lnTo>
                  <a:cubicBezTo>
                    <a:pt x="1537" y="3370"/>
                    <a:pt x="1537" y="3382"/>
                    <a:pt x="1549" y="3394"/>
                  </a:cubicBezTo>
                  <a:lnTo>
                    <a:pt x="1549" y="3430"/>
                  </a:lnTo>
                  <a:cubicBezTo>
                    <a:pt x="1549" y="3442"/>
                    <a:pt x="1560" y="3454"/>
                    <a:pt x="1560" y="3489"/>
                  </a:cubicBezTo>
                  <a:lnTo>
                    <a:pt x="1560" y="3501"/>
                  </a:lnTo>
                  <a:cubicBezTo>
                    <a:pt x="1560" y="3525"/>
                    <a:pt x="1572" y="3549"/>
                    <a:pt x="1572" y="3573"/>
                  </a:cubicBezTo>
                  <a:lnTo>
                    <a:pt x="1572" y="3585"/>
                  </a:lnTo>
                  <a:cubicBezTo>
                    <a:pt x="1572" y="3609"/>
                    <a:pt x="1596" y="3620"/>
                    <a:pt x="1596" y="3632"/>
                  </a:cubicBezTo>
                  <a:lnTo>
                    <a:pt x="1596" y="3644"/>
                  </a:lnTo>
                  <a:lnTo>
                    <a:pt x="1596" y="3668"/>
                  </a:lnTo>
                  <a:cubicBezTo>
                    <a:pt x="1596" y="3680"/>
                    <a:pt x="1608" y="3692"/>
                    <a:pt x="1608" y="3704"/>
                  </a:cubicBezTo>
                  <a:lnTo>
                    <a:pt x="1608" y="3728"/>
                  </a:lnTo>
                  <a:lnTo>
                    <a:pt x="1608" y="3739"/>
                  </a:lnTo>
                  <a:cubicBezTo>
                    <a:pt x="1608" y="3751"/>
                    <a:pt x="1620" y="3763"/>
                    <a:pt x="1620" y="3787"/>
                  </a:cubicBezTo>
                  <a:cubicBezTo>
                    <a:pt x="1620" y="3799"/>
                    <a:pt x="1632" y="3799"/>
                    <a:pt x="1632" y="3811"/>
                  </a:cubicBezTo>
                  <a:cubicBezTo>
                    <a:pt x="1632" y="3823"/>
                    <a:pt x="1656" y="3847"/>
                    <a:pt x="1656" y="3847"/>
                  </a:cubicBezTo>
                  <a:cubicBezTo>
                    <a:pt x="1656" y="3859"/>
                    <a:pt x="1656" y="3859"/>
                    <a:pt x="1668" y="3870"/>
                  </a:cubicBezTo>
                  <a:cubicBezTo>
                    <a:pt x="1668" y="3882"/>
                    <a:pt x="1680" y="3906"/>
                    <a:pt x="1680" y="3906"/>
                  </a:cubicBezTo>
                  <a:cubicBezTo>
                    <a:pt x="1680" y="3918"/>
                    <a:pt x="1691" y="3918"/>
                    <a:pt x="1691" y="3930"/>
                  </a:cubicBezTo>
                  <a:cubicBezTo>
                    <a:pt x="1691" y="3942"/>
                    <a:pt x="1715" y="3966"/>
                    <a:pt x="1715" y="3966"/>
                  </a:cubicBezTo>
                  <a:lnTo>
                    <a:pt x="1727" y="3990"/>
                  </a:lnTo>
                  <a:cubicBezTo>
                    <a:pt x="1727" y="4001"/>
                    <a:pt x="1739" y="4025"/>
                    <a:pt x="1739" y="4025"/>
                  </a:cubicBezTo>
                  <a:cubicBezTo>
                    <a:pt x="1739" y="4025"/>
                    <a:pt x="1739" y="4037"/>
                    <a:pt x="1751" y="4037"/>
                  </a:cubicBezTo>
                  <a:cubicBezTo>
                    <a:pt x="1751" y="4049"/>
                    <a:pt x="1775" y="4061"/>
                    <a:pt x="1775" y="4061"/>
                  </a:cubicBezTo>
                  <a:cubicBezTo>
                    <a:pt x="1775" y="4061"/>
                    <a:pt x="1775" y="4085"/>
                    <a:pt x="1787" y="4085"/>
                  </a:cubicBezTo>
                  <a:cubicBezTo>
                    <a:pt x="1799" y="4097"/>
                    <a:pt x="1799" y="4109"/>
                    <a:pt x="1811" y="4120"/>
                  </a:cubicBezTo>
                  <a:lnTo>
                    <a:pt x="1834" y="4144"/>
                  </a:lnTo>
                  <a:cubicBezTo>
                    <a:pt x="1846" y="4156"/>
                    <a:pt x="1858" y="4180"/>
                    <a:pt x="1858" y="4204"/>
                  </a:cubicBezTo>
                  <a:lnTo>
                    <a:pt x="1858" y="4216"/>
                  </a:lnTo>
                  <a:cubicBezTo>
                    <a:pt x="1870" y="4228"/>
                    <a:pt x="1870" y="4240"/>
                    <a:pt x="1894" y="4263"/>
                  </a:cubicBezTo>
                  <a:lnTo>
                    <a:pt x="1906" y="4287"/>
                  </a:lnTo>
                  <a:cubicBezTo>
                    <a:pt x="1918" y="4299"/>
                    <a:pt x="1918" y="4323"/>
                    <a:pt x="1930" y="4323"/>
                  </a:cubicBezTo>
                  <a:lnTo>
                    <a:pt x="1953" y="4335"/>
                  </a:lnTo>
                  <a:cubicBezTo>
                    <a:pt x="1965" y="4347"/>
                    <a:pt x="1965" y="4359"/>
                    <a:pt x="1977" y="4359"/>
                  </a:cubicBezTo>
                  <a:cubicBezTo>
                    <a:pt x="1977" y="4382"/>
                    <a:pt x="1989" y="4382"/>
                    <a:pt x="1989" y="4394"/>
                  </a:cubicBezTo>
                  <a:lnTo>
                    <a:pt x="2025" y="4418"/>
                  </a:lnTo>
                  <a:lnTo>
                    <a:pt x="2037" y="4442"/>
                  </a:lnTo>
                  <a:lnTo>
                    <a:pt x="2072" y="4466"/>
                  </a:lnTo>
                  <a:cubicBezTo>
                    <a:pt x="2072" y="4478"/>
                    <a:pt x="2084" y="4478"/>
                    <a:pt x="2084" y="4501"/>
                  </a:cubicBezTo>
                  <a:lnTo>
                    <a:pt x="2108" y="4525"/>
                  </a:lnTo>
                  <a:cubicBezTo>
                    <a:pt x="2108" y="4537"/>
                    <a:pt x="2132" y="4537"/>
                    <a:pt x="2132" y="4537"/>
                  </a:cubicBezTo>
                  <a:lnTo>
                    <a:pt x="2156" y="4573"/>
                  </a:lnTo>
                  <a:lnTo>
                    <a:pt x="2168" y="4585"/>
                  </a:lnTo>
                  <a:lnTo>
                    <a:pt x="2203" y="4621"/>
                  </a:lnTo>
                  <a:lnTo>
                    <a:pt x="2215" y="4632"/>
                  </a:lnTo>
                  <a:lnTo>
                    <a:pt x="2251" y="4656"/>
                  </a:lnTo>
                  <a:lnTo>
                    <a:pt x="2263" y="4680"/>
                  </a:lnTo>
                  <a:lnTo>
                    <a:pt x="2311" y="4716"/>
                  </a:lnTo>
                  <a:lnTo>
                    <a:pt x="2346" y="4763"/>
                  </a:lnTo>
                  <a:cubicBezTo>
                    <a:pt x="2382" y="4775"/>
                    <a:pt x="2406" y="4811"/>
                    <a:pt x="2430" y="4823"/>
                  </a:cubicBezTo>
                  <a:lnTo>
                    <a:pt x="2406" y="4835"/>
                  </a:lnTo>
                  <a:cubicBezTo>
                    <a:pt x="2287" y="4811"/>
                    <a:pt x="2156" y="4811"/>
                    <a:pt x="2025" y="4811"/>
                  </a:cubicBezTo>
                  <a:cubicBezTo>
                    <a:pt x="906" y="4811"/>
                    <a:pt x="1" y="5716"/>
                    <a:pt x="1" y="6835"/>
                  </a:cubicBezTo>
                  <a:cubicBezTo>
                    <a:pt x="1" y="7954"/>
                    <a:pt x="906" y="8859"/>
                    <a:pt x="2025" y="8859"/>
                  </a:cubicBezTo>
                  <a:lnTo>
                    <a:pt x="8633" y="8859"/>
                  </a:lnTo>
                  <a:cubicBezTo>
                    <a:pt x="8740" y="8859"/>
                    <a:pt x="8823" y="8764"/>
                    <a:pt x="8823" y="8669"/>
                  </a:cubicBezTo>
                  <a:cubicBezTo>
                    <a:pt x="9002" y="8573"/>
                    <a:pt x="8919" y="8490"/>
                    <a:pt x="8811" y="8490"/>
                  </a:cubicBezTo>
                  <a:lnTo>
                    <a:pt x="2203" y="8490"/>
                  </a:lnTo>
                  <a:cubicBezTo>
                    <a:pt x="1299" y="8490"/>
                    <a:pt x="560" y="7752"/>
                    <a:pt x="560" y="6847"/>
                  </a:cubicBezTo>
                  <a:cubicBezTo>
                    <a:pt x="560" y="5942"/>
                    <a:pt x="1299" y="5216"/>
                    <a:pt x="2203" y="5216"/>
                  </a:cubicBezTo>
                  <a:cubicBezTo>
                    <a:pt x="2334" y="5216"/>
                    <a:pt x="2489" y="5228"/>
                    <a:pt x="2620" y="5275"/>
                  </a:cubicBezTo>
                  <a:cubicBezTo>
                    <a:pt x="2629" y="5277"/>
                    <a:pt x="2639" y="5278"/>
                    <a:pt x="2649" y="5278"/>
                  </a:cubicBezTo>
                  <a:cubicBezTo>
                    <a:pt x="2715" y="5278"/>
                    <a:pt x="2791" y="5244"/>
                    <a:pt x="2823" y="5192"/>
                  </a:cubicBezTo>
                  <a:cubicBezTo>
                    <a:pt x="2882" y="5109"/>
                    <a:pt x="2954" y="5037"/>
                    <a:pt x="3037" y="4978"/>
                  </a:cubicBezTo>
                  <a:cubicBezTo>
                    <a:pt x="3049" y="4954"/>
                    <a:pt x="3061" y="4942"/>
                    <a:pt x="3096" y="4930"/>
                  </a:cubicBezTo>
                  <a:lnTo>
                    <a:pt x="3108" y="4930"/>
                  </a:lnTo>
                  <a:cubicBezTo>
                    <a:pt x="3120" y="4918"/>
                    <a:pt x="3132" y="4894"/>
                    <a:pt x="3168" y="4882"/>
                  </a:cubicBezTo>
                  <a:cubicBezTo>
                    <a:pt x="3215" y="4859"/>
                    <a:pt x="3251" y="4823"/>
                    <a:pt x="3299" y="4811"/>
                  </a:cubicBezTo>
                  <a:cubicBezTo>
                    <a:pt x="3311" y="4799"/>
                    <a:pt x="3346" y="4799"/>
                    <a:pt x="3358" y="4775"/>
                  </a:cubicBezTo>
                  <a:cubicBezTo>
                    <a:pt x="3406" y="4763"/>
                    <a:pt x="3454" y="4740"/>
                    <a:pt x="3489" y="4716"/>
                  </a:cubicBezTo>
                  <a:cubicBezTo>
                    <a:pt x="3513" y="4716"/>
                    <a:pt x="3537" y="4704"/>
                    <a:pt x="3549" y="4704"/>
                  </a:cubicBezTo>
                  <a:lnTo>
                    <a:pt x="3573" y="4704"/>
                  </a:lnTo>
                  <a:cubicBezTo>
                    <a:pt x="3585" y="4704"/>
                    <a:pt x="3608" y="4692"/>
                    <a:pt x="3632" y="4692"/>
                  </a:cubicBezTo>
                  <a:lnTo>
                    <a:pt x="3930" y="4692"/>
                  </a:lnTo>
                  <a:cubicBezTo>
                    <a:pt x="3989" y="4692"/>
                    <a:pt x="4025" y="4704"/>
                    <a:pt x="4085" y="4704"/>
                  </a:cubicBezTo>
                  <a:cubicBezTo>
                    <a:pt x="4120" y="4704"/>
                    <a:pt x="4132" y="4716"/>
                    <a:pt x="4168" y="4716"/>
                  </a:cubicBezTo>
                  <a:lnTo>
                    <a:pt x="4180" y="4716"/>
                  </a:lnTo>
                  <a:cubicBezTo>
                    <a:pt x="4204" y="4716"/>
                    <a:pt x="4227" y="4740"/>
                    <a:pt x="4251" y="4740"/>
                  </a:cubicBezTo>
                  <a:lnTo>
                    <a:pt x="4394" y="4740"/>
                  </a:lnTo>
                  <a:cubicBezTo>
                    <a:pt x="4394" y="4740"/>
                    <a:pt x="4406" y="4740"/>
                    <a:pt x="4406" y="4716"/>
                  </a:cubicBezTo>
                  <a:lnTo>
                    <a:pt x="4454" y="4680"/>
                  </a:lnTo>
                  <a:cubicBezTo>
                    <a:pt x="4478" y="4644"/>
                    <a:pt x="4489" y="4621"/>
                    <a:pt x="4489" y="4585"/>
                  </a:cubicBezTo>
                  <a:cubicBezTo>
                    <a:pt x="4489" y="4561"/>
                    <a:pt x="4513" y="4525"/>
                    <a:pt x="4513" y="4513"/>
                  </a:cubicBezTo>
                  <a:cubicBezTo>
                    <a:pt x="4513" y="4501"/>
                    <a:pt x="4525" y="4478"/>
                    <a:pt x="4525" y="4466"/>
                  </a:cubicBezTo>
                  <a:cubicBezTo>
                    <a:pt x="4525" y="4454"/>
                    <a:pt x="4525" y="4442"/>
                    <a:pt x="4537" y="4418"/>
                  </a:cubicBezTo>
                  <a:cubicBezTo>
                    <a:pt x="4537" y="4406"/>
                    <a:pt x="4549" y="4382"/>
                    <a:pt x="4549" y="4359"/>
                  </a:cubicBezTo>
                  <a:lnTo>
                    <a:pt x="4549" y="4347"/>
                  </a:lnTo>
                  <a:cubicBezTo>
                    <a:pt x="4811" y="3609"/>
                    <a:pt x="5442" y="3049"/>
                    <a:pt x="6216" y="2894"/>
                  </a:cubicBezTo>
                  <a:lnTo>
                    <a:pt x="6240" y="2894"/>
                  </a:lnTo>
                  <a:cubicBezTo>
                    <a:pt x="6371" y="2858"/>
                    <a:pt x="6513" y="2847"/>
                    <a:pt x="6668" y="2847"/>
                  </a:cubicBezTo>
                  <a:lnTo>
                    <a:pt x="6799" y="2847"/>
                  </a:lnTo>
                  <a:cubicBezTo>
                    <a:pt x="7228" y="2870"/>
                    <a:pt x="7633" y="3013"/>
                    <a:pt x="7978" y="3263"/>
                  </a:cubicBezTo>
                  <a:cubicBezTo>
                    <a:pt x="8012" y="3287"/>
                    <a:pt x="8051" y="3300"/>
                    <a:pt x="8090" y="3300"/>
                  </a:cubicBezTo>
                  <a:cubicBezTo>
                    <a:pt x="8148" y="3300"/>
                    <a:pt x="8204" y="3272"/>
                    <a:pt x="8240" y="3216"/>
                  </a:cubicBezTo>
                  <a:cubicBezTo>
                    <a:pt x="8299" y="3132"/>
                    <a:pt x="8288" y="3013"/>
                    <a:pt x="8204" y="2954"/>
                  </a:cubicBezTo>
                  <a:cubicBezTo>
                    <a:pt x="7847" y="2680"/>
                    <a:pt x="7430" y="2513"/>
                    <a:pt x="6978" y="2477"/>
                  </a:cubicBezTo>
                  <a:cubicBezTo>
                    <a:pt x="6966" y="2311"/>
                    <a:pt x="6930" y="2132"/>
                    <a:pt x="6894" y="1977"/>
                  </a:cubicBezTo>
                  <a:cubicBezTo>
                    <a:pt x="6728" y="1418"/>
                    <a:pt x="6371" y="894"/>
                    <a:pt x="5894" y="537"/>
                  </a:cubicBezTo>
                  <a:cubicBezTo>
                    <a:pt x="5418" y="180"/>
                    <a:pt x="4847" y="1"/>
                    <a:pt x="4251" y="1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8372;p60">
              <a:extLst>
                <a:ext uri="{FF2B5EF4-FFF2-40B4-BE49-F238E27FC236}">
                  <a16:creationId xmlns:a16="http://schemas.microsoft.com/office/drawing/2014/main" id="{F33460B0-B63B-B4A4-D74B-6BBEFB6AAF66}"/>
                </a:ext>
              </a:extLst>
            </p:cNvPr>
            <p:cNvSpPr/>
            <p:nvPr/>
          </p:nvSpPr>
          <p:spPr>
            <a:xfrm>
              <a:off x="1670026" y="3377672"/>
              <a:ext cx="104760" cy="175256"/>
            </a:xfrm>
            <a:custGeom>
              <a:avLst/>
              <a:gdLst/>
              <a:ahLst/>
              <a:cxnLst/>
              <a:rect l="l" t="t" r="r" b="b"/>
              <a:pathLst>
                <a:path w="3299" h="5519" extrusionOk="0">
                  <a:moveTo>
                    <a:pt x="210" y="0"/>
                  </a:moveTo>
                  <a:cubicBezTo>
                    <a:pt x="169" y="0"/>
                    <a:pt x="128" y="15"/>
                    <a:pt x="96" y="41"/>
                  </a:cubicBezTo>
                  <a:cubicBezTo>
                    <a:pt x="1" y="113"/>
                    <a:pt x="1" y="232"/>
                    <a:pt x="60" y="303"/>
                  </a:cubicBezTo>
                  <a:cubicBezTo>
                    <a:pt x="394" y="708"/>
                    <a:pt x="572" y="1196"/>
                    <a:pt x="572" y="1720"/>
                  </a:cubicBezTo>
                  <a:lnTo>
                    <a:pt x="572" y="1780"/>
                  </a:lnTo>
                  <a:lnTo>
                    <a:pt x="572" y="1791"/>
                  </a:lnTo>
                  <a:cubicBezTo>
                    <a:pt x="572" y="1851"/>
                    <a:pt x="596" y="1910"/>
                    <a:pt x="644" y="1958"/>
                  </a:cubicBezTo>
                  <a:cubicBezTo>
                    <a:pt x="676" y="1990"/>
                    <a:pt x="718" y="2000"/>
                    <a:pt x="760" y="2000"/>
                  </a:cubicBezTo>
                  <a:cubicBezTo>
                    <a:pt x="781" y="2000"/>
                    <a:pt x="803" y="1998"/>
                    <a:pt x="822" y="1994"/>
                  </a:cubicBezTo>
                  <a:cubicBezTo>
                    <a:pt x="977" y="1946"/>
                    <a:pt x="1132" y="1922"/>
                    <a:pt x="1299" y="1922"/>
                  </a:cubicBezTo>
                  <a:cubicBezTo>
                    <a:pt x="2192" y="1922"/>
                    <a:pt x="2906" y="2649"/>
                    <a:pt x="2906" y="3530"/>
                  </a:cubicBezTo>
                  <a:cubicBezTo>
                    <a:pt x="2906" y="4423"/>
                    <a:pt x="2180" y="5125"/>
                    <a:pt x="1299" y="5125"/>
                  </a:cubicBezTo>
                  <a:lnTo>
                    <a:pt x="1168" y="5125"/>
                  </a:lnTo>
                  <a:cubicBezTo>
                    <a:pt x="1061" y="5125"/>
                    <a:pt x="977" y="5220"/>
                    <a:pt x="977" y="5328"/>
                  </a:cubicBezTo>
                  <a:cubicBezTo>
                    <a:pt x="977" y="5423"/>
                    <a:pt x="1061" y="5518"/>
                    <a:pt x="1168" y="5518"/>
                  </a:cubicBezTo>
                  <a:lnTo>
                    <a:pt x="1299" y="5518"/>
                  </a:lnTo>
                  <a:cubicBezTo>
                    <a:pt x="2394" y="5518"/>
                    <a:pt x="3287" y="4625"/>
                    <a:pt x="3287" y="3518"/>
                  </a:cubicBezTo>
                  <a:cubicBezTo>
                    <a:pt x="3299" y="2422"/>
                    <a:pt x="2406" y="1529"/>
                    <a:pt x="1299" y="1529"/>
                  </a:cubicBezTo>
                  <a:cubicBezTo>
                    <a:pt x="1180" y="1529"/>
                    <a:pt x="1061" y="1541"/>
                    <a:pt x="942" y="1565"/>
                  </a:cubicBezTo>
                  <a:cubicBezTo>
                    <a:pt x="918" y="1029"/>
                    <a:pt x="703" y="494"/>
                    <a:pt x="358" y="77"/>
                  </a:cubicBezTo>
                  <a:cubicBezTo>
                    <a:pt x="318" y="24"/>
                    <a:pt x="263" y="0"/>
                    <a:pt x="210" y="0"/>
                  </a:cubicBezTo>
                  <a:close/>
                </a:path>
              </a:pathLst>
            </a:custGeom>
            <a:grpFill/>
            <a:ln>
              <a:solidFill>
                <a:srgbClr val="1C60A9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5" name="Google Shape;740;p54">
            <a:extLst>
              <a:ext uri="{FF2B5EF4-FFF2-40B4-BE49-F238E27FC236}">
                <a16:creationId xmlns:a16="http://schemas.microsoft.com/office/drawing/2014/main" id="{D8A7BBED-77B6-73CA-F211-FC4C9AE37A1A}"/>
              </a:ext>
            </a:extLst>
          </p:cNvPr>
          <p:cNvGrpSpPr/>
          <p:nvPr/>
        </p:nvGrpSpPr>
        <p:grpSpPr>
          <a:xfrm>
            <a:off x="5954388" y="3755997"/>
            <a:ext cx="1070469" cy="470200"/>
            <a:chOff x="4920150" y="1977875"/>
            <a:chExt cx="68525" cy="33800"/>
          </a:xfrm>
          <a:solidFill>
            <a:schemeClr val="bg1">
              <a:lumMod val="85000"/>
            </a:schemeClr>
          </a:solidFill>
        </p:grpSpPr>
        <p:sp>
          <p:nvSpPr>
            <p:cNvPr id="2096" name="Google Shape;741;p54">
              <a:extLst>
                <a:ext uri="{FF2B5EF4-FFF2-40B4-BE49-F238E27FC236}">
                  <a16:creationId xmlns:a16="http://schemas.microsoft.com/office/drawing/2014/main" id="{965B97C2-C815-DC0B-09E0-F09E52D6BB38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742;p54">
              <a:extLst>
                <a:ext uri="{FF2B5EF4-FFF2-40B4-BE49-F238E27FC236}">
                  <a16:creationId xmlns:a16="http://schemas.microsoft.com/office/drawing/2014/main" id="{0165B252-76ED-2683-B01A-FAB13336CC56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743;p54">
              <a:extLst>
                <a:ext uri="{FF2B5EF4-FFF2-40B4-BE49-F238E27FC236}">
                  <a16:creationId xmlns:a16="http://schemas.microsoft.com/office/drawing/2014/main" id="{FCB41427-B857-4FC2-A1D5-82E191BB7700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7382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E323-E2FC-88D1-3C0C-957B1B66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EC8700-FF2E-137C-FB12-87BAFCCD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variables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FFE61-3864-B6AD-9F89-33383883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3</a:t>
            </a:fld>
            <a:endParaRPr lang="de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8FBA0F-0509-31F8-2020-06698BB83648}"/>
              </a:ext>
            </a:extLst>
          </p:cNvPr>
          <p:cNvSpPr txBox="1"/>
          <p:nvPr/>
        </p:nvSpPr>
        <p:spPr>
          <a:xfrm>
            <a:off x="6760799" y="1547809"/>
            <a:ext cx="3890131" cy="306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From external data: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School holidays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Holidays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Voting Days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VPI (</a:t>
            </a:r>
            <a:r>
              <a:rPr lang="en-GB" dirty="0">
                <a:solidFill>
                  <a:schemeClr val="bg2"/>
                </a:solidFill>
              </a:rPr>
              <a:t>Consumer Price Index </a:t>
            </a:r>
            <a:r>
              <a:rPr lang="en-GB" sz="2800" dirty="0">
                <a:solidFill>
                  <a:schemeClr val="bg2"/>
                </a:solidFill>
                <a:latin typeface="Aptos" panose="02110004020202020204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Precipitation</a:t>
            </a: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7D1B86-1B18-0EB4-975D-E3928A23D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3345" y="1547809"/>
            <a:ext cx="3890131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From given data: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Day of the week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Weekend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New Years Eve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Advent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Saturday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Sunday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Days until NYE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6 Season Score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BCD2A-18DC-3E97-67D9-91008E963526}"/>
              </a:ext>
            </a:extLst>
          </p:cNvPr>
          <p:cNvSpPr txBox="1"/>
          <p:nvPr/>
        </p:nvSpPr>
        <p:spPr>
          <a:xfrm>
            <a:off x="3778474" y="6538912"/>
            <a:ext cx="444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01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D0D0D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1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animClr clrSpc="rgb" dir="cw">
                                      <p:cBhvr>
                                        <p:cTn id="13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animClr clrSpc="rgb" dir="cw">
                                      <p:cBhvr>
                                        <p:cTn id="14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4D94D8"/>
                                      </p:to>
                                    </p:animClr>
                                    <p:set>
                                      <p:cBhvr>
                                        <p:cTn id="14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20F1-980F-7A77-63B6-88238327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variables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39D27-0C08-CFD5-F68C-DDF61C86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4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299683-6A2E-9766-C092-9F38A873A9E3}"/>
              </a:ext>
            </a:extLst>
          </p:cNvPr>
          <p:cNvSpPr txBox="1"/>
          <p:nvPr/>
        </p:nvSpPr>
        <p:spPr>
          <a:xfrm>
            <a:off x="3778474" y="6538912"/>
            <a:ext cx="444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4469D7-0090-1FCF-6B44-1C04D1D9F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74" y="2548328"/>
            <a:ext cx="5507276" cy="32854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DD2F842-E89B-1B52-F36F-3706BB779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3" y="2404761"/>
            <a:ext cx="517388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60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7B0D-EF2E-FEDD-F1E2-6440161D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F2A1-9367-240D-9693-174005C6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 Bar charts for 1 variable for each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6EF36-5AB5-BD61-139A-5291CC7A30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Working on it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DF633-6812-8C55-E3F4-025DC1E1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5</a:t>
            </a:fld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868E9-8533-9A2A-29CA-130A8F95F610}"/>
              </a:ext>
            </a:extLst>
          </p:cNvPr>
          <p:cNvSpPr txBox="1"/>
          <p:nvPr/>
        </p:nvSpPr>
        <p:spPr>
          <a:xfrm>
            <a:off x="3778474" y="6538912"/>
            <a:ext cx="444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B71C7A-B971-5E9E-E5F2-720ABA542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262" y="1824036"/>
            <a:ext cx="6597072" cy="43513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5D9625-8304-B8A6-4306-D2881F22B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96120"/>
            <a:ext cx="5069662" cy="251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8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76D5-C7B4-E40F-5BDC-AA62E4D05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983CE159-AB5E-3564-ADCC-3586A6348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58" r="32418"/>
          <a:stretch>
            <a:fillRect/>
          </a:stretch>
        </p:blipFill>
        <p:spPr>
          <a:xfrm>
            <a:off x="1564711" y="1042220"/>
            <a:ext cx="2509983" cy="54264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DA1677B-1775-2F66-B2C7-4AAA3525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5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Dealing with missing values</a:t>
            </a:r>
            <a:endParaRPr lang="en-GB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15E52-F87E-EFBD-34EA-F7F059C8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3894" y="6356350"/>
            <a:ext cx="2743200" cy="365125"/>
          </a:xfrm>
        </p:spPr>
        <p:txBody>
          <a:bodyPr/>
          <a:lstStyle/>
          <a:p>
            <a:fld id="{FEE63D0E-FFEF-43D1-BE35-64C33AF422FD}" type="slidenum">
              <a:rPr lang="de-DE" smtClean="0"/>
              <a:t>6</a:t>
            </a:fld>
            <a:endParaRPr lang="de-D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01AD2ED-3A51-9DE5-49E5-75B7FCA04630}"/>
                  </a:ext>
                </a:extLst>
              </p14:cNvPr>
              <p14:cNvContentPartPr/>
              <p14:nvPr/>
            </p14:nvContentPartPr>
            <p14:xfrm>
              <a:off x="1647527" y="1718669"/>
              <a:ext cx="213840" cy="371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01AD2ED-3A51-9DE5-49E5-75B7FCA046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4887" y="1655669"/>
                <a:ext cx="339480" cy="4975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D203F17B-14B3-F46F-A831-3C1CA77BA052}"/>
              </a:ext>
            </a:extLst>
          </p:cNvPr>
          <p:cNvSpPr/>
          <p:nvPr/>
        </p:nvSpPr>
        <p:spPr>
          <a:xfrm>
            <a:off x="3080466" y="2595145"/>
            <a:ext cx="1077701" cy="3670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05C3E1A-4F1A-8274-73BC-085F537593F8}"/>
                  </a:ext>
                </a:extLst>
              </p14:cNvPr>
              <p14:cNvContentPartPr/>
              <p14:nvPr/>
            </p14:nvContentPartPr>
            <p14:xfrm>
              <a:off x="1434047" y="1657764"/>
              <a:ext cx="347040" cy="747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05C3E1A-4F1A-8274-73BC-085F537593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1047" y="1595124"/>
                <a:ext cx="472680" cy="87264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EAD83F74-96A3-975A-76D9-342F87F0688A}"/>
              </a:ext>
            </a:extLst>
          </p:cNvPr>
          <p:cNvSpPr/>
          <p:nvPr/>
        </p:nvSpPr>
        <p:spPr>
          <a:xfrm rot="19278674">
            <a:off x="3256161" y="1955350"/>
            <a:ext cx="1198112" cy="601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2D58D3-291A-AE3E-1819-3061AAF3FEAD}"/>
              </a:ext>
            </a:extLst>
          </p:cNvPr>
          <p:cNvGrpSpPr/>
          <p:nvPr/>
        </p:nvGrpSpPr>
        <p:grpSpPr>
          <a:xfrm>
            <a:off x="4040027" y="1038183"/>
            <a:ext cx="6901606" cy="5437232"/>
            <a:chOff x="3546733" y="1038183"/>
            <a:chExt cx="6901606" cy="5437232"/>
          </a:xfrm>
        </p:grpSpPr>
        <p:grpSp>
          <p:nvGrpSpPr>
            <p:cNvPr id="18" name="Google Shape;740;p54">
              <a:extLst>
                <a:ext uri="{FF2B5EF4-FFF2-40B4-BE49-F238E27FC236}">
                  <a16:creationId xmlns:a16="http://schemas.microsoft.com/office/drawing/2014/main" id="{2A36DE71-3B58-E6D1-BF9E-050E328235D0}"/>
                </a:ext>
              </a:extLst>
            </p:cNvPr>
            <p:cNvGrpSpPr/>
            <p:nvPr/>
          </p:nvGrpSpPr>
          <p:grpSpPr>
            <a:xfrm>
              <a:off x="4040948" y="3952992"/>
              <a:ext cx="1070454" cy="470200"/>
              <a:chOff x="4920150" y="1977875"/>
              <a:chExt cx="68524" cy="33800"/>
            </a:xfrm>
            <a:solidFill>
              <a:schemeClr val="bg1">
                <a:lumMod val="85000"/>
              </a:schemeClr>
            </a:solidFill>
          </p:grpSpPr>
          <p:sp>
            <p:nvSpPr>
              <p:cNvPr id="19" name="Google Shape;741;p54">
                <a:extLst>
                  <a:ext uri="{FF2B5EF4-FFF2-40B4-BE49-F238E27FC236}">
                    <a16:creationId xmlns:a16="http://schemas.microsoft.com/office/drawing/2014/main" id="{70EDAB0E-C43F-4EA6-B5A9-44081DC251BF}"/>
                  </a:ext>
                </a:extLst>
              </p:cNvPr>
              <p:cNvSpPr/>
              <p:nvPr/>
            </p:nvSpPr>
            <p:spPr>
              <a:xfrm>
                <a:off x="4949174" y="1977875"/>
                <a:ext cx="39500" cy="33800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1352" extrusionOk="0">
                    <a:moveTo>
                      <a:pt x="891" y="1"/>
                    </a:moveTo>
                    <a:cubicBezTo>
                      <a:pt x="859" y="1"/>
                      <a:pt x="828" y="12"/>
                      <a:pt x="801" y="32"/>
                    </a:cubicBezTo>
                    <a:cubicBezTo>
                      <a:pt x="743" y="89"/>
                      <a:pt x="743" y="176"/>
                      <a:pt x="801" y="226"/>
                    </a:cubicBezTo>
                    <a:lnTo>
                      <a:pt x="1039" y="472"/>
                    </a:lnTo>
                    <a:cubicBezTo>
                      <a:pt x="1068" y="493"/>
                      <a:pt x="1046" y="544"/>
                      <a:pt x="1010" y="544"/>
                    </a:cubicBezTo>
                    <a:lnTo>
                      <a:pt x="152" y="544"/>
                    </a:lnTo>
                    <a:cubicBezTo>
                      <a:pt x="147" y="543"/>
                      <a:pt x="143" y="543"/>
                      <a:pt x="139" y="543"/>
                    </a:cubicBezTo>
                    <a:cubicBezTo>
                      <a:pt x="66" y="543"/>
                      <a:pt x="14" y="598"/>
                      <a:pt x="8" y="666"/>
                    </a:cubicBezTo>
                    <a:cubicBezTo>
                      <a:pt x="0" y="746"/>
                      <a:pt x="65" y="811"/>
                      <a:pt x="145" y="811"/>
                    </a:cubicBezTo>
                    <a:lnTo>
                      <a:pt x="1010" y="811"/>
                    </a:lnTo>
                    <a:cubicBezTo>
                      <a:pt x="1046" y="811"/>
                      <a:pt x="1068" y="854"/>
                      <a:pt x="1039" y="883"/>
                    </a:cubicBezTo>
                    <a:lnTo>
                      <a:pt x="808" y="1113"/>
                    </a:lnTo>
                    <a:cubicBezTo>
                      <a:pt x="758" y="1164"/>
                      <a:pt x="751" y="1251"/>
                      <a:pt x="794" y="1308"/>
                    </a:cubicBezTo>
                    <a:cubicBezTo>
                      <a:pt x="823" y="1337"/>
                      <a:pt x="859" y="1351"/>
                      <a:pt x="895" y="1351"/>
                    </a:cubicBezTo>
                    <a:cubicBezTo>
                      <a:pt x="931" y="1351"/>
                      <a:pt x="967" y="1337"/>
                      <a:pt x="996" y="1308"/>
                    </a:cubicBezTo>
                    <a:lnTo>
                      <a:pt x="1522" y="774"/>
                    </a:lnTo>
                    <a:cubicBezTo>
                      <a:pt x="1580" y="717"/>
                      <a:pt x="1573" y="630"/>
                      <a:pt x="1522" y="573"/>
                    </a:cubicBezTo>
                    <a:lnTo>
                      <a:pt x="996" y="46"/>
                    </a:lnTo>
                    <a:cubicBezTo>
                      <a:pt x="965" y="15"/>
                      <a:pt x="928" y="1"/>
                      <a:pt x="8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42;p54">
                <a:extLst>
                  <a:ext uri="{FF2B5EF4-FFF2-40B4-BE49-F238E27FC236}">
                    <a16:creationId xmlns:a16="http://schemas.microsoft.com/office/drawing/2014/main" id="{28DBEFDC-52FD-0E02-1F06-3E3ABE2721C9}"/>
                  </a:ext>
                </a:extLst>
              </p:cNvPr>
              <p:cNvSpPr/>
              <p:nvPr/>
            </p:nvSpPr>
            <p:spPr>
              <a:xfrm>
                <a:off x="4931875" y="1991450"/>
                <a:ext cx="128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68" extrusionOk="0">
                    <a:moveTo>
                      <a:pt x="180" y="1"/>
                    </a:moveTo>
                    <a:cubicBezTo>
                      <a:pt x="0" y="1"/>
                      <a:pt x="0" y="268"/>
                      <a:pt x="180" y="268"/>
                    </a:cubicBezTo>
                    <a:lnTo>
                      <a:pt x="332" y="268"/>
                    </a:lnTo>
                    <a:cubicBezTo>
                      <a:pt x="512" y="268"/>
                      <a:pt x="512" y="1"/>
                      <a:pt x="3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743;p54">
                <a:extLst>
                  <a:ext uri="{FF2B5EF4-FFF2-40B4-BE49-F238E27FC236}">
                    <a16:creationId xmlns:a16="http://schemas.microsoft.com/office/drawing/2014/main" id="{CF91E581-077F-2DF6-9411-A2E652FE9C0D}"/>
                  </a:ext>
                </a:extLst>
              </p:cNvPr>
              <p:cNvSpPr/>
              <p:nvPr/>
            </p:nvSpPr>
            <p:spPr>
              <a:xfrm>
                <a:off x="4920150" y="1991450"/>
                <a:ext cx="9225" cy="670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268" extrusionOk="0">
                    <a:moveTo>
                      <a:pt x="181" y="1"/>
                    </a:moveTo>
                    <a:cubicBezTo>
                      <a:pt x="0" y="1"/>
                      <a:pt x="0" y="268"/>
                      <a:pt x="181" y="268"/>
                    </a:cubicBezTo>
                    <a:lnTo>
                      <a:pt x="195" y="268"/>
                    </a:lnTo>
                    <a:cubicBezTo>
                      <a:pt x="368" y="268"/>
                      <a:pt x="368" y="1"/>
                      <a:pt x="19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FF75847-BF53-EFE2-2184-37039C5C6E7D}"/>
                </a:ext>
              </a:extLst>
            </p:cNvPr>
            <p:cNvGrpSpPr/>
            <p:nvPr/>
          </p:nvGrpSpPr>
          <p:grpSpPr>
            <a:xfrm>
              <a:off x="5751199" y="1038183"/>
              <a:ext cx="4697140" cy="5437232"/>
              <a:chOff x="3698850" y="985966"/>
              <a:chExt cx="4697140" cy="5437232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1FBD6FF7-781E-2ECE-CCEA-E502A60CDDB5}"/>
                  </a:ext>
                </a:extLst>
              </p:cNvPr>
              <p:cNvGrpSpPr/>
              <p:nvPr/>
            </p:nvGrpSpPr>
            <p:grpSpPr>
              <a:xfrm>
                <a:off x="3698850" y="996742"/>
                <a:ext cx="3393640" cy="5426456"/>
                <a:chOff x="3698850" y="996742"/>
                <a:chExt cx="3393640" cy="5426456"/>
              </a:xfrm>
            </p:grpSpPr>
            <p:pic>
              <p:nvPicPr>
                <p:cNvPr id="22" name="Grafik 14">
                  <a:extLst>
                    <a:ext uri="{FF2B5EF4-FFF2-40B4-BE49-F238E27FC236}">
                      <a16:creationId xmlns:a16="http://schemas.microsoft.com/office/drawing/2014/main" id="{6B8FA9B1-23E5-4010-10C3-C7BB34D8B7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070" r="50936"/>
                <a:stretch>
                  <a:fillRect/>
                </a:stretch>
              </p:blipFill>
              <p:spPr>
                <a:xfrm>
                  <a:off x="4070619" y="996742"/>
                  <a:ext cx="2326654" cy="5426456"/>
                </a:xfrm>
                <a:prstGeom prst="rect">
                  <a:avLst/>
                </a:prstGeom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3AA9D39-95D0-7F02-02CA-D5259C397047}"/>
                    </a:ext>
                  </a:extLst>
                </p:cNvPr>
                <p:cNvSpPr/>
                <p:nvPr/>
              </p:nvSpPr>
              <p:spPr>
                <a:xfrm>
                  <a:off x="5419169" y="2492877"/>
                  <a:ext cx="1040458" cy="386063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8FAB814-79D4-D09D-C974-1BED32BBDA72}"/>
                    </a:ext>
                  </a:extLst>
                </p:cNvPr>
                <p:cNvSpPr/>
                <p:nvPr/>
              </p:nvSpPr>
              <p:spPr>
                <a:xfrm rot="2812795">
                  <a:off x="5857525" y="1670389"/>
                  <a:ext cx="1058779" cy="14111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1CEB394-F168-3373-E3FA-4B3B05E7F93D}"/>
                    </a:ext>
                  </a:extLst>
                </p:cNvPr>
                <p:cNvSpPr/>
                <p:nvPr/>
              </p:nvSpPr>
              <p:spPr>
                <a:xfrm rot="2812795">
                  <a:off x="3995515" y="1184665"/>
                  <a:ext cx="670216" cy="126354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243E862-DD4C-12F0-C941-70CA2E4CF4B1}"/>
                  </a:ext>
                </a:extLst>
              </p:cNvPr>
              <p:cNvGrpSpPr/>
              <p:nvPr/>
            </p:nvGrpSpPr>
            <p:grpSpPr>
              <a:xfrm>
                <a:off x="5650982" y="985966"/>
                <a:ext cx="2745008" cy="5426456"/>
                <a:chOff x="5650982" y="985966"/>
                <a:chExt cx="2745008" cy="5426456"/>
              </a:xfrm>
            </p:grpSpPr>
            <p:sp>
              <p:nvSpPr>
                <p:cNvPr id="29" name="Plus Sign 28">
                  <a:extLst>
                    <a:ext uri="{FF2B5EF4-FFF2-40B4-BE49-F238E27FC236}">
                      <a16:creationId xmlns:a16="http://schemas.microsoft.com/office/drawing/2014/main" id="{8DCB5702-F720-C462-93B8-BBA751F9B8C1}"/>
                    </a:ext>
                  </a:extLst>
                </p:cNvPr>
                <p:cNvSpPr/>
                <p:nvPr/>
              </p:nvSpPr>
              <p:spPr>
                <a:xfrm>
                  <a:off x="5650982" y="4086202"/>
                  <a:ext cx="432975" cy="378772"/>
                </a:xfrm>
                <a:prstGeom prst="mathPlus">
                  <a:avLst/>
                </a:prstGeom>
                <a:solidFill>
                  <a:srgbClr val="1C60A9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02AE34B9-428E-93E3-3CDF-04AF1068ACB8}"/>
                    </a:ext>
                  </a:extLst>
                </p:cNvPr>
                <p:cNvGrpSpPr/>
                <p:nvPr/>
              </p:nvGrpSpPr>
              <p:grpSpPr>
                <a:xfrm>
                  <a:off x="6179611" y="985966"/>
                  <a:ext cx="2216379" cy="5426456"/>
                  <a:chOff x="6179611" y="985966"/>
                  <a:chExt cx="2216379" cy="5426456"/>
                </a:xfrm>
              </p:grpSpPr>
              <p:pic>
                <p:nvPicPr>
                  <p:cNvPr id="30" name="Grafik 14">
                    <a:extLst>
                      <a:ext uri="{FF2B5EF4-FFF2-40B4-BE49-F238E27FC236}">
                        <a16:creationId xmlns:a16="http://schemas.microsoft.com/office/drawing/2014/main" id="{055E1642-1D52-4B0D-AC94-8D7CC308F3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78551"/>
                  <a:stretch>
                    <a:fillRect/>
                  </a:stretch>
                </p:blipFill>
                <p:spPr>
                  <a:xfrm>
                    <a:off x="6474590" y="985966"/>
                    <a:ext cx="1921400" cy="5426456"/>
                  </a:xfrm>
                  <a:prstGeom prst="rect">
                    <a:avLst/>
                  </a:prstGeom>
                </p:spPr>
              </p:pic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D422767F-AF32-06D8-09C0-D1F5262CD09A}"/>
                      </a:ext>
                    </a:extLst>
                  </p:cNvPr>
                  <p:cNvSpPr/>
                  <p:nvPr/>
                </p:nvSpPr>
                <p:spPr>
                  <a:xfrm rot="2812795">
                    <a:off x="6810034" y="1103430"/>
                    <a:ext cx="225360" cy="14862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6DEC262C-E918-EBE0-D2F4-AE85CAA34CB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7291951" y="2460777"/>
                    <a:ext cx="1002457" cy="379968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9A6702-8210-70BE-6C63-0FBE4E42E758}"/>
                </a:ext>
              </a:extLst>
            </p:cNvPr>
            <p:cNvSpPr txBox="1"/>
            <p:nvPr/>
          </p:nvSpPr>
          <p:spPr>
            <a:xfrm>
              <a:off x="3546733" y="3539887"/>
              <a:ext cx="1982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Imputation</a:t>
              </a:r>
              <a:endParaRPr lang="en-GB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365EC40-4383-E05F-1116-971DFDA7AF03}"/>
              </a:ext>
            </a:extLst>
          </p:cNvPr>
          <p:cNvSpPr txBox="1"/>
          <p:nvPr/>
        </p:nvSpPr>
        <p:spPr>
          <a:xfrm>
            <a:off x="3778474" y="6538912"/>
            <a:ext cx="444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06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95C09-80A5-2AAD-E849-D44AE127D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A0FE8B-EBF8-F253-14B5-51C406AC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3894" y="6356350"/>
            <a:ext cx="2743200" cy="365125"/>
          </a:xfrm>
        </p:spPr>
        <p:txBody>
          <a:bodyPr/>
          <a:lstStyle/>
          <a:p>
            <a:fld id="{FEE63D0E-FFEF-43D1-BE35-64C33AF422FD}" type="slidenum">
              <a:rPr lang="de-DE" smtClean="0"/>
              <a:t>7</a:t>
            </a:fld>
            <a:endParaRPr lang="de-DE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5F1D86-F054-C0C7-0C83-B5E08974F030}"/>
                  </a:ext>
                </a:extLst>
              </p14:cNvPr>
              <p14:cNvContentPartPr/>
              <p14:nvPr/>
            </p14:nvContentPartPr>
            <p14:xfrm>
              <a:off x="2369426" y="1718669"/>
              <a:ext cx="213840" cy="371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5F1D86-F054-C0C7-0C83-B5E08974F0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6426" y="1655669"/>
                <a:ext cx="339480" cy="49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E35B6ECA-E31F-6054-6D62-93D14E62DE45}"/>
              </a:ext>
            </a:extLst>
          </p:cNvPr>
          <p:cNvGrpSpPr/>
          <p:nvPr/>
        </p:nvGrpSpPr>
        <p:grpSpPr>
          <a:xfrm>
            <a:off x="897389" y="929894"/>
            <a:ext cx="4595558" cy="5426456"/>
            <a:chOff x="3698850" y="996742"/>
            <a:chExt cx="4595558" cy="54264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A4FC97-2A4B-11A3-4A00-947FFDE92E6E}"/>
                </a:ext>
              </a:extLst>
            </p:cNvPr>
            <p:cNvGrpSpPr/>
            <p:nvPr/>
          </p:nvGrpSpPr>
          <p:grpSpPr>
            <a:xfrm>
              <a:off x="3698850" y="996742"/>
              <a:ext cx="3393640" cy="5426456"/>
              <a:chOff x="3698850" y="996742"/>
              <a:chExt cx="3393640" cy="5426456"/>
            </a:xfrm>
          </p:grpSpPr>
          <p:pic>
            <p:nvPicPr>
              <p:cNvPr id="22" name="Grafik 14">
                <a:extLst>
                  <a:ext uri="{FF2B5EF4-FFF2-40B4-BE49-F238E27FC236}">
                    <a16:creationId xmlns:a16="http://schemas.microsoft.com/office/drawing/2014/main" id="{D43F8B25-925B-E708-7000-77875C38CB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70" r="50936"/>
              <a:stretch>
                <a:fillRect/>
              </a:stretch>
            </p:blipFill>
            <p:spPr>
              <a:xfrm>
                <a:off x="4070619" y="996742"/>
                <a:ext cx="2326654" cy="5426456"/>
              </a:xfrm>
              <a:prstGeom prst="rect">
                <a:avLst/>
              </a:prstGeom>
            </p:spPr>
          </p:pic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33ACC6B-D50F-78D3-40E3-664258D4EAFB}"/>
                  </a:ext>
                </a:extLst>
              </p:cNvPr>
              <p:cNvSpPr/>
              <p:nvPr/>
            </p:nvSpPr>
            <p:spPr>
              <a:xfrm>
                <a:off x="5419169" y="2492877"/>
                <a:ext cx="1040458" cy="3860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577B111-BB54-2CD4-BB94-F942146706A5}"/>
                  </a:ext>
                </a:extLst>
              </p:cNvPr>
              <p:cNvSpPr/>
              <p:nvPr/>
            </p:nvSpPr>
            <p:spPr>
              <a:xfrm rot="2812795">
                <a:off x="5857525" y="1670389"/>
                <a:ext cx="1058779" cy="1411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549EDED-B7D3-EDFD-8AAB-4A0793DBE78E}"/>
                  </a:ext>
                </a:extLst>
              </p:cNvPr>
              <p:cNvSpPr/>
              <p:nvPr/>
            </p:nvSpPr>
            <p:spPr>
              <a:xfrm rot="2812795">
                <a:off x="3995515" y="1184665"/>
                <a:ext cx="670216" cy="12635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286413E-EAD1-1B7D-5FD7-1A7CD9E456DF}"/>
                </a:ext>
              </a:extLst>
            </p:cNvPr>
            <p:cNvGrpSpPr/>
            <p:nvPr/>
          </p:nvGrpSpPr>
          <p:grpSpPr>
            <a:xfrm>
              <a:off x="6179611" y="1733853"/>
              <a:ext cx="2114797" cy="4526605"/>
              <a:chOff x="6179611" y="1733853"/>
              <a:chExt cx="2114797" cy="4526605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B2F1729-197C-A2AF-AB1E-8333AAA1692C}"/>
                  </a:ext>
                </a:extLst>
              </p:cNvPr>
              <p:cNvSpPr/>
              <p:nvPr/>
            </p:nvSpPr>
            <p:spPr>
              <a:xfrm rot="2812795">
                <a:off x="6810034" y="1103430"/>
                <a:ext cx="225360" cy="14862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979381A-B618-2062-8189-AAF5A27847B0}"/>
                  </a:ext>
                </a:extLst>
              </p:cNvPr>
              <p:cNvSpPr/>
              <p:nvPr/>
            </p:nvSpPr>
            <p:spPr>
              <a:xfrm rot="10800000">
                <a:off x="7291951" y="2460777"/>
                <a:ext cx="1002457" cy="37996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4" name="Grafik 14">
            <a:extLst>
              <a:ext uri="{FF2B5EF4-FFF2-40B4-BE49-F238E27FC236}">
                <a16:creationId xmlns:a16="http://schemas.microsoft.com/office/drawing/2014/main" id="{AA2031BB-7E68-561C-793D-7D875B0DC2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2"/>
          <a:stretch>
            <a:fillRect/>
          </a:stretch>
        </p:blipFill>
        <p:spPr>
          <a:xfrm>
            <a:off x="3926063" y="2812387"/>
            <a:ext cx="4305143" cy="2689781"/>
          </a:xfrm>
          <a:prstGeom prst="rect">
            <a:avLst/>
          </a:prstGeom>
        </p:spPr>
      </p:pic>
      <p:sp>
        <p:nvSpPr>
          <p:cNvPr id="7" name="Google Shape;741;p54">
            <a:extLst>
              <a:ext uri="{FF2B5EF4-FFF2-40B4-BE49-F238E27FC236}">
                <a16:creationId xmlns:a16="http://schemas.microsoft.com/office/drawing/2014/main" id="{B8964C78-2DD9-204D-D6A9-B1ABD6C716FE}"/>
              </a:ext>
            </a:extLst>
          </p:cNvPr>
          <p:cNvSpPr/>
          <p:nvPr/>
        </p:nvSpPr>
        <p:spPr>
          <a:xfrm>
            <a:off x="3172803" y="3971180"/>
            <a:ext cx="617053" cy="470200"/>
          </a:xfrm>
          <a:custGeom>
            <a:avLst/>
            <a:gdLst/>
            <a:ahLst/>
            <a:cxnLst/>
            <a:rect l="l" t="t" r="r" b="b"/>
            <a:pathLst>
              <a:path w="1580" h="1352" extrusionOk="0">
                <a:moveTo>
                  <a:pt x="891" y="1"/>
                </a:moveTo>
                <a:cubicBezTo>
                  <a:pt x="859" y="1"/>
                  <a:pt x="828" y="12"/>
                  <a:pt x="801" y="32"/>
                </a:cubicBezTo>
                <a:cubicBezTo>
                  <a:pt x="743" y="89"/>
                  <a:pt x="743" y="176"/>
                  <a:pt x="801" y="226"/>
                </a:cubicBezTo>
                <a:lnTo>
                  <a:pt x="1039" y="472"/>
                </a:lnTo>
                <a:cubicBezTo>
                  <a:pt x="1068" y="493"/>
                  <a:pt x="1046" y="544"/>
                  <a:pt x="1010" y="544"/>
                </a:cubicBezTo>
                <a:lnTo>
                  <a:pt x="152" y="544"/>
                </a:lnTo>
                <a:cubicBezTo>
                  <a:pt x="147" y="543"/>
                  <a:pt x="143" y="543"/>
                  <a:pt x="139" y="543"/>
                </a:cubicBezTo>
                <a:cubicBezTo>
                  <a:pt x="66" y="543"/>
                  <a:pt x="14" y="598"/>
                  <a:pt x="8" y="666"/>
                </a:cubicBezTo>
                <a:cubicBezTo>
                  <a:pt x="0" y="746"/>
                  <a:pt x="65" y="811"/>
                  <a:pt x="145" y="811"/>
                </a:cubicBezTo>
                <a:lnTo>
                  <a:pt x="1010" y="811"/>
                </a:lnTo>
                <a:cubicBezTo>
                  <a:pt x="1046" y="811"/>
                  <a:pt x="1068" y="854"/>
                  <a:pt x="1039" y="883"/>
                </a:cubicBezTo>
                <a:lnTo>
                  <a:pt x="808" y="1113"/>
                </a:lnTo>
                <a:cubicBezTo>
                  <a:pt x="758" y="1164"/>
                  <a:pt x="751" y="1251"/>
                  <a:pt x="794" y="1308"/>
                </a:cubicBezTo>
                <a:cubicBezTo>
                  <a:pt x="823" y="1337"/>
                  <a:pt x="859" y="1351"/>
                  <a:pt x="895" y="1351"/>
                </a:cubicBezTo>
                <a:cubicBezTo>
                  <a:pt x="931" y="1351"/>
                  <a:pt x="967" y="1337"/>
                  <a:pt x="996" y="1308"/>
                </a:cubicBezTo>
                <a:lnTo>
                  <a:pt x="1522" y="774"/>
                </a:lnTo>
                <a:cubicBezTo>
                  <a:pt x="1580" y="717"/>
                  <a:pt x="1573" y="630"/>
                  <a:pt x="1522" y="573"/>
                </a:cubicBezTo>
                <a:lnTo>
                  <a:pt x="996" y="46"/>
                </a:lnTo>
                <a:cubicBezTo>
                  <a:pt x="965" y="15"/>
                  <a:pt x="928" y="1"/>
                  <a:pt x="891" y="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41;p54">
            <a:extLst>
              <a:ext uri="{FF2B5EF4-FFF2-40B4-BE49-F238E27FC236}">
                <a16:creationId xmlns:a16="http://schemas.microsoft.com/office/drawing/2014/main" id="{63C354AE-1F67-0CA3-0632-73EB24BDD573}"/>
              </a:ext>
            </a:extLst>
          </p:cNvPr>
          <p:cNvSpPr/>
          <p:nvPr/>
        </p:nvSpPr>
        <p:spPr>
          <a:xfrm>
            <a:off x="8442063" y="3786444"/>
            <a:ext cx="617053" cy="470200"/>
          </a:xfrm>
          <a:custGeom>
            <a:avLst/>
            <a:gdLst/>
            <a:ahLst/>
            <a:cxnLst/>
            <a:rect l="l" t="t" r="r" b="b"/>
            <a:pathLst>
              <a:path w="1580" h="1352" extrusionOk="0">
                <a:moveTo>
                  <a:pt x="891" y="1"/>
                </a:moveTo>
                <a:cubicBezTo>
                  <a:pt x="859" y="1"/>
                  <a:pt x="828" y="12"/>
                  <a:pt x="801" y="32"/>
                </a:cubicBezTo>
                <a:cubicBezTo>
                  <a:pt x="743" y="89"/>
                  <a:pt x="743" y="176"/>
                  <a:pt x="801" y="226"/>
                </a:cubicBezTo>
                <a:lnTo>
                  <a:pt x="1039" y="472"/>
                </a:lnTo>
                <a:cubicBezTo>
                  <a:pt x="1068" y="493"/>
                  <a:pt x="1046" y="544"/>
                  <a:pt x="1010" y="544"/>
                </a:cubicBezTo>
                <a:lnTo>
                  <a:pt x="152" y="544"/>
                </a:lnTo>
                <a:cubicBezTo>
                  <a:pt x="147" y="543"/>
                  <a:pt x="143" y="543"/>
                  <a:pt x="139" y="543"/>
                </a:cubicBezTo>
                <a:cubicBezTo>
                  <a:pt x="66" y="543"/>
                  <a:pt x="14" y="598"/>
                  <a:pt x="8" y="666"/>
                </a:cubicBezTo>
                <a:cubicBezTo>
                  <a:pt x="0" y="746"/>
                  <a:pt x="65" y="811"/>
                  <a:pt x="145" y="811"/>
                </a:cubicBezTo>
                <a:lnTo>
                  <a:pt x="1010" y="811"/>
                </a:lnTo>
                <a:cubicBezTo>
                  <a:pt x="1046" y="811"/>
                  <a:pt x="1068" y="854"/>
                  <a:pt x="1039" y="883"/>
                </a:cubicBezTo>
                <a:lnTo>
                  <a:pt x="808" y="1113"/>
                </a:lnTo>
                <a:cubicBezTo>
                  <a:pt x="758" y="1164"/>
                  <a:pt x="751" y="1251"/>
                  <a:pt x="794" y="1308"/>
                </a:cubicBezTo>
                <a:cubicBezTo>
                  <a:pt x="823" y="1337"/>
                  <a:pt x="859" y="1351"/>
                  <a:pt x="895" y="1351"/>
                </a:cubicBezTo>
                <a:cubicBezTo>
                  <a:pt x="931" y="1351"/>
                  <a:pt x="967" y="1337"/>
                  <a:pt x="996" y="1308"/>
                </a:cubicBezTo>
                <a:lnTo>
                  <a:pt x="1522" y="774"/>
                </a:lnTo>
                <a:cubicBezTo>
                  <a:pt x="1580" y="717"/>
                  <a:pt x="1573" y="630"/>
                  <a:pt x="1522" y="573"/>
                </a:cubicBezTo>
                <a:lnTo>
                  <a:pt x="996" y="46"/>
                </a:lnTo>
                <a:cubicBezTo>
                  <a:pt x="965" y="15"/>
                  <a:pt x="928" y="1"/>
                  <a:pt x="891" y="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97BE1-FC5D-7442-24C2-FDEAEC49F58A}"/>
              </a:ext>
            </a:extLst>
          </p:cNvPr>
          <p:cNvSpPr txBox="1"/>
          <p:nvPr/>
        </p:nvSpPr>
        <p:spPr>
          <a:xfrm>
            <a:off x="9389367" y="2923235"/>
            <a:ext cx="21722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Wettercode_0</a:t>
            </a:r>
          </a:p>
          <a:p>
            <a:r>
              <a:rPr lang="en-GB" dirty="0"/>
              <a:t>Wettercode_5</a:t>
            </a:r>
          </a:p>
          <a:p>
            <a:r>
              <a:rPr lang="en-GB" dirty="0"/>
              <a:t>Wettercode_10</a:t>
            </a:r>
          </a:p>
          <a:p>
            <a:r>
              <a:rPr lang="en-GB" dirty="0"/>
              <a:t>Wettercode_21</a:t>
            </a:r>
          </a:p>
          <a:p>
            <a:r>
              <a:rPr lang="en-GB" dirty="0"/>
              <a:t>Wettercode_61</a:t>
            </a:r>
          </a:p>
          <a:p>
            <a:r>
              <a:rPr lang="en-GB" dirty="0"/>
              <a:t>Wettercode_63</a:t>
            </a:r>
          </a:p>
          <a:p>
            <a:r>
              <a:rPr lang="en-GB" dirty="0" err="1"/>
              <a:t>Wettercode_NAN</a:t>
            </a:r>
            <a:endParaRPr lang="en-GB" dirty="0"/>
          </a:p>
          <a:p>
            <a:r>
              <a:rPr lang="en-GB" dirty="0" err="1"/>
              <a:t>Wettercode_REST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DB7B1AB-58C3-1E8F-8D9F-A984EC8E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5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Dealing with missing values</a:t>
            </a:r>
            <a:endParaRPr lang="en-GB" sz="3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FC25D8-D11B-A7CE-BD9D-6C8275F0289E}"/>
              </a:ext>
            </a:extLst>
          </p:cNvPr>
          <p:cNvSpPr txBox="1"/>
          <p:nvPr/>
        </p:nvSpPr>
        <p:spPr>
          <a:xfrm>
            <a:off x="4740681" y="1948859"/>
            <a:ext cx="305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Weather code distribution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05B253-4052-6ABC-53FA-6AF69E3CDA79}"/>
              </a:ext>
            </a:extLst>
          </p:cNvPr>
          <p:cNvSpPr txBox="1"/>
          <p:nvPr/>
        </p:nvSpPr>
        <p:spPr>
          <a:xfrm>
            <a:off x="9134373" y="1948859"/>
            <a:ext cx="3057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One-Hot Encoding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1BC01-A05E-750F-C2DE-497CA9583F5D}"/>
              </a:ext>
            </a:extLst>
          </p:cNvPr>
          <p:cNvSpPr txBox="1"/>
          <p:nvPr/>
        </p:nvSpPr>
        <p:spPr>
          <a:xfrm>
            <a:off x="3778474" y="6538912"/>
            <a:ext cx="444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58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A4B5-0372-3F67-AC94-F9B608C8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D65F4FD0-79E5-DD61-39EE-6E078DDBB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2"/>
          <a:stretch>
            <a:fillRect/>
          </a:stretch>
        </p:blipFill>
        <p:spPr>
          <a:xfrm>
            <a:off x="1925782" y="0"/>
            <a:ext cx="9357306" cy="661221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39EA7D-2944-F8BB-0790-D8DDA37C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8</a:t>
            </a:fld>
            <a:endParaRPr lang="de-DE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5A58E2A5-3356-6A14-2858-DE769781C175}"/>
              </a:ext>
            </a:extLst>
          </p:cNvPr>
          <p:cNvSpPr/>
          <p:nvPr/>
        </p:nvSpPr>
        <p:spPr>
          <a:xfrm>
            <a:off x="1475507" y="1939634"/>
            <a:ext cx="378036" cy="2499893"/>
          </a:xfrm>
          <a:prstGeom prst="leftBrace">
            <a:avLst/>
          </a:prstGeom>
          <a:ln>
            <a:solidFill>
              <a:srgbClr val="1C6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D68E482B-25D3-BFFD-5058-9F8CCFD17552}"/>
              </a:ext>
            </a:extLst>
          </p:cNvPr>
          <p:cNvSpPr/>
          <p:nvPr/>
        </p:nvSpPr>
        <p:spPr>
          <a:xfrm>
            <a:off x="1544822" y="5618019"/>
            <a:ext cx="310248" cy="738331"/>
          </a:xfrm>
          <a:prstGeom prst="leftBrace">
            <a:avLst/>
          </a:prstGeom>
          <a:ln>
            <a:solidFill>
              <a:srgbClr val="1C6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2C5493EA-DEB7-819D-7281-6B735A768E18}"/>
              </a:ext>
            </a:extLst>
          </p:cNvPr>
          <p:cNvSpPr/>
          <p:nvPr/>
        </p:nvSpPr>
        <p:spPr>
          <a:xfrm>
            <a:off x="1543295" y="4558749"/>
            <a:ext cx="310248" cy="940048"/>
          </a:xfrm>
          <a:prstGeom prst="leftBrace">
            <a:avLst/>
          </a:prstGeom>
          <a:ln>
            <a:solidFill>
              <a:srgbClr val="1C60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8049DF-BB52-0205-2974-D21A3E754FED}"/>
              </a:ext>
            </a:extLst>
          </p:cNvPr>
          <p:cNvSpPr txBox="1"/>
          <p:nvPr/>
        </p:nvSpPr>
        <p:spPr>
          <a:xfrm>
            <a:off x="461792" y="2960839"/>
            <a:ext cx="977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C60A9"/>
                </a:solidFill>
              </a:rPr>
              <a:t>Training</a:t>
            </a:r>
            <a:endParaRPr lang="en-GB" dirty="0">
              <a:solidFill>
                <a:srgbClr val="1C60A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11579-C895-7DF8-1988-703A8AA4EBB0}"/>
              </a:ext>
            </a:extLst>
          </p:cNvPr>
          <p:cNvSpPr txBox="1"/>
          <p:nvPr/>
        </p:nvSpPr>
        <p:spPr>
          <a:xfrm>
            <a:off x="322253" y="4844107"/>
            <a:ext cx="1208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C60A9"/>
                </a:solidFill>
              </a:rPr>
              <a:t>Validation</a:t>
            </a:r>
            <a:endParaRPr lang="en-GB" dirty="0">
              <a:solidFill>
                <a:srgbClr val="1C60A9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071FED-4548-AEA1-975F-4AB58A7DCE8B}"/>
              </a:ext>
            </a:extLst>
          </p:cNvPr>
          <p:cNvSpPr txBox="1"/>
          <p:nvPr/>
        </p:nvSpPr>
        <p:spPr>
          <a:xfrm>
            <a:off x="921084" y="5802518"/>
            <a:ext cx="608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C60A9"/>
                </a:solidFill>
              </a:rPr>
              <a:t>Test</a:t>
            </a:r>
            <a:endParaRPr lang="en-GB" dirty="0">
              <a:solidFill>
                <a:srgbClr val="1C60A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5B894-46ED-89DF-D13F-791365A0EE07}"/>
              </a:ext>
            </a:extLst>
          </p:cNvPr>
          <p:cNvSpPr txBox="1"/>
          <p:nvPr/>
        </p:nvSpPr>
        <p:spPr>
          <a:xfrm>
            <a:off x="150785" y="155195"/>
            <a:ext cx="170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C60A9"/>
                </a:solidFill>
              </a:rPr>
              <a:t>Full dataset</a:t>
            </a:r>
            <a:endParaRPr lang="en-GB" b="1" dirty="0">
              <a:solidFill>
                <a:srgbClr val="1C60A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9083A-BE9E-C0CF-FE77-0E29A0512F8C}"/>
              </a:ext>
            </a:extLst>
          </p:cNvPr>
          <p:cNvSpPr txBox="1"/>
          <p:nvPr/>
        </p:nvSpPr>
        <p:spPr>
          <a:xfrm>
            <a:off x="3778474" y="6538912"/>
            <a:ext cx="4440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52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FECE9-6D9E-9E37-8E1A-D2A31B44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FC09F-B539-64E9-5BFB-2E19E12C3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129" y="2057399"/>
            <a:ext cx="8813341" cy="274860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 descr="A screenshot of a document&#10;&#10;AI-generated content may be incorrect.">
            <a:extLst>
              <a:ext uri="{FF2B5EF4-FFF2-40B4-BE49-F238E27FC236}">
                <a16:creationId xmlns:a16="http://schemas.microsoft.com/office/drawing/2014/main" id="{A8BF8A03-866A-5220-CC7A-B17CC0387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88" y="136525"/>
            <a:ext cx="9671823" cy="64819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32A68-DF30-BC59-EC1F-A33CEECB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9</a:t>
            </a:fld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1033C-67BC-9764-3CEC-05688F5CF210}"/>
              </a:ext>
            </a:extLst>
          </p:cNvPr>
          <p:cNvSpPr txBox="1"/>
          <p:nvPr/>
        </p:nvSpPr>
        <p:spPr>
          <a:xfrm>
            <a:off x="3778474" y="6538912"/>
            <a:ext cx="4635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Baseline Model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22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B400-4531-965B-0FD5-CF4AAA00F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8B247F-76E9-DEE9-CA7F-0A59B568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4E58EE-AC79-B367-77AB-BC04DD1F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10</a:t>
            </a:fld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2FAF9E-1FFA-DA77-35CD-2C61E5B0CA7D}"/>
              </a:ext>
            </a:extLst>
          </p:cNvPr>
          <p:cNvSpPr txBox="1"/>
          <p:nvPr/>
        </p:nvSpPr>
        <p:spPr>
          <a:xfrm>
            <a:off x="9739510" y="4378949"/>
            <a:ext cx="143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0.18081</a:t>
            </a:r>
            <a:endParaRPr lang="en-GB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625916-4F74-97B2-CA33-FED8ADFE5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9429" y="3985911"/>
            <a:ext cx="1019892" cy="395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8297CAB-61F1-1C7C-66B3-09BA0BBB0A31}"/>
              </a:ext>
            </a:extLst>
          </p:cNvPr>
          <p:cNvSpPr/>
          <p:nvPr/>
        </p:nvSpPr>
        <p:spPr>
          <a:xfrm>
            <a:off x="196375" y="2953463"/>
            <a:ext cx="2060293" cy="1792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dirty="0"/>
              <a:t>Temperature</a:t>
            </a:r>
          </a:p>
          <a:p>
            <a:pPr algn="ctr">
              <a:lnSpc>
                <a:spcPct val="150000"/>
              </a:lnSpc>
            </a:pPr>
            <a:r>
              <a:rPr lang="en-GB" dirty="0"/>
              <a:t>School Holidays</a:t>
            </a:r>
          </a:p>
          <a:p>
            <a:pPr algn="ctr">
              <a:lnSpc>
                <a:spcPct val="150000"/>
              </a:lnSpc>
            </a:pPr>
            <a:r>
              <a:rPr lang="en-GB" dirty="0"/>
              <a:t>Weekday</a:t>
            </a:r>
          </a:p>
          <a:p>
            <a:pPr algn="ctr">
              <a:lnSpc>
                <a:spcPct val="150000"/>
              </a:lnSpc>
              <a:buNone/>
            </a:pPr>
            <a:r>
              <a:rPr lang="en-GB" dirty="0"/>
              <a:t>Days till NYE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3AA277-D541-DE90-66F5-A68FDC064C74}"/>
              </a:ext>
            </a:extLst>
          </p:cNvPr>
          <p:cNvSpPr txBox="1"/>
          <p:nvPr/>
        </p:nvSpPr>
        <p:spPr>
          <a:xfrm>
            <a:off x="196374" y="2515034"/>
            <a:ext cx="2060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Features</a:t>
            </a:r>
            <a:r>
              <a:rPr lang="en-GB" b="1" dirty="0"/>
              <a:t>: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1BD9003-8AD4-D5FB-41BC-91B720CD5C6D}"/>
              </a:ext>
            </a:extLst>
          </p:cNvPr>
          <p:cNvCxnSpPr>
            <a:cxnSpLocks/>
          </p:cNvCxnSpPr>
          <p:nvPr/>
        </p:nvCxnSpPr>
        <p:spPr>
          <a:xfrm>
            <a:off x="2453833" y="3507912"/>
            <a:ext cx="382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DFB0E2C-9FD8-79D9-69B0-9DF171AE3039}"/>
              </a:ext>
            </a:extLst>
          </p:cNvPr>
          <p:cNvSpPr/>
          <p:nvPr/>
        </p:nvSpPr>
        <p:spPr>
          <a:xfrm>
            <a:off x="9139345" y="1842912"/>
            <a:ext cx="2640059" cy="1792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sz="2400" b="1" dirty="0"/>
              <a:t>MAPE</a:t>
            </a:r>
          </a:p>
          <a:p>
            <a:pPr>
              <a:lnSpc>
                <a:spcPct val="150000"/>
              </a:lnSpc>
            </a:pPr>
            <a:r>
              <a:rPr lang="en-GB" dirty="0"/>
              <a:t>Validation Data :</a:t>
            </a:r>
          </a:p>
          <a:p>
            <a:pPr>
              <a:lnSpc>
                <a:spcPct val="150000"/>
              </a:lnSpc>
            </a:pPr>
            <a:r>
              <a:rPr lang="en-GB" dirty="0"/>
              <a:t>Train + Validation Data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F71682-02EA-F19A-3E6C-75AA394FC281}"/>
              </a:ext>
            </a:extLst>
          </p:cNvPr>
          <p:cNvSpPr txBox="1"/>
          <p:nvPr/>
        </p:nvSpPr>
        <p:spPr>
          <a:xfrm>
            <a:off x="3778474" y="6538912"/>
            <a:ext cx="4635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ED84A-8214-F476-2F15-1D9828652E0C}"/>
              </a:ext>
            </a:extLst>
          </p:cNvPr>
          <p:cNvSpPr txBox="1"/>
          <p:nvPr/>
        </p:nvSpPr>
        <p:spPr>
          <a:xfrm>
            <a:off x="3245824" y="1922363"/>
            <a:ext cx="4716147" cy="305635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Paste code here: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ts val="1425"/>
              </a:lnSpc>
              <a:buNone/>
            </a:pPr>
            <a:endParaRPr lang="en-GB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90E0F4-DC7B-FB01-B08C-F930D3D2B032}"/>
              </a:ext>
            </a:extLst>
          </p:cNvPr>
          <p:cNvCxnSpPr>
            <a:cxnSpLocks/>
          </p:cNvCxnSpPr>
          <p:nvPr/>
        </p:nvCxnSpPr>
        <p:spPr>
          <a:xfrm>
            <a:off x="8527530" y="3555229"/>
            <a:ext cx="382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70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9186-8DD2-F2F3-41CA-BE44A614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2B8699-E311-9187-C1AC-56C9719D6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929A91-8570-BD06-B796-F9EC9935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11</a:t>
            </a:fld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2B335-4EB5-7EF3-EAB4-4A7EF923E377}"/>
              </a:ext>
            </a:extLst>
          </p:cNvPr>
          <p:cNvSpPr/>
          <p:nvPr/>
        </p:nvSpPr>
        <p:spPr>
          <a:xfrm>
            <a:off x="3223067" y="1614930"/>
            <a:ext cx="5914664" cy="44438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Loss plot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42BF3-911B-A19B-2353-A151027BAD55}"/>
              </a:ext>
            </a:extLst>
          </p:cNvPr>
          <p:cNvSpPr txBox="1"/>
          <p:nvPr/>
        </p:nvSpPr>
        <p:spPr>
          <a:xfrm>
            <a:off x="3778474" y="6538912"/>
            <a:ext cx="4635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666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64AD-5C9C-B64F-ACB0-3B9B5747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id="{6A3DCC3C-6E46-8D08-E5D0-19B827906B36}"/>
              </a:ext>
            </a:extLst>
          </p:cNvPr>
          <p:cNvSpPr txBox="1"/>
          <p:nvPr/>
        </p:nvSpPr>
        <p:spPr>
          <a:xfrm>
            <a:off x="3778474" y="6538912"/>
            <a:ext cx="4635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444C1B-9106-107A-1D4A-BD7B375C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32D0B0-2DA6-0D44-E1A2-50AE3E40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12</a:t>
            </a:fld>
            <a:endParaRPr lang="de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E986F-5C86-F6CB-4D08-9708A6683000}"/>
              </a:ext>
            </a:extLst>
          </p:cNvPr>
          <p:cNvSpPr/>
          <p:nvPr/>
        </p:nvSpPr>
        <p:spPr>
          <a:xfrm>
            <a:off x="5410565" y="1775931"/>
            <a:ext cx="5914664" cy="44438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MAPEs per prod group + </a:t>
            </a:r>
          </a:p>
          <a:p>
            <a:pPr algn="ctr"/>
            <a:r>
              <a:rPr lang="en-US" dirty="0"/>
              <a:t>real vs predicted data for validation dataset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8E0325-FA2E-8937-2771-8B89B3D9E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93373"/>
              </p:ext>
            </p:extLst>
          </p:nvPr>
        </p:nvGraphicFramePr>
        <p:xfrm>
          <a:off x="838200" y="2642838"/>
          <a:ext cx="3264465" cy="231259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47584">
                  <a:extLst>
                    <a:ext uri="{9D8B030D-6E8A-4147-A177-3AD203B41FA5}">
                      <a16:colId xmlns:a16="http://schemas.microsoft.com/office/drawing/2014/main" val="241538181"/>
                    </a:ext>
                  </a:extLst>
                </a:gridCol>
                <a:gridCol w="1516881">
                  <a:extLst>
                    <a:ext uri="{9D8B030D-6E8A-4147-A177-3AD203B41FA5}">
                      <a16:colId xmlns:a16="http://schemas.microsoft.com/office/drawing/2014/main" val="1421997003"/>
                    </a:ext>
                  </a:extLst>
                </a:gridCol>
              </a:tblGrid>
              <a:tr h="4125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MAPE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346026"/>
                  </a:ext>
                </a:extLst>
              </a:tr>
              <a:tr h="3835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996522"/>
                  </a:ext>
                </a:extLst>
              </a:tr>
              <a:tr h="3835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336285"/>
                  </a:ext>
                </a:extLst>
              </a:tr>
              <a:tr h="3835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70930"/>
                  </a:ext>
                </a:extLst>
              </a:tr>
              <a:tr h="3835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154091"/>
                  </a:ext>
                </a:extLst>
              </a:tr>
              <a:tr h="2831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651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74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6418-DACC-03E6-70E9-910D5564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6724B-10E4-4F2B-608F-1474C2F84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567442" cy="4351338"/>
          </a:xfrm>
        </p:spPr>
        <p:txBody>
          <a:bodyPr/>
          <a:lstStyle/>
          <a:p>
            <a:r>
              <a:rPr lang="en-US" dirty="0"/>
              <a:t>Select features</a:t>
            </a:r>
            <a:r>
              <a:rPr lang="en-GB" dirty="0"/>
              <a:t> &amp;  Prevent overfitting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 Predict Group 6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Biggest Improvement: Removing variables, simplifying the model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1F11F-D0B4-0880-8C7A-A219022B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13</a:t>
            </a:fld>
            <a:endParaRPr lang="de-DE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92427E-BECE-FD08-4379-58F3CDFB7E67}"/>
              </a:ext>
            </a:extLst>
          </p:cNvPr>
          <p:cNvSpPr txBox="1"/>
          <p:nvPr/>
        </p:nvSpPr>
        <p:spPr>
          <a:xfrm>
            <a:off x="3778474" y="6538912"/>
            <a:ext cx="4635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</a:t>
            </a:r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175437-8C7C-BB7F-11BE-9634A9F03D77}"/>
              </a:ext>
            </a:extLst>
          </p:cNvPr>
          <p:cNvGrpSpPr/>
          <p:nvPr/>
        </p:nvGrpSpPr>
        <p:grpSpPr>
          <a:xfrm>
            <a:off x="9097729" y="1177488"/>
            <a:ext cx="1595548" cy="1756414"/>
            <a:chOff x="5966837" y="4599935"/>
            <a:chExt cx="1595548" cy="17564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26D9126-266E-3DB6-1D11-ECE38E8A5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95"/>
            <a:stretch>
              <a:fillRect/>
            </a:stretch>
          </p:blipFill>
          <p:spPr>
            <a:xfrm>
              <a:off x="5966837" y="4894728"/>
              <a:ext cx="1595548" cy="146162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5F0E0502-D00B-2C08-CA98-AAB364AFDD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5708" y="4599935"/>
              <a:ext cx="737806" cy="286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694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0084-D7A7-62F1-062E-5C42CD41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C43FBD30-F6D2-0D6E-D6C2-EEDB360D7B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9" r="4849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266;p38">
            <a:extLst>
              <a:ext uri="{FF2B5EF4-FFF2-40B4-BE49-F238E27FC236}">
                <a16:creationId xmlns:a16="http://schemas.microsoft.com/office/drawing/2014/main" id="{124B0421-0034-C78B-6D27-9C5A86FB8D51}"/>
              </a:ext>
            </a:extLst>
          </p:cNvPr>
          <p:cNvSpPr txBox="1">
            <a:spLocks/>
          </p:cNvSpPr>
          <p:nvPr/>
        </p:nvSpPr>
        <p:spPr>
          <a:xfrm>
            <a:off x="2548062" y="2548685"/>
            <a:ext cx="7095875" cy="1505957"/>
          </a:xfrm>
          <a:prstGeom prst="rect">
            <a:avLst/>
          </a:prstGeom>
          <a:noFill/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8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1" name="Google Shape;266;p38">
            <a:extLst>
              <a:ext uri="{FF2B5EF4-FFF2-40B4-BE49-F238E27FC236}">
                <a16:creationId xmlns:a16="http://schemas.microsoft.com/office/drawing/2014/main" id="{0FB18EF1-BF79-8F49-B29D-3EEC09589374}"/>
              </a:ext>
            </a:extLst>
          </p:cNvPr>
          <p:cNvSpPr txBox="1">
            <a:spLocks/>
          </p:cNvSpPr>
          <p:nvPr/>
        </p:nvSpPr>
        <p:spPr>
          <a:xfrm>
            <a:off x="2548062" y="3856752"/>
            <a:ext cx="7095875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500316-09E9-72E5-CDDB-B463A913335B}"/>
              </a:ext>
            </a:extLst>
          </p:cNvPr>
          <p:cNvSpPr txBox="1"/>
          <p:nvPr/>
        </p:nvSpPr>
        <p:spPr>
          <a:xfrm>
            <a:off x="2044364" y="6418661"/>
            <a:ext cx="8103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 to Data Science and Machine Learning • </a:t>
            </a:r>
            <a:r>
              <a:rPr lang="en-GB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SoSe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2025 • Group 3</a:t>
            </a:r>
          </a:p>
        </p:txBody>
      </p:sp>
    </p:spTree>
    <p:extLst>
      <p:ext uri="{BB962C8B-B14F-4D97-AF65-F5344CB8AC3E}">
        <p14:creationId xmlns:p14="http://schemas.microsoft.com/office/powerpoint/2010/main" val="179914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3B43-3D6D-3AE0-F5E9-98AFED55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42" y="2766218"/>
            <a:ext cx="10515600" cy="1325563"/>
          </a:xfrm>
        </p:spPr>
        <p:txBody>
          <a:bodyPr/>
          <a:lstStyle/>
          <a:p>
            <a:r>
              <a:rPr lang="en-US" dirty="0"/>
              <a:t>AFTER THIS SLIDE ALL THE UNUSED SLIDES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2FF45-92F5-0725-AFA6-3D55E0F6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175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4A2B-A563-8D25-F91D-B6DE7CF0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0C0CFE69-0BC5-10DD-F40C-9F5B47C9DB68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Neural Net – Results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4329CC1-3E24-3DC9-0709-E6D9815CD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6885" y="605696"/>
            <a:ext cx="9298230" cy="597530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057835F-B58A-52D7-C8E6-AEE22F08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5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Dealing with missing values – option 1</a:t>
            </a:r>
            <a:endParaRPr lang="en-GB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32F49-F7DC-0B5C-D84D-FF46B6A8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0653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8F26B-EEDF-1BF1-8C15-F07959807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2FA2429B-E532-AE85-3480-7E523B4796F2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Neural Net – Results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F7EEF2A-24E4-134A-46AC-94E8AD3E4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6885" y="666332"/>
            <a:ext cx="9298230" cy="58540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E60219-8521-0713-2F56-D31622D0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17</a:t>
            </a:fld>
            <a:endParaRPr lang="de-DE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4BC40D21-5199-EE84-FCBB-876E1155AA80}"/>
              </a:ext>
            </a:extLst>
          </p:cNvPr>
          <p:cNvSpPr txBox="1">
            <a:spLocks/>
          </p:cNvSpPr>
          <p:nvPr/>
        </p:nvSpPr>
        <p:spPr>
          <a:xfrm>
            <a:off x="229515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Dealing with missing values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007710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9FEE-4B08-6D63-A4FF-795B22CCF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861558DA-2C5D-8E45-448B-CFFE926B267E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Neural Net – Results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63918E8-E9CF-0F0E-2A7E-23840F8B1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6670" y="-129755"/>
            <a:ext cx="9878660" cy="648610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B44934-BC28-F8ED-5A8B-24681CB3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893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D1E63-5B3F-2587-2ECC-07EE6B2AF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4F6CDAE-08BF-E64C-E50F-6340BA704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484" y="0"/>
            <a:ext cx="11263031" cy="6858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C5634A94-AF14-F23F-C63C-4A4C613B1048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Results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9C6682-84CB-F038-85C4-D1C6DCB1F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1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9B6C-ADC8-1490-E36A-62E075121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2986ED7-7F81-65BF-4E62-4C08801FB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05" y="470780"/>
            <a:ext cx="11278789" cy="5639395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53BAA4C1-94F1-F42B-C394-4865B7E235D6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Results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A0711C-F0D9-1923-8FB4-A707908C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705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4050B-A8AD-D44C-BDB5-DAEF07483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00947-4782-3164-3F43-60FB01F5A96C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Neural Net –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7" name="Grafik 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A9C2870-49A5-522B-CF9B-96A71E25A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9"/>
          <a:stretch>
            <a:fillRect/>
          </a:stretch>
        </p:blipFill>
        <p:spPr>
          <a:xfrm>
            <a:off x="389487" y="-3886"/>
            <a:ext cx="11413025" cy="65848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679775-37E7-FC6D-85B4-1280FF07D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0275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FF10-0B82-01EB-A019-DEB90DCF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A4ED14-29E3-5C36-80A2-23319535962A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Neural Net –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Grafik 2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760DB1F9-1757-7989-082A-781614D70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6"/>
          <a:stretch>
            <a:fillRect/>
          </a:stretch>
        </p:blipFill>
        <p:spPr>
          <a:xfrm>
            <a:off x="250257" y="0"/>
            <a:ext cx="11691486" cy="658100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ADBEA1-31EF-4EE4-0BB8-AD1312F0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119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07184-045D-5BD1-0E31-4047B75F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F0A034E7-CA71-E98C-AD52-B30D33186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948" y="0"/>
            <a:ext cx="11210371" cy="6861838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7971549-C282-0F3B-E751-188C3029DF94}"/>
              </a:ext>
            </a:extLst>
          </p:cNvPr>
          <p:cNvSpPr txBox="1"/>
          <p:nvPr/>
        </p:nvSpPr>
        <p:spPr>
          <a:xfrm>
            <a:off x="3524719" y="6581001"/>
            <a:ext cx="5142562" cy="276999"/>
          </a:xfrm>
          <a:prstGeom prst="rect">
            <a:avLst/>
          </a:prstGeom>
          <a:solidFill>
            <a:schemeClr val="bg1"/>
          </a:solidFill>
          <a:ln w="127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Results 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23DCC-0A33-6888-F9D2-759E9829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321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F7B3-7E84-BDB7-EE3A-B17750D6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CE0A70-2ABA-2EA3-66C5-4004AAA2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B9EAB-729B-286E-841D-270974CD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3D0E-FFEF-43D1-BE35-64C33AF422FD}" type="slidenum">
              <a:rPr lang="de-DE" smtClean="0"/>
              <a:t>24</a:t>
            </a:fld>
            <a:endParaRPr lang="de-DE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95C1F2-6B30-2F7A-2778-93CE3CD56B4A}"/>
              </a:ext>
            </a:extLst>
          </p:cNvPr>
          <p:cNvSpPr txBox="1"/>
          <p:nvPr/>
        </p:nvSpPr>
        <p:spPr>
          <a:xfrm>
            <a:off x="10152105" y="4233003"/>
            <a:ext cx="143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0.18081</a:t>
            </a:r>
            <a:endParaRPr lang="en-GB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847370-ACF1-23B8-CEEC-E23AFA3FB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024" y="3839965"/>
            <a:ext cx="1019892" cy="395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2CA44A45-087A-C3C2-2F29-FDA950B19C98}"/>
              </a:ext>
            </a:extLst>
          </p:cNvPr>
          <p:cNvGrpSpPr/>
          <p:nvPr/>
        </p:nvGrpSpPr>
        <p:grpSpPr>
          <a:xfrm>
            <a:off x="3071962" y="1900172"/>
            <a:ext cx="6694805" cy="3425895"/>
            <a:chOff x="2058288" y="1690688"/>
            <a:chExt cx="6694805" cy="34258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3F92DB-B4B3-6464-9CD4-B65592C22CEA}"/>
                </a:ext>
              </a:extLst>
            </p:cNvPr>
            <p:cNvSpPr txBox="1"/>
            <p:nvPr/>
          </p:nvSpPr>
          <p:spPr>
            <a:xfrm>
              <a:off x="2058288" y="4680283"/>
              <a:ext cx="15079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Input Layer</a:t>
              </a:r>
              <a:endParaRPr lang="en-GB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913096-728C-D0D0-6365-4D06BEE23123}"/>
                </a:ext>
              </a:extLst>
            </p:cNvPr>
            <p:cNvSpPr txBox="1"/>
            <p:nvPr/>
          </p:nvSpPr>
          <p:spPr>
            <a:xfrm>
              <a:off x="4448910" y="4734732"/>
              <a:ext cx="19050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Hidden Layers</a:t>
              </a:r>
              <a:endParaRPr lang="en-GB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088378-9253-79E8-0EE5-53520AD1447D}"/>
                </a:ext>
              </a:extLst>
            </p:cNvPr>
            <p:cNvSpPr txBox="1"/>
            <p:nvPr/>
          </p:nvSpPr>
          <p:spPr>
            <a:xfrm>
              <a:off x="6931654" y="4747251"/>
              <a:ext cx="1821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/>
                <a:t>Output Layer</a:t>
              </a:r>
              <a:endParaRPr lang="en-GB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DEA889-EEB6-9B48-CC68-CDB7B6A3F6EB}"/>
                </a:ext>
              </a:extLst>
            </p:cNvPr>
            <p:cNvSpPr/>
            <p:nvPr/>
          </p:nvSpPr>
          <p:spPr>
            <a:xfrm>
              <a:off x="7291135" y="2177716"/>
              <a:ext cx="1050757" cy="250256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923FBCA-5D58-5EF5-9D30-BCE8F455DF56}"/>
                </a:ext>
              </a:extLst>
            </p:cNvPr>
            <p:cNvGrpSpPr/>
            <p:nvPr/>
          </p:nvGrpSpPr>
          <p:grpSpPr>
            <a:xfrm>
              <a:off x="2379133" y="2305550"/>
              <a:ext cx="866273" cy="1648872"/>
              <a:chOff x="1766256" y="2357642"/>
              <a:chExt cx="866273" cy="164887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3061EA9-C787-4181-650A-EEFD172A41E1}"/>
                  </a:ext>
                </a:extLst>
              </p:cNvPr>
              <p:cNvSpPr/>
              <p:nvPr/>
            </p:nvSpPr>
            <p:spPr>
              <a:xfrm>
                <a:off x="1766256" y="2851483"/>
                <a:ext cx="866273" cy="1155031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E7341E-6507-1310-04A4-F3A16DA1B026}"/>
                  </a:ext>
                </a:extLst>
              </p:cNvPr>
              <p:cNvSpPr txBox="1"/>
              <p:nvPr/>
            </p:nvSpPr>
            <p:spPr>
              <a:xfrm>
                <a:off x="1980817" y="2357642"/>
                <a:ext cx="437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  <a:endParaRPr lang="en-GB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97B4C84-D3AF-6BD7-C794-550C32EFB3E6}"/>
                </a:ext>
              </a:extLst>
            </p:cNvPr>
            <p:cNvGrpSpPr/>
            <p:nvPr/>
          </p:nvGrpSpPr>
          <p:grpSpPr>
            <a:xfrm>
              <a:off x="3376863" y="1690688"/>
              <a:ext cx="1050758" cy="2989596"/>
              <a:chOff x="3376863" y="1690688"/>
              <a:chExt cx="1050758" cy="298959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20C766B-C4A1-6C16-BB67-22B0344A12E6}"/>
                  </a:ext>
                </a:extLst>
              </p:cNvPr>
              <p:cNvSpPr/>
              <p:nvPr/>
            </p:nvSpPr>
            <p:spPr>
              <a:xfrm>
                <a:off x="3376864" y="2177715"/>
                <a:ext cx="1050757" cy="2502568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FAC438F-1331-50AE-818F-FD64636F5AE7}"/>
                  </a:ext>
                </a:extLst>
              </p:cNvPr>
              <p:cNvSpPr/>
              <p:nvPr/>
            </p:nvSpPr>
            <p:spPr>
              <a:xfrm>
                <a:off x="3376863" y="2177716"/>
                <a:ext cx="1050757" cy="2502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212044-FC3C-455B-A6AD-B48C1BEE026F}"/>
                  </a:ext>
                </a:extLst>
              </p:cNvPr>
              <p:cNvSpPr txBox="1"/>
              <p:nvPr/>
            </p:nvSpPr>
            <p:spPr>
              <a:xfrm>
                <a:off x="3603531" y="1690688"/>
                <a:ext cx="564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128</a:t>
                </a:r>
                <a:endParaRPr lang="en-GB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681D48A-3D3F-4F47-D619-545381DC7DAB}"/>
                </a:ext>
              </a:extLst>
            </p:cNvPr>
            <p:cNvGrpSpPr/>
            <p:nvPr/>
          </p:nvGrpSpPr>
          <p:grpSpPr>
            <a:xfrm>
              <a:off x="4608096" y="1705855"/>
              <a:ext cx="1050758" cy="2988893"/>
              <a:chOff x="5333999" y="1691391"/>
              <a:chExt cx="1050758" cy="2988893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F72721-3F6C-8728-1351-3E4093F51F5B}"/>
                  </a:ext>
                </a:extLst>
              </p:cNvPr>
              <p:cNvSpPr/>
              <p:nvPr/>
            </p:nvSpPr>
            <p:spPr>
              <a:xfrm>
                <a:off x="5334000" y="2177715"/>
                <a:ext cx="1050757" cy="2502568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BCB588-1A2E-013A-BC93-AB356B50A8A1}"/>
                  </a:ext>
                </a:extLst>
              </p:cNvPr>
              <p:cNvSpPr/>
              <p:nvPr/>
            </p:nvSpPr>
            <p:spPr>
              <a:xfrm>
                <a:off x="5333999" y="2177716"/>
                <a:ext cx="1050757" cy="25025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FE1A0C7-456B-847A-CC98-BE791AB5FBDA}"/>
                  </a:ext>
                </a:extLst>
              </p:cNvPr>
              <p:cNvSpPr txBox="1"/>
              <p:nvPr/>
            </p:nvSpPr>
            <p:spPr>
              <a:xfrm>
                <a:off x="5572688" y="1691391"/>
                <a:ext cx="437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64</a:t>
                </a:r>
                <a:endParaRPr lang="en-GB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63C09D6-7B79-2EDC-894C-0DD68A67B8DC}"/>
                </a:ext>
              </a:extLst>
            </p:cNvPr>
            <p:cNvGrpSpPr/>
            <p:nvPr/>
          </p:nvGrpSpPr>
          <p:grpSpPr>
            <a:xfrm>
              <a:off x="5880897" y="1690688"/>
              <a:ext cx="1050757" cy="2989595"/>
              <a:chOff x="7291136" y="1690688"/>
              <a:chExt cx="1050757" cy="298959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DB25965-5B7A-D31B-B068-CFD89BD770D2}"/>
                  </a:ext>
                </a:extLst>
              </p:cNvPr>
              <p:cNvSpPr/>
              <p:nvPr/>
            </p:nvSpPr>
            <p:spPr>
              <a:xfrm>
                <a:off x="7291136" y="2177715"/>
                <a:ext cx="1050757" cy="2502568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1B708B-3EB1-84B3-CCA7-DF33128B16C0}"/>
                  </a:ext>
                </a:extLst>
              </p:cNvPr>
              <p:cNvSpPr txBox="1"/>
              <p:nvPr/>
            </p:nvSpPr>
            <p:spPr>
              <a:xfrm>
                <a:off x="7634041" y="1690688"/>
                <a:ext cx="437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32</a:t>
                </a:r>
                <a:endParaRPr lang="en-GB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F35CA1E-719D-2CF3-9AA9-FC73377CE196}"/>
                </a:ext>
              </a:extLst>
            </p:cNvPr>
            <p:cNvGrpSpPr/>
            <p:nvPr/>
          </p:nvGrpSpPr>
          <p:grpSpPr>
            <a:xfrm>
              <a:off x="7059637" y="2374647"/>
              <a:ext cx="866273" cy="1648872"/>
              <a:chOff x="1372715" y="2357642"/>
              <a:chExt cx="866273" cy="164887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637D48E-57A3-4816-C433-3DA9E257891A}"/>
                  </a:ext>
                </a:extLst>
              </p:cNvPr>
              <p:cNvSpPr/>
              <p:nvPr/>
            </p:nvSpPr>
            <p:spPr>
              <a:xfrm>
                <a:off x="1372715" y="2851483"/>
                <a:ext cx="866273" cy="1155031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8ED33CF-85BC-3F7B-B58E-D90BFC0FAF8D}"/>
                  </a:ext>
                </a:extLst>
              </p:cNvPr>
              <p:cNvSpPr txBox="1"/>
              <p:nvPr/>
            </p:nvSpPr>
            <p:spPr>
              <a:xfrm>
                <a:off x="1587276" y="2357642"/>
                <a:ext cx="437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1</a:t>
                </a:r>
                <a:endParaRPr lang="en-GB" dirty="0"/>
              </a:p>
            </p:txBody>
          </p:sp>
        </p:grp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5ADB37F-5D05-936D-6838-6E0BFBDA6C26}"/>
              </a:ext>
            </a:extLst>
          </p:cNvPr>
          <p:cNvSpPr/>
          <p:nvPr/>
        </p:nvSpPr>
        <p:spPr>
          <a:xfrm>
            <a:off x="196375" y="2953463"/>
            <a:ext cx="2060293" cy="1792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dirty="0"/>
              <a:t>Temperature</a:t>
            </a:r>
          </a:p>
          <a:p>
            <a:pPr algn="ctr">
              <a:lnSpc>
                <a:spcPct val="150000"/>
              </a:lnSpc>
            </a:pPr>
            <a:r>
              <a:rPr lang="en-GB" dirty="0"/>
              <a:t>School Holidays</a:t>
            </a:r>
          </a:p>
          <a:p>
            <a:pPr algn="ctr">
              <a:lnSpc>
                <a:spcPct val="150000"/>
              </a:lnSpc>
            </a:pPr>
            <a:r>
              <a:rPr lang="en-GB" dirty="0"/>
              <a:t>Weekday</a:t>
            </a:r>
          </a:p>
          <a:p>
            <a:pPr algn="ctr">
              <a:lnSpc>
                <a:spcPct val="150000"/>
              </a:lnSpc>
              <a:buNone/>
            </a:pPr>
            <a:r>
              <a:rPr lang="en-GB" dirty="0"/>
              <a:t>Days till NYE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6498C1-B726-968C-45CE-1C366351198D}"/>
              </a:ext>
            </a:extLst>
          </p:cNvPr>
          <p:cNvSpPr txBox="1"/>
          <p:nvPr/>
        </p:nvSpPr>
        <p:spPr>
          <a:xfrm>
            <a:off x="196374" y="2515034"/>
            <a:ext cx="2060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Features</a:t>
            </a:r>
            <a:r>
              <a:rPr lang="en-GB" b="1" dirty="0"/>
              <a:t>: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525AE7-D423-56C9-0A92-A5FFF3B48F4F}"/>
              </a:ext>
            </a:extLst>
          </p:cNvPr>
          <p:cNvCxnSpPr>
            <a:cxnSpLocks/>
          </p:cNvCxnSpPr>
          <p:nvPr/>
        </p:nvCxnSpPr>
        <p:spPr>
          <a:xfrm>
            <a:off x="2453833" y="3507912"/>
            <a:ext cx="3826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E116F47-98E5-2396-BCC3-0246C5EEB45D}"/>
              </a:ext>
            </a:extLst>
          </p:cNvPr>
          <p:cNvSpPr/>
          <p:nvPr/>
        </p:nvSpPr>
        <p:spPr>
          <a:xfrm>
            <a:off x="9551941" y="2047652"/>
            <a:ext cx="2640059" cy="1792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GB" b="1" dirty="0"/>
              <a:t>MAPE</a:t>
            </a:r>
          </a:p>
          <a:p>
            <a:pPr>
              <a:lnSpc>
                <a:spcPct val="150000"/>
              </a:lnSpc>
            </a:pPr>
            <a:r>
              <a:rPr lang="en-GB" dirty="0"/>
              <a:t>Validation Data :</a:t>
            </a:r>
          </a:p>
          <a:p>
            <a:pPr>
              <a:lnSpc>
                <a:spcPct val="150000"/>
              </a:lnSpc>
            </a:pPr>
            <a:r>
              <a:rPr lang="en-GB" dirty="0"/>
              <a:t>Train + Validation Data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E0876-EABA-CF74-7594-600CE0B3BF86}"/>
              </a:ext>
            </a:extLst>
          </p:cNvPr>
          <p:cNvSpPr txBox="1"/>
          <p:nvPr/>
        </p:nvSpPr>
        <p:spPr>
          <a:xfrm>
            <a:off x="3778474" y="6538912"/>
            <a:ext cx="4635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>
                    <a:lumMod val="75000"/>
                  </a:schemeClr>
                </a:solidFill>
              </a:rPr>
              <a:t>Dataset Characteristics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Baseline Model – </a:t>
            </a:r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Neural Net </a:t>
            </a:r>
            <a:r>
              <a:rPr lang="en-GB" sz="1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Challenges </a:t>
            </a:r>
            <a:endParaRPr lang="de-DE" sz="12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23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1187</Words>
  <Application>Microsoft Office PowerPoint</Application>
  <PresentationFormat>Widescreen</PresentationFormat>
  <Paragraphs>237</Paragraphs>
  <Slides>24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Consolas</vt:lpstr>
      <vt:lpstr>Office Theme</vt:lpstr>
      <vt:lpstr>Bakery Sales Prediction</vt:lpstr>
      <vt:lpstr>Goal: to predict sales for 6 bakery product categories</vt:lpstr>
      <vt:lpstr>Additional variables</vt:lpstr>
      <vt:lpstr>Additional variables</vt:lpstr>
      <vt:lpstr>2 Bar charts for 1 variable for each category</vt:lpstr>
      <vt:lpstr>Dealing with missing values</vt:lpstr>
      <vt:lpstr>Dealing with missing values</vt:lpstr>
      <vt:lpstr>PowerPoint Presentation</vt:lpstr>
      <vt:lpstr>PowerPoint Presentation</vt:lpstr>
      <vt:lpstr>Neural Network</vt:lpstr>
      <vt:lpstr>Neural Network</vt:lpstr>
      <vt:lpstr>Neural Network</vt:lpstr>
      <vt:lpstr>Challenges</vt:lpstr>
      <vt:lpstr>PowerPoint Presentation</vt:lpstr>
      <vt:lpstr>AFTER THIS SLIDE ALL THE UNUSED SLIDES</vt:lpstr>
      <vt:lpstr>Dealing with missing values – option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Neural Network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Roefer</dc:creator>
  <cp:lastModifiedBy>Georgia Avgerinou</cp:lastModifiedBy>
  <cp:revision>10</cp:revision>
  <dcterms:created xsi:type="dcterms:W3CDTF">2025-06-28T09:13:20Z</dcterms:created>
  <dcterms:modified xsi:type="dcterms:W3CDTF">2025-07-03T09:21:00Z</dcterms:modified>
</cp:coreProperties>
</file>