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0.xml" ContentType="application/vnd.openxmlformats-officedocument.presentationml.notesSlide+xml"/>
  <Override PartName="/ppt/ink/ink3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0"/>
  </p:notesMasterIdLst>
  <p:sldIdLst>
    <p:sldId id="256" r:id="rId2"/>
    <p:sldId id="273" r:id="rId3"/>
    <p:sldId id="277" r:id="rId4"/>
    <p:sldId id="271" r:id="rId5"/>
    <p:sldId id="289" r:id="rId6"/>
    <p:sldId id="290" r:id="rId7"/>
    <p:sldId id="291" r:id="rId8"/>
    <p:sldId id="287" r:id="rId9"/>
    <p:sldId id="278" r:id="rId10"/>
    <p:sldId id="279" r:id="rId11"/>
    <p:sldId id="269" r:id="rId12"/>
    <p:sldId id="260" r:id="rId13"/>
    <p:sldId id="283" r:id="rId14"/>
    <p:sldId id="284" r:id="rId15"/>
    <p:sldId id="285" r:id="rId16"/>
    <p:sldId id="275" r:id="rId17"/>
    <p:sldId id="282" r:id="rId18"/>
    <p:sldId id="280" r:id="rId19"/>
    <p:sldId id="267" r:id="rId20"/>
    <p:sldId id="274" r:id="rId21"/>
    <p:sldId id="268" r:id="rId22"/>
    <p:sldId id="266" r:id="rId23"/>
    <p:sldId id="263" r:id="rId24"/>
    <p:sldId id="264" r:id="rId25"/>
    <p:sldId id="265" r:id="rId26"/>
    <p:sldId id="262" r:id="rId27"/>
    <p:sldId id="286" r:id="rId28"/>
    <p:sldId id="288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7" autoAdjust="0"/>
    <p:restoredTop sz="91597" autoAdjust="0"/>
  </p:normalViewPr>
  <p:slideViewPr>
    <p:cSldViewPr snapToGrid="0">
      <p:cViewPr varScale="1">
        <p:scale>
          <a:sx n="75" d="100"/>
          <a:sy n="75" d="100"/>
        </p:scale>
        <p:origin x="360" y="67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03/07/2025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Consumer Price Index (CPI) is a measure of the average change over time in the prices paid by consumers for a representative basket of consumer goods and services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6  season  - 0/1 variable from late Oct till late Dec</a:t>
            </a:r>
          </a:p>
          <a:p>
            <a:endParaRPr lang="en-GB" dirty="0"/>
          </a:p>
          <a:p>
            <a:r>
              <a:rPr lang="en-GB" dirty="0"/>
              <a:t>The 4 last of the given were not initially made, I made them later while struggling to predict Group 6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7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D0C63-93D3-9978-2C1A-6F681F4F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F074E-EE6A-624B-24CF-B7CE9049E6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58684-4706-03D3-7E4E-0CDFFE2A7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3FF9F-2D31-2BB1-F312-0E11512E3F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83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3DE2-D437-34FF-AAC8-9BA4054B7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1BDFF-6C60-D5A4-D128-15474CA63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58C0AD-830C-B3EB-5078-C7579F35A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CBE2-6426-26A3-730F-C66FAAB52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02167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9BF02-E702-B48A-B80A-D9D841C44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992987-FB66-120D-1DD1-615FBFB3C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4A8CE-226F-89AE-9ADC-AF3A5831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8B65D-06A9-26A2-A942-52820CC1E1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170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B7AE-DCA0-C088-FA18-C941AC042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A508A-C9E2-6317-0313-B7D9B3E241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444DD-79C8-9EC0-30B1-0AE0D83A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Made several so we can choose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11FBC-1B5B-E39E-006F-B274AD735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0316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were normalized before entering the model</a:t>
            </a:r>
          </a:p>
          <a:p>
            <a:br>
              <a:rPr lang="en-GB" dirty="0"/>
            </a:br>
            <a:r>
              <a:rPr lang="en-GB" dirty="0"/>
              <a:t>normalized earlier</a:t>
            </a:r>
            <a:br>
              <a:rPr lang="en-GB" dirty="0"/>
            </a:br>
            <a:br>
              <a:rPr lang="en-GB" dirty="0"/>
            </a:br>
            <a:r>
              <a:rPr lang="en-GB" dirty="0"/>
              <a:t>4 layers, numbers of neurons, activation functions </a:t>
            </a:r>
            <a:r>
              <a:rPr lang="en-GB" dirty="0" err="1"/>
              <a:t>relu</a:t>
            </a:r>
            <a:r>
              <a:rPr lang="en-GB" dirty="0"/>
              <a:t>, first layer had l2 </a:t>
            </a:r>
            <a:r>
              <a:rPr lang="en-GB" dirty="0" err="1"/>
              <a:t>regulization</a:t>
            </a:r>
            <a:r>
              <a:rPr lang="en-GB" dirty="0"/>
              <a:t> parameter of 0.001</a:t>
            </a:r>
            <a:br>
              <a:rPr lang="en-GB" dirty="0"/>
            </a:br>
            <a:r>
              <a:rPr lang="en-GB" dirty="0"/>
              <a:t>Early stop with patience of 50 epochs, restoring best weights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6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63968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E60D-B047-017F-1CC1-F6F8A2BCB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2BA61-FDF9-030A-F8DD-497EAE2C1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5209-BE17-2121-CBC6-5B90040C7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05A4A-660C-345E-B643-28CC68E0E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578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03.07.2025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03.07.2025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03.07.2025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0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8901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 Score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BCD2A-18DC-3E97-67D9-91008E963526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0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1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2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7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299683-6A2E-9766-C092-9F38A873A9E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D2F842-E89B-1B52-F36F-3706BB779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8917" y="1527859"/>
            <a:ext cx="6497007" cy="430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3A76A-71B5-D5DB-280F-3B9DEBFD5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2754-5819-C8C8-0159-3B17F5825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7FE0-9CFD-9FD5-ED65-FAC5FF64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57B6D-427C-AF27-F76A-092DDAB6F7B7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40C698A-57E2-2C05-1755-199BF4F66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5025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1C85-FFF0-52DF-ADFA-BDC5CAE3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D46A8-F0FA-F91B-9B4E-470CBA888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8DCEEB-2604-9421-4090-89611B861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771DA-3DF8-6CA4-B88E-FB4465A116F5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3969061-67BD-A028-F5FA-5AEE0445A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B23017-09C7-8322-AD40-E9738E7E8C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6814" y="1690688"/>
            <a:ext cx="7463825" cy="445263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9724741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129B-5BE8-FF01-E5CD-8F5D080D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308F7-DBAA-9EDC-3790-E903318A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98440-7DBF-FF1C-4ABE-ABF226839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11C8F-3B47-AC60-4A16-F305C7441ACA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3BEEF6-5EE1-6E49-8498-1E42DBC85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4" y="2548328"/>
            <a:ext cx="5507276" cy="32854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CB2461-6E42-B666-2570-7FB8B998B5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0698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BE7B0D-EF2E-FEDD-F1E2-6440161D3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F2A1-9367-240D-9693-174005C6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6EF36-5AB5-BD61-139A-5291CC7A3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DF633-6812-8C55-E3F4-025DC1E19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868E9-8533-9A2A-29CA-130A8F95F610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3B71C7A-B971-5E9E-E5F2-720ABA542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262" y="1824036"/>
            <a:ext cx="6597072" cy="43513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5D9625-8304-B8A6-4306-D2881F22B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6120"/>
            <a:ext cx="5069662" cy="251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87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65EC40-4383-E05F-1116-971DFDA7AF0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BC01-A05E-750F-C2DE-497CA9583F5D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/>
      <p:bldP spid="44" grpId="0"/>
      <p:bldP spid="4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9083A-BE9E-C0CF-FE77-0E29A0512F8C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1033C-67BC-9764-3CEC-05688F5CF210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29494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+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One Hot encoded sales groups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F71682-02EA-F19A-3E6C-75AA394FC281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90E0F4-DC7B-FB01-B08C-F930D3D2B032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2DCCB91-F3A7-D5E5-EEB8-6956B3E4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890" y="1723690"/>
            <a:ext cx="7744906" cy="23911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A500CD-B940-4014-0654-38E3571E8465}"/>
              </a:ext>
            </a:extLst>
          </p:cNvPr>
          <p:cNvSpPr txBox="1"/>
          <p:nvPr/>
        </p:nvSpPr>
        <p:spPr>
          <a:xfrm>
            <a:off x="3988768" y="4382077"/>
            <a:ext cx="4214462" cy="188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learning_rate</a:t>
            </a:r>
            <a:r>
              <a:rPr lang="en-GB" sz="2000" dirty="0">
                <a:latin typeface="Consolas" panose="020B0609020204030204" pitchFamily="49" charset="0"/>
              </a:rPr>
              <a:t>=0.0001</a:t>
            </a:r>
          </a:p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Batch_Size</a:t>
            </a:r>
            <a:r>
              <a:rPr lang="en-GB" sz="2000" dirty="0">
                <a:latin typeface="Consolas" panose="020B0609020204030204" pitchFamily="49" charset="0"/>
              </a:rPr>
              <a:t> = 32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Epochs = 600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Early stop</a:t>
            </a:r>
          </a:p>
        </p:txBody>
      </p:sp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14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42BF3-911B-A19B-2353-A151027BAD55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BFC92FE-CA2C-ED19-2DC4-4C360470C863}"/>
              </a:ext>
            </a:extLst>
          </p:cNvPr>
          <p:cNvGrpSpPr/>
          <p:nvPr/>
        </p:nvGrpSpPr>
        <p:grpSpPr>
          <a:xfrm>
            <a:off x="355109" y="2142715"/>
            <a:ext cx="2640059" cy="2905369"/>
            <a:chOff x="9139345" y="1842912"/>
            <a:chExt cx="2640059" cy="290536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2FAF9E-1FFA-DA77-35CD-2C61E5B0CA7D}"/>
                </a:ext>
              </a:extLst>
            </p:cNvPr>
            <p:cNvSpPr txBox="1"/>
            <p:nvPr/>
          </p:nvSpPr>
          <p:spPr>
            <a:xfrm>
              <a:off x="9739510" y="4378949"/>
              <a:ext cx="1439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0.18081</a:t>
              </a:r>
              <a:endParaRPr lang="en-GB" b="1" dirty="0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05625916-4F74-97B2-CA33-FED8ADFE5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49429" y="3985911"/>
              <a:ext cx="1019892" cy="3956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DFB0E2C-9FD8-79D9-69B0-9DF171AE3039}"/>
                </a:ext>
              </a:extLst>
            </p:cNvPr>
            <p:cNvSpPr/>
            <p:nvPr/>
          </p:nvSpPr>
          <p:spPr>
            <a:xfrm>
              <a:off x="9139345" y="1842912"/>
              <a:ext cx="2640059" cy="179231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GB" sz="2400" b="1" dirty="0"/>
                <a:t>MAPE</a:t>
              </a:r>
            </a:p>
            <a:p>
              <a:pPr algn="ctr">
                <a:lnSpc>
                  <a:spcPct val="150000"/>
                </a:lnSpc>
              </a:pPr>
              <a:r>
                <a:rPr lang="en-GB" dirty="0"/>
                <a:t>Validation Data : 20.28%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0F9E39B-E5F2-B8FE-493E-7BEE99B16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2880" y="1890938"/>
            <a:ext cx="7645717" cy="408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</a:t>
            </a:r>
            <a:r>
              <a:rPr lang="en-US" sz="2400" dirty="0"/>
              <a:t>– Validation Dataset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8E0325-FA2E-8937-2771-8B89B3D9E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757401"/>
              </p:ext>
            </p:extLst>
          </p:nvPr>
        </p:nvGraphicFramePr>
        <p:xfrm>
          <a:off x="514009" y="2582874"/>
          <a:ext cx="3264465" cy="267835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47584">
                  <a:extLst>
                    <a:ext uri="{9D8B030D-6E8A-4147-A177-3AD203B41FA5}">
                      <a16:colId xmlns:a16="http://schemas.microsoft.com/office/drawing/2014/main" val="241538181"/>
                    </a:ext>
                  </a:extLst>
                </a:gridCol>
                <a:gridCol w="1516881">
                  <a:extLst>
                    <a:ext uri="{9D8B030D-6E8A-4147-A177-3AD203B41FA5}">
                      <a16:colId xmlns:a16="http://schemas.microsoft.com/office/drawing/2014/main" val="1421997003"/>
                    </a:ext>
                  </a:extLst>
                </a:gridCol>
              </a:tblGrid>
              <a:tr h="4125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MAPE in %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46026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6522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15.52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336285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0930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22.85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15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51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50.12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06744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443FC44C-1194-8DEA-1578-33A199AC4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590" y="2142675"/>
            <a:ext cx="7753493" cy="34219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 Predict Group 6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Biggest Improvement: Removing variables, simplifying the model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D92427E-BECE-FD08-4379-58F3CDFB7E67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Challenges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175437-8C7C-BB7F-11BE-9634A9F03D77}"/>
              </a:ext>
            </a:extLst>
          </p:cNvPr>
          <p:cNvGrpSpPr/>
          <p:nvPr/>
        </p:nvGrpSpPr>
        <p:grpSpPr>
          <a:xfrm>
            <a:off x="9097729" y="1177488"/>
            <a:ext cx="1595548" cy="1756414"/>
            <a:chOff x="5966837" y="4599935"/>
            <a:chExt cx="1595548" cy="175641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6D9126-266E-3DB6-1D11-ECE38E8A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95"/>
            <a:stretch>
              <a:fillRect/>
            </a:stretch>
          </p:blipFill>
          <p:spPr>
            <a:xfrm>
              <a:off x="5966837" y="4894728"/>
              <a:ext cx="1595548" cy="146162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F0E0502-D00B-2C08-CA98-AAB364AFDD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5708" y="4599935"/>
              <a:ext cx="737806" cy="2861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E71C30-8BFE-4796-341A-734ED6752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4362" y="750326"/>
            <a:ext cx="4232977" cy="2905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3B43-3D6D-3AE0-F5E9-98AFED55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642" y="2766218"/>
            <a:ext cx="10515600" cy="1325563"/>
          </a:xfrm>
        </p:spPr>
        <p:txBody>
          <a:bodyPr/>
          <a:lstStyle/>
          <a:p>
            <a:r>
              <a:rPr lang="en-US" dirty="0"/>
              <a:t>AFTER THIS SLIDE ALL THE UNUSED SLIDES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2FF45-92F5-0725-AFA6-3D55E0F6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757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 – option 1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20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-1297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474F7B3-7E84-BDB7-EE3A-B17750D62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CE0A70-2ABA-2EA3-66C5-4004AAA2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9B9EAB-729B-286E-841D-270974CDD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27</a:t>
            </a:fld>
            <a:endParaRPr lang="de-D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95C1F2-6B30-2F7A-2778-93CE3CD56B4A}"/>
              </a:ext>
            </a:extLst>
          </p:cNvPr>
          <p:cNvSpPr txBox="1"/>
          <p:nvPr/>
        </p:nvSpPr>
        <p:spPr>
          <a:xfrm>
            <a:off x="10152105" y="4233003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847370-ACF1-23B8-CEEC-E23AFA3FB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2024" y="3839965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2CA44A45-087A-C3C2-2F29-FDA950B19C98}"/>
              </a:ext>
            </a:extLst>
          </p:cNvPr>
          <p:cNvGrpSpPr/>
          <p:nvPr/>
        </p:nvGrpSpPr>
        <p:grpSpPr>
          <a:xfrm>
            <a:off x="3071962" y="1900172"/>
            <a:ext cx="6694805" cy="3425895"/>
            <a:chOff x="2058288" y="1690688"/>
            <a:chExt cx="6694805" cy="34258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33F92DB-B4B3-6464-9CD4-B65592C22CEA}"/>
                </a:ext>
              </a:extLst>
            </p:cNvPr>
            <p:cNvSpPr txBox="1"/>
            <p:nvPr/>
          </p:nvSpPr>
          <p:spPr>
            <a:xfrm>
              <a:off x="2058288" y="4680283"/>
              <a:ext cx="15079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Input Layer</a:t>
              </a:r>
              <a:endParaRPr lang="en-GB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13096-728C-D0D0-6365-4D06BEE23123}"/>
                </a:ext>
              </a:extLst>
            </p:cNvPr>
            <p:cNvSpPr txBox="1"/>
            <p:nvPr/>
          </p:nvSpPr>
          <p:spPr>
            <a:xfrm>
              <a:off x="4448910" y="4734732"/>
              <a:ext cx="1905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Hidden Layers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088378-9253-79E8-0EE5-53520AD1447D}"/>
                </a:ext>
              </a:extLst>
            </p:cNvPr>
            <p:cNvSpPr txBox="1"/>
            <p:nvPr/>
          </p:nvSpPr>
          <p:spPr>
            <a:xfrm>
              <a:off x="6931654" y="4747251"/>
              <a:ext cx="1821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Output Layer</a:t>
              </a:r>
              <a:endParaRPr lang="en-GB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BDEA889-EEB6-9B48-CC68-CDB7B6A3F6EB}"/>
                </a:ext>
              </a:extLst>
            </p:cNvPr>
            <p:cNvSpPr/>
            <p:nvPr/>
          </p:nvSpPr>
          <p:spPr>
            <a:xfrm>
              <a:off x="7291135" y="2177716"/>
              <a:ext cx="1050757" cy="250256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923FBCA-5D58-5EF5-9D30-BCE8F455DF56}"/>
                </a:ext>
              </a:extLst>
            </p:cNvPr>
            <p:cNvGrpSpPr/>
            <p:nvPr/>
          </p:nvGrpSpPr>
          <p:grpSpPr>
            <a:xfrm>
              <a:off x="2379133" y="2305550"/>
              <a:ext cx="866273" cy="1648872"/>
              <a:chOff x="1766256" y="2357642"/>
              <a:chExt cx="866273" cy="164887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3061EA9-C787-4181-650A-EEFD172A41E1}"/>
                  </a:ext>
                </a:extLst>
              </p:cNvPr>
              <p:cNvSpPr/>
              <p:nvPr/>
            </p:nvSpPr>
            <p:spPr>
              <a:xfrm>
                <a:off x="1766256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E7341E-6507-1310-04A4-F3A16DA1B026}"/>
                  </a:ext>
                </a:extLst>
              </p:cNvPr>
              <p:cNvSpPr txBox="1"/>
              <p:nvPr/>
            </p:nvSpPr>
            <p:spPr>
              <a:xfrm>
                <a:off x="1980817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97B4C84-D3AF-6BD7-C794-550C32EFB3E6}"/>
                </a:ext>
              </a:extLst>
            </p:cNvPr>
            <p:cNvGrpSpPr/>
            <p:nvPr/>
          </p:nvGrpSpPr>
          <p:grpSpPr>
            <a:xfrm>
              <a:off x="3376863" y="1690688"/>
              <a:ext cx="1050758" cy="2989596"/>
              <a:chOff x="3376863" y="1690688"/>
              <a:chExt cx="1050758" cy="298959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0C766B-C4A1-6C16-BB67-22B0344A12E6}"/>
                  </a:ext>
                </a:extLst>
              </p:cNvPr>
              <p:cNvSpPr/>
              <p:nvPr/>
            </p:nvSpPr>
            <p:spPr>
              <a:xfrm>
                <a:off x="3376864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FAC438F-1331-50AE-818F-FD64636F5AE7}"/>
                  </a:ext>
                </a:extLst>
              </p:cNvPr>
              <p:cNvSpPr/>
              <p:nvPr/>
            </p:nvSpPr>
            <p:spPr>
              <a:xfrm>
                <a:off x="3376863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212044-FC3C-455B-A6AD-B48C1BEE026F}"/>
                  </a:ext>
                </a:extLst>
              </p:cNvPr>
              <p:cNvSpPr txBox="1"/>
              <p:nvPr/>
            </p:nvSpPr>
            <p:spPr>
              <a:xfrm>
                <a:off x="3603531" y="1690688"/>
                <a:ext cx="564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128</a:t>
                </a:r>
                <a:endParaRPr lang="en-GB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681D48A-3D3F-4F47-D619-545381DC7DAB}"/>
                </a:ext>
              </a:extLst>
            </p:cNvPr>
            <p:cNvGrpSpPr/>
            <p:nvPr/>
          </p:nvGrpSpPr>
          <p:grpSpPr>
            <a:xfrm>
              <a:off x="4608096" y="1705855"/>
              <a:ext cx="1050758" cy="2988893"/>
              <a:chOff x="5333999" y="1691391"/>
              <a:chExt cx="1050758" cy="298889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BF72721-3F6C-8728-1351-3E4093F51F5B}"/>
                  </a:ext>
                </a:extLst>
              </p:cNvPr>
              <p:cNvSpPr/>
              <p:nvPr/>
            </p:nvSpPr>
            <p:spPr>
              <a:xfrm>
                <a:off x="5334000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BCB588-1A2E-013A-BC93-AB356B50A8A1}"/>
                  </a:ext>
                </a:extLst>
              </p:cNvPr>
              <p:cNvSpPr/>
              <p:nvPr/>
            </p:nvSpPr>
            <p:spPr>
              <a:xfrm>
                <a:off x="5333999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E1A0C7-456B-847A-CC98-BE791AB5FBDA}"/>
                  </a:ext>
                </a:extLst>
              </p:cNvPr>
              <p:cNvSpPr txBox="1"/>
              <p:nvPr/>
            </p:nvSpPr>
            <p:spPr>
              <a:xfrm>
                <a:off x="5572688" y="1691391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64</a:t>
                </a:r>
                <a:endParaRPr lang="en-GB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3C09D6-7B79-2EDC-894C-0DD68A67B8DC}"/>
                </a:ext>
              </a:extLst>
            </p:cNvPr>
            <p:cNvGrpSpPr/>
            <p:nvPr/>
          </p:nvGrpSpPr>
          <p:grpSpPr>
            <a:xfrm>
              <a:off x="5880897" y="1690688"/>
              <a:ext cx="1050757" cy="2989595"/>
              <a:chOff x="7291136" y="1690688"/>
              <a:chExt cx="1050757" cy="298959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B25965-5B7A-D31B-B068-CFD89BD770D2}"/>
                  </a:ext>
                </a:extLst>
              </p:cNvPr>
              <p:cNvSpPr/>
              <p:nvPr/>
            </p:nvSpPr>
            <p:spPr>
              <a:xfrm>
                <a:off x="7291136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41B708B-3EB1-84B3-CCA7-DF33128B16C0}"/>
                  </a:ext>
                </a:extLst>
              </p:cNvPr>
              <p:cNvSpPr txBox="1"/>
              <p:nvPr/>
            </p:nvSpPr>
            <p:spPr>
              <a:xfrm>
                <a:off x="7634041" y="1690688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32</a:t>
                </a:r>
                <a:endParaRPr lang="en-GB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35CA1E-719D-2CF3-9AA9-FC73377CE196}"/>
                </a:ext>
              </a:extLst>
            </p:cNvPr>
            <p:cNvGrpSpPr/>
            <p:nvPr/>
          </p:nvGrpSpPr>
          <p:grpSpPr>
            <a:xfrm>
              <a:off x="7059637" y="2374647"/>
              <a:ext cx="866273" cy="1648872"/>
              <a:chOff x="1372715" y="2357642"/>
              <a:chExt cx="866273" cy="1648872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637D48E-57A3-4816-C433-3DA9E257891A}"/>
                  </a:ext>
                </a:extLst>
              </p:cNvPr>
              <p:cNvSpPr/>
              <p:nvPr/>
            </p:nvSpPr>
            <p:spPr>
              <a:xfrm>
                <a:off x="1372715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ED33CF-85BC-3F7B-B58E-D90BFC0FAF8D}"/>
                  </a:ext>
                </a:extLst>
              </p:cNvPr>
              <p:cNvSpPr txBox="1"/>
              <p:nvPr/>
            </p:nvSpPr>
            <p:spPr>
              <a:xfrm>
                <a:off x="1587276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15ADB37F-5D05-936D-6838-6E0BFBDA6C26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6498C1-B726-968C-45CE-1C366351198D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25AE7-D423-56C9-0A92-A5FFF3B48F4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16F47-98E5-2396-BCC3-0246C5EEB45D}"/>
              </a:ext>
            </a:extLst>
          </p:cNvPr>
          <p:cNvSpPr/>
          <p:nvPr/>
        </p:nvSpPr>
        <p:spPr>
          <a:xfrm>
            <a:off x="9551941" y="204765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CE0876-EABA-CF74-7594-600CE0B3BF8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22308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8011C-A36C-7314-9F77-69BA64CC4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C8B083-DB47-93CD-5BB2-80D02FF34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28</a:t>
            </a:fld>
            <a:endParaRPr lang="de-DE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96D49E-1D91-057D-C5E7-873A38F9C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2222862" y="2163172"/>
            <a:ext cx="7746275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74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2777</Words>
  <Application>Microsoft Office PowerPoint</Application>
  <PresentationFormat>Widescreen</PresentationFormat>
  <Paragraphs>429</Paragraphs>
  <Slides>28</Slides>
  <Notes>20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Consolas</vt:lpstr>
      <vt:lpstr>Office Theme</vt:lpstr>
      <vt:lpstr>Bakery Sales Prediction</vt:lpstr>
      <vt:lpstr>Goal: to predict sales for 6 bakery product categories</vt:lpstr>
      <vt:lpstr>Additional variables</vt:lpstr>
      <vt:lpstr>Additional variables</vt:lpstr>
      <vt:lpstr>Additional variables</vt:lpstr>
      <vt:lpstr>Additional variables</vt:lpstr>
      <vt:lpstr>Additional variables</vt:lpstr>
      <vt:lpstr>2 Bar charts for 1 variable for each category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 – Validation Dataset</vt:lpstr>
      <vt:lpstr>Challenges</vt:lpstr>
      <vt:lpstr>PowerPoint Presentation</vt:lpstr>
      <vt:lpstr>AFTER THIS SLIDE ALL THE UNUSED SLIDES</vt:lpstr>
      <vt:lpstr>Dealing with missing values – option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Neural Network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Anton Roefer</cp:lastModifiedBy>
  <cp:revision>16</cp:revision>
  <dcterms:created xsi:type="dcterms:W3CDTF">2025-06-28T09:13:20Z</dcterms:created>
  <dcterms:modified xsi:type="dcterms:W3CDTF">2025-07-03T13:51:30Z</dcterms:modified>
</cp:coreProperties>
</file>