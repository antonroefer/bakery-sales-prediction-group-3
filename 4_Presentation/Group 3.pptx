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notesSlides/notesSlide4.xml" ContentType="application/vnd.openxmlformats-officedocument.presentationml.notesSlide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73" r:id="rId3"/>
    <p:sldId id="272" r:id="rId4"/>
    <p:sldId id="257" r:id="rId5"/>
    <p:sldId id="271" r:id="rId6"/>
    <p:sldId id="267" r:id="rId7"/>
    <p:sldId id="274" r:id="rId8"/>
    <p:sldId id="268" r:id="rId9"/>
    <p:sldId id="269" r:id="rId10"/>
    <p:sldId id="260" r:id="rId11"/>
    <p:sldId id="266" r:id="rId12"/>
    <p:sldId id="263" r:id="rId13"/>
    <p:sldId id="264" r:id="rId14"/>
    <p:sldId id="265" r:id="rId15"/>
    <p:sldId id="262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60A9"/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7" autoAdjust="0"/>
    <p:restoredTop sz="83613" autoAdjust="0"/>
  </p:normalViewPr>
  <p:slideViewPr>
    <p:cSldViewPr snapToGrid="0">
      <p:cViewPr>
        <p:scale>
          <a:sx n="46" d="100"/>
          <a:sy n="46" d="100"/>
        </p:scale>
        <p:origin x="1488" y="13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8:52:26.346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1999 0,'2250'-1999'0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30.032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0 570,'4'0,"-1"0,2 0,-1-1,-1 0,1 0,-1 0,1 0,0 0,-1-1,1 0,-1 1,4-5,34-31,-8 7,27-13,-42 33,-2-2,1 1,-1-2,23-23,5-11,68-55,-13 15,-77 64,2 3,0 0,37-22,-24 23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0.250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1008,'14'-1,"-1"0,1-1,-1-1,22-8,11-1,-26 8,0-1,0 0,0-2,-1-1,1 1,-2-3,1 1,-1-2,23-18,29-25,86-50,30-22,147-149,-326 270,26-28,3 3,51-36,-76 59,0-1,0-1,-1 0,0 0,-1-1,0 0,0-1,-2 0,1-1,12-23,-4 5,2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3.156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1269,'0'1,"0"0,1 0,-1 0,0 0,1-1,-1 2,1-1,-1 0,1 0,0 0,-1-1,1 1,0 0,0-1,-1 1,1 0,1-1,-1 1,0-1,0 1,0-1,0 0,0 1,0-1,0 0,0 0,0 1,1-1,36 4,-32-3,95 5,106-9,-180-1,1 1,-1-2,-1-1,0-2,1 0,-1-3,26-13,18-13,75-55,-90 52,-1-1,-3-4,0-1,42-55,-7 9,34-41,-62 68,-36 42,24-33,86-166,-91 148,-17 29,-15 28,-1 0,2 1,18-24,-6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5.221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1661,'1'-5,"1"0,-1 2,1-1,-1 0,1 0,1-1,-1 2,1-1,-1 1,1 0,0-1,0 1,7-6,-5 5,133-117,-50 47,159-116,-122 99,1-17,-3 2,29 2,7-6,-133 90,-1-3,-2 1,-1-1,22-29,157-196,-166 208,-19 24,0-1,-2-1,21-32,-24 33,0 0,13-15,-11 17,-1 1,12-23,-8 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55.12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1465 2,'-8'-1,"-1"1,2 0,-2 0,1 1,0 0,-1 0,1 1,0 0,0 1,1 0,-1 0,0 0,-12 10,-9 10,-1 2,-41 49,4-4,45-49,-16 15,-36 42,68-68,0-1,-1 1,-3 11,8-14,-1-1,-2 1,2-1,-1 0,0 1,0-2,-2 0,1 1,-6 5,-2-1,6-6,0 0,0 1,1 1,-1 0,2-1,-1 2,1-1,-1 0,1 2,1-2,-6 11,-12 26,-1-1,-2 0,-60 73,66-96,0-1,-40 28,25-20,14-11,0 0,0 1,1 0,0 2,2 0,-25 32,27-30,1 2,-3-2,0-1,0-1,-2-2,-40 32,-7 3,50-38,-2 1,0 0,-1-3,-27 16,13-12,6-4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57.2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1937,'1'0,"0"0,0-2,-1 2,1-1,0 1,0-1,0 1,-1-1,1 1,0-1,-1 0,2 1,-1-1,-1 0,1 1,0-3,8-8,152-106,-114 79,15-10,82-85,-25 18,-64 63,18-19,-60 57,1 2,28-21,-30 23,0 2,0-2,-1 0,0-1,15-20,8-13,0 2,51-46,12-12,151-151,-231 234,124-106,-100 84,-1-2,-2-2,-1-2,31-52,-52 75,1 0,2 0,36-34,10-11,-54 56,-1 0,1 1,0-1,15-8,6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9:11:43.5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1465 2,'-8'-1,"-1"1,2 0,-2 0,1 1,0 0,-1 0,1 1,0 0,0 1,1 0,-1 0,0 0,-12 10,-9 10,-1 2,-41 49,4-4,45-49,-16 15,-36 42,68-68,0-1,-1 1,-3 11,8-14,-1-1,-2 1,2-1,-1 0,0 1,0-2,-2 0,1 1,-6 5,-2-1,6-6,0 0,0 1,1 1,-1 0,2-1,-1 2,1-1,-1 0,1 2,1-2,-6 11,-12 26,-1-1,-2 0,-60 73,66-96,0-1,-40 28,25-20,14-11,0 0,0 1,1 0,0 2,2 0,-25 32,27-30,1 2,-3-2,0-1,0-1,-2-2,-40 32,-7 3,50-38,-2 1,0 0,-1-3,-27 16,13-12,6-4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8:52:26.346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1893 0,'2142'-1893'0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30.032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0 540,'4'0,"-1"0,1 0,0-1,-1 0,1 0,-1 0,1 0,-1 0,0-1,1 0,-1 1,4-4,32-30,-8 6,26-11,-40 30,-1-1,0 0,-1-1,22-22,5-11,65-51,-13 13,-73 62,2 2,0 0,35-21,-23 22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0.250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0 955,'13'-1,"0"0,0-1,-1-1,22-7,10-2,-25 8,0 0,0-1,0-2,-1 0,1 0,-2-2,1 0,-1-1,22-18,28-23,81-47,30-22,139-140,-311 255,26-26,2 2,49-33,-73 55,1 0,-1-2,0 1,-1-1,0 0,-1-1,1 0,-2-1,0 0,12-22,-3 4,1 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3.156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1202,'0'1,"0"0,1 0,-1 0,0 0,1-1,-1 1,1 0,-1 0,1 0,0 0,-1-1,1 1,0 0,0-1,-1 1,1 0,0-1,0 1,0-1,0 1,0-1,0 0,0 1,0-1,0 0,0 0,0 1,1-1,34 4,-30-3,90 4,101-8,-171 0,0 0,0-2,-1-1,0-1,0-1,0-2,25-13,16-12,72-52,-85 49,-2-1,-2-3,-1-2,41-52,-7 9,32-39,-59 65,-34 39,23-31,82-157,-87 140,-16 27,-15 27,0 0,1 1,18-23,-6 15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5.221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1573,'1'-5,"1"1,-1 1,1-1,-1 0,1 0,0 0,0 1,1-1,-1 1,1 0,0 0,0 0,6-6,-4 5,126-110,-47 44,151-110,-116 94,1-17,-3 3,28 1,7-5,-128 85,0-2,-2 0,-1-1,21-27,149-186,-157 197,-19 23,0-1,-2-1,21-31,-24 32,1 0,12-14,-11 16,-1 0,12-21,-8 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55.12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1395 2,'-8'-1,"0"1,1 0,-1 0,0 1,0 0,0 0,0 1,1 0,-1 0,1 1,0 0,-1 0,-11 9,-9 10,0 2,-40 46,4-4,43-46,-15 14,-34 40,64-65,0 0,0 0,-4 11,8-13,-1-1,-1 0,1 0,-1 0,0 0,0-1,-1 0,0 0,-6 6,-1-2,5-5,1 0,-1 1,1 0,0 1,1-1,-1 1,1 0,0 0,0 1,1-1,-5 10,-12 25,-1-1,-2-1,-57 70,63-91,0-1,-38 27,23-20,14-9,0-1,0 1,1 0,0 2,2 0,-24 31,26-29,0 1,-2-1,0-1,0-1,-2-1,-39 29,-5 3,46-35,-1 0,0 0,-1-2,-26 14,13-11,5-3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57.2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1834,'1'0,"0"0,0-1,-1 1,1-1,0 1,0-1,0 1,-1-1,1 1,0-1,-1 0,1 1,0-1,-1 0,1 1,0-3,8-7,144-101,-108 75,14-10,78-80,-24 18,-60 58,16-17,-56 54,0 1,27-19,-29 22,1 1,-1-1,0-1,-1 0,15-20,7-11,1 1,48-43,11-12,144-143,-220 222,119-100,-96 79,-1-2,-2-2,-1-1,30-50,-50 71,1 0,2 0,35-32,9-10,-52 52,0 1,0 0,1 0,13-8,7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2BB35-AE6A-4528-8F32-D1F8A7B871D9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340A9-5F99-47E5-A3AD-FD228EA849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05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photos thing is just a suggestion, </a:t>
            </a:r>
            <a:r>
              <a:rPr lang="en-US" dirty="0" err="1"/>
              <a:t>i</a:t>
            </a:r>
            <a:r>
              <a:rPr lang="en-US" dirty="0"/>
              <a:t> find it good idea since people from online never saw us, but I understand if you don’t like it. (stole your linked in photo for that lol)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Also the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footer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last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 will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 In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inconsistencies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897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Though it’s nice to have this in the background when one is talking about the project in general, as a smooth transition to the next slide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61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DC25A-98A9-52A9-1343-DD0BD2E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2B8BB-3C1A-3DAA-2477-EC3E50BA9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B64959-8143-A061-5196-8C69B95EF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vision for this is to make the variable </a:t>
            </a:r>
            <a:r>
              <a:rPr lang="en-US" dirty="0" err="1"/>
              <a:t>colours</a:t>
            </a:r>
            <a:r>
              <a:rPr lang="en-US" dirty="0"/>
              <a:t> appear with the text &amp;</a:t>
            </a:r>
          </a:p>
          <a:p>
            <a:r>
              <a:rPr lang="en-US" dirty="0"/>
              <a:t>Will make the </a:t>
            </a:r>
            <a:r>
              <a:rPr lang="en-US" dirty="0" err="1"/>
              <a:t>colouring</a:t>
            </a:r>
            <a:r>
              <a:rPr lang="en-US" dirty="0"/>
              <a:t> more neat later, this is a draft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26F1C-CB7A-A22D-B1C2-D9FAF3BA3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843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 2: if we want them written in English , or properly listed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47668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162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D4BE6-5076-F4CC-4380-200C5217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87C50-F6AC-DBD0-504D-6644E03F6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B0657-7A19-BB53-C960-5BB6C3C23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43FD0-5253-3770-56C4-FFDF19AB2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7489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sure if we need a whole slide about it, what do you think about it popping in and out of the slide with the full dataset?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185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F1CC-ABF1-4C16-BBB2-7CC8083DBD41}" type="datetime1">
              <a:rPr lang="de-DE" smtClean="0"/>
              <a:t>30.06.2025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9A6BA-2653-433C-BA9E-57AD9EE3A712}" type="datetime1">
              <a:rPr lang="de-DE" smtClean="0"/>
              <a:t>30.06.2025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226A6-5467-47C4-B46A-D1C4752B6C50}" type="datetime1">
              <a:rPr lang="de-DE" smtClean="0"/>
              <a:t>30.06.2025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014D-DF7A-4A17-BE70-CBDCCD05F312}" type="datetime1">
              <a:rPr lang="de-DE" smtClean="0"/>
              <a:t>30.06.2025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58879-59D9-4DFD-ACCE-8F9DA76AC11D}" type="datetime1">
              <a:rPr lang="de-DE" smtClean="0"/>
              <a:t>30.06.2025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68223-0355-4A47-87D8-E56CD5791C42}" type="datetime1">
              <a:rPr lang="de-DE" smtClean="0"/>
              <a:t>30.06.2025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8DA-2725-48DA-8CAB-E21C779E0A52}" type="datetime1">
              <a:rPr lang="de-DE" smtClean="0"/>
              <a:t>30.06.2025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FF235-647B-4139-A6C7-FD3E9D31CB9A}" type="datetime1">
              <a:rPr lang="de-DE" smtClean="0"/>
              <a:t>30.06.2025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839DE-6FAF-4E43-BF2D-2423A301DC2E}" type="datetime1">
              <a:rPr lang="de-DE" smtClean="0"/>
              <a:t>30.06.2025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46073-F360-4B03-9A78-9F6E24BF38BF}" type="datetime1">
              <a:rPr lang="de-DE" smtClean="0"/>
              <a:t>30.06.2025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47668-F355-4DBF-B716-42DB1C64DFB7}" type="datetime1">
              <a:rPr lang="de-DE" smtClean="0"/>
              <a:t>30.06.2025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AA2-7FF6-400D-97F4-AF38EF94CB43}" type="datetime1">
              <a:rPr lang="de-DE" smtClean="0"/>
              <a:t>30.06.2025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1.png"/><Relationship Id="rId1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12" Type="http://schemas.openxmlformats.org/officeDocument/2006/relationships/customXml" Target="../ink/ink5.xml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6" Type="http://schemas.openxmlformats.org/officeDocument/2006/relationships/customXml" Target="../ink/ink7.xml"/><Relationship Id="rId20" Type="http://schemas.openxmlformats.org/officeDocument/2006/relationships/customXml" Target="../ink/ink8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2.xml"/><Relationship Id="rId11" Type="http://schemas.openxmlformats.org/officeDocument/2006/relationships/image" Target="../media/image10.png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10" Type="http://schemas.openxmlformats.org/officeDocument/2006/relationships/customXml" Target="../ink/ink4.xml"/><Relationship Id="rId19" Type="http://schemas.openxmlformats.org/officeDocument/2006/relationships/image" Target="../media/image15.svg"/><Relationship Id="rId4" Type="http://schemas.openxmlformats.org/officeDocument/2006/relationships/customXml" Target="../ink/ink1.xml"/><Relationship Id="rId9" Type="http://schemas.openxmlformats.org/officeDocument/2006/relationships/image" Target="../media/image9.png"/><Relationship Id="rId14" Type="http://schemas.openxmlformats.org/officeDocument/2006/relationships/customXml" Target="../ink/ink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13" Type="http://schemas.openxmlformats.org/officeDocument/2006/relationships/image" Target="../media/image20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12" Type="http://schemas.openxmlformats.org/officeDocument/2006/relationships/customXml" Target="../ink/ink13.xml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6" Type="http://schemas.openxmlformats.org/officeDocument/2006/relationships/customXml" Target="../ink/ink15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10.xml"/><Relationship Id="rId11" Type="http://schemas.openxmlformats.org/officeDocument/2006/relationships/image" Target="../media/image19.png"/><Relationship Id="rId5" Type="http://schemas.openxmlformats.org/officeDocument/2006/relationships/image" Target="../media/image16.png"/><Relationship Id="rId15" Type="http://schemas.openxmlformats.org/officeDocument/2006/relationships/image" Target="../media/image21.png"/><Relationship Id="rId10" Type="http://schemas.openxmlformats.org/officeDocument/2006/relationships/customXml" Target="../ink/ink12.xml"/><Relationship Id="rId4" Type="http://schemas.openxmlformats.org/officeDocument/2006/relationships/customXml" Target="../ink/ink9.xml"/><Relationship Id="rId9" Type="http://schemas.openxmlformats.org/officeDocument/2006/relationships/image" Target="../media/image18.png"/><Relationship Id="rId14" Type="http://schemas.openxmlformats.org/officeDocument/2006/relationships/customXml" Target="../ink/ink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llustration in cartoon style. brezel with salt. on a white background.  11153303 PNG">
            <a:extLst>
              <a:ext uri="{FF2B5EF4-FFF2-40B4-BE49-F238E27FC236}">
                <a16:creationId xmlns:a16="http://schemas.microsoft.com/office/drawing/2014/main" id="{D19955E8-8EDA-1402-9EED-D1126852B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679676">
            <a:off x="7726690" y="3497834"/>
            <a:ext cx="1258333" cy="123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implicity croissant bread freehand continuous line drawing 13643870 PNG">
            <a:extLst>
              <a:ext uri="{FF2B5EF4-FFF2-40B4-BE49-F238E27FC236}">
                <a16:creationId xmlns:a16="http://schemas.microsoft.com/office/drawing/2014/main" id="{B3DC8308-9CEA-617F-FD27-04657563C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3200">
            <a:off x="4592105" y="4009121"/>
            <a:ext cx="1609200" cy="1270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1107"/>
            <a:ext cx="9144000" cy="2387600"/>
          </a:xfrm>
        </p:spPr>
        <p:txBody>
          <a:bodyPr/>
          <a:lstStyle/>
          <a:p>
            <a:r>
              <a:rPr lang="en-GB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Bakery Sales Prediction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23E5C8-4847-18A4-FBCF-D0E62F56B550}"/>
              </a:ext>
            </a:extLst>
          </p:cNvPr>
          <p:cNvSpPr txBox="1"/>
          <p:nvPr/>
        </p:nvSpPr>
        <p:spPr>
          <a:xfrm>
            <a:off x="2505307" y="1452205"/>
            <a:ext cx="7181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Introduction to Data Science and Machine Learning</a:t>
            </a:r>
          </a:p>
          <a:p>
            <a:endParaRPr lang="en-GB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1E64F4-AF6D-8E07-F5EB-730E7DE8D301}"/>
              </a:ext>
            </a:extLst>
          </p:cNvPr>
          <p:cNvSpPr/>
          <p:nvPr/>
        </p:nvSpPr>
        <p:spPr>
          <a:xfrm>
            <a:off x="4221270" y="3818022"/>
            <a:ext cx="1127343" cy="1093344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D1A099-B2B7-0C7E-C6D3-F474F283BF42}"/>
              </a:ext>
            </a:extLst>
          </p:cNvPr>
          <p:cNvSpPr/>
          <p:nvPr/>
        </p:nvSpPr>
        <p:spPr>
          <a:xfrm>
            <a:off x="7177405" y="3859215"/>
            <a:ext cx="1127343" cy="1093344"/>
          </a:xfrm>
          <a:prstGeom prst="ellipse">
            <a:avLst/>
          </a:prstGeom>
          <a:blipFill dpi="0" rotWithShape="1">
            <a:blip r:embed="rId6"/>
            <a:srcRect/>
            <a:stretch>
              <a:fillRect t="-1000" r="-1000" b="-1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30" y="5286789"/>
            <a:ext cx="9144000" cy="426848"/>
          </a:xfrm>
        </p:spPr>
        <p:txBody>
          <a:bodyPr/>
          <a:lstStyle/>
          <a:p>
            <a:r>
              <a:rPr lang="de-DE" dirty="0"/>
              <a:t>Georgia Avgerinou                Anton R</a:t>
            </a:r>
            <a:r>
              <a:rPr lang="en-GB" dirty="0"/>
              <a:t>öfer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D3132-F2CC-EE39-909D-5E59C66B426E}"/>
              </a:ext>
            </a:extLst>
          </p:cNvPr>
          <p:cNvSpPr txBox="1"/>
          <p:nvPr/>
        </p:nvSpPr>
        <p:spPr>
          <a:xfrm>
            <a:off x="4234880" y="6352143"/>
            <a:ext cx="40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Kiel, July 2025</a:t>
            </a:r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F95C9-E092-F7C8-D6F9-A30D01E6B467}"/>
              </a:ext>
            </a:extLst>
          </p:cNvPr>
          <p:cNvSpPr txBox="1"/>
          <p:nvPr/>
        </p:nvSpPr>
        <p:spPr>
          <a:xfrm>
            <a:off x="3225230" y="3148404"/>
            <a:ext cx="609600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Group 3</a:t>
            </a:r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68E07-38A7-7EE4-60A0-C3FEFA15C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Goal: </a:t>
            </a:r>
            <a:r>
              <a:rPr lang="en-US" sz="3600" dirty="0"/>
              <a:t>to </a:t>
            </a:r>
            <a:r>
              <a:rPr lang="en-GB" sz="3600" dirty="0"/>
              <a:t>predict sales for six bakery product categories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28862-0955-FC02-520E-463E0A0F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</a:t>
            </a:fld>
            <a:endParaRPr lang="de-DE"/>
          </a:p>
        </p:txBody>
      </p:sp>
      <p:pic>
        <p:nvPicPr>
          <p:cNvPr id="2050" name="Picture 2" descr="Charterfee ILCA Kieler Woche 2025 international | Charterfee ILCA 4 |  KiWo.int.4">
            <a:extLst>
              <a:ext uri="{FF2B5EF4-FFF2-40B4-BE49-F238E27FC236}">
                <a16:creationId xmlns:a16="http://schemas.microsoft.com/office/drawing/2014/main" id="{97B25243-8AC5-E4A6-AB3B-121006D51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028" y="3892415"/>
            <a:ext cx="1101394" cy="11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oogle Shape;9708;p62">
            <a:extLst>
              <a:ext uri="{FF2B5EF4-FFF2-40B4-BE49-F238E27FC236}">
                <a16:creationId xmlns:a16="http://schemas.microsoft.com/office/drawing/2014/main" id="{4C09F53A-7676-FBB8-D3B0-D4129BB44D69}"/>
              </a:ext>
            </a:extLst>
          </p:cNvPr>
          <p:cNvGrpSpPr/>
          <p:nvPr/>
        </p:nvGrpSpPr>
        <p:grpSpPr>
          <a:xfrm>
            <a:off x="7748280" y="3062137"/>
            <a:ext cx="1070469" cy="820905"/>
            <a:chOff x="7550258" y="3832670"/>
            <a:chExt cx="371395" cy="301279"/>
          </a:xfrm>
          <a:solidFill>
            <a:srgbClr val="1C60A9"/>
          </a:solidFill>
        </p:grpSpPr>
        <p:sp>
          <p:nvSpPr>
            <p:cNvPr id="22" name="Google Shape;9709;p62">
              <a:extLst>
                <a:ext uri="{FF2B5EF4-FFF2-40B4-BE49-F238E27FC236}">
                  <a16:creationId xmlns:a16="http://schemas.microsoft.com/office/drawing/2014/main" id="{75BAFF35-68BB-88CB-4C31-F839C1DFD63C}"/>
                </a:ext>
              </a:extLst>
            </p:cNvPr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710;p62">
              <a:extLst>
                <a:ext uri="{FF2B5EF4-FFF2-40B4-BE49-F238E27FC236}">
                  <a16:creationId xmlns:a16="http://schemas.microsoft.com/office/drawing/2014/main" id="{5EA29391-CC22-DDF7-B82A-2777D47C2455}"/>
                </a:ext>
              </a:extLst>
            </p:cNvPr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711;p62">
              <a:extLst>
                <a:ext uri="{FF2B5EF4-FFF2-40B4-BE49-F238E27FC236}">
                  <a16:creationId xmlns:a16="http://schemas.microsoft.com/office/drawing/2014/main" id="{CB90A08D-D03F-4A80-4FC5-C5E18C2631E7}"/>
                </a:ext>
              </a:extLst>
            </p:cNvPr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712;p62">
              <a:extLst>
                <a:ext uri="{FF2B5EF4-FFF2-40B4-BE49-F238E27FC236}">
                  <a16:creationId xmlns:a16="http://schemas.microsoft.com/office/drawing/2014/main" id="{E17C2A5F-BDFE-1C78-DA37-6F8752CAFA61}"/>
                </a:ext>
              </a:extLst>
            </p:cNvPr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713;p62">
              <a:extLst>
                <a:ext uri="{FF2B5EF4-FFF2-40B4-BE49-F238E27FC236}">
                  <a16:creationId xmlns:a16="http://schemas.microsoft.com/office/drawing/2014/main" id="{E11CBC8D-7A0A-7CCA-C3B9-D36CC88B6341}"/>
                </a:ext>
              </a:extLst>
            </p:cNvPr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14;p62">
              <a:extLst>
                <a:ext uri="{FF2B5EF4-FFF2-40B4-BE49-F238E27FC236}">
                  <a16:creationId xmlns:a16="http://schemas.microsoft.com/office/drawing/2014/main" id="{4A00DCA6-EFDC-4D53-FF4B-D4AEDCABBC61}"/>
                </a:ext>
              </a:extLst>
            </p:cNvPr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715;p62">
              <a:extLst>
                <a:ext uri="{FF2B5EF4-FFF2-40B4-BE49-F238E27FC236}">
                  <a16:creationId xmlns:a16="http://schemas.microsoft.com/office/drawing/2014/main" id="{DE56B0EF-04A8-35B5-A47A-70EA4160F28F}"/>
                </a:ext>
              </a:extLst>
            </p:cNvPr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716;p62">
              <a:extLst>
                <a:ext uri="{FF2B5EF4-FFF2-40B4-BE49-F238E27FC236}">
                  <a16:creationId xmlns:a16="http://schemas.microsoft.com/office/drawing/2014/main" id="{AC966AF8-3349-AABC-2AB3-15CD6B73B4DD}"/>
                </a:ext>
              </a:extLst>
            </p:cNvPr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717;p62">
              <a:extLst>
                <a:ext uri="{FF2B5EF4-FFF2-40B4-BE49-F238E27FC236}">
                  <a16:creationId xmlns:a16="http://schemas.microsoft.com/office/drawing/2014/main" id="{321043A2-F5E9-4D32-DDC8-C7A6D41B8374}"/>
                </a:ext>
              </a:extLst>
            </p:cNvPr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718;p62">
              <a:extLst>
                <a:ext uri="{FF2B5EF4-FFF2-40B4-BE49-F238E27FC236}">
                  <a16:creationId xmlns:a16="http://schemas.microsoft.com/office/drawing/2014/main" id="{947C375B-E86A-36A5-CCDB-D528D0779805}"/>
                </a:ext>
              </a:extLst>
            </p:cNvPr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719;p62">
              <a:extLst>
                <a:ext uri="{FF2B5EF4-FFF2-40B4-BE49-F238E27FC236}">
                  <a16:creationId xmlns:a16="http://schemas.microsoft.com/office/drawing/2014/main" id="{65677A43-6DFF-D821-3256-D8089057C856}"/>
                </a:ext>
              </a:extLst>
            </p:cNvPr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720;p62">
              <a:extLst>
                <a:ext uri="{FF2B5EF4-FFF2-40B4-BE49-F238E27FC236}">
                  <a16:creationId xmlns:a16="http://schemas.microsoft.com/office/drawing/2014/main" id="{B62A5765-522C-BAF4-BFE6-F9AFDF3CDE5C}"/>
                </a:ext>
              </a:extLst>
            </p:cNvPr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721;p62">
              <a:extLst>
                <a:ext uri="{FF2B5EF4-FFF2-40B4-BE49-F238E27FC236}">
                  <a16:creationId xmlns:a16="http://schemas.microsoft.com/office/drawing/2014/main" id="{B90F3C7D-7C55-8A4A-E30F-B9C5F15D5C72}"/>
                </a:ext>
              </a:extLst>
            </p:cNvPr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722;p62">
              <a:extLst>
                <a:ext uri="{FF2B5EF4-FFF2-40B4-BE49-F238E27FC236}">
                  <a16:creationId xmlns:a16="http://schemas.microsoft.com/office/drawing/2014/main" id="{D21BB981-7669-A359-6E7F-59168102D21B}"/>
                </a:ext>
              </a:extLst>
            </p:cNvPr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723;p62">
              <a:extLst>
                <a:ext uri="{FF2B5EF4-FFF2-40B4-BE49-F238E27FC236}">
                  <a16:creationId xmlns:a16="http://schemas.microsoft.com/office/drawing/2014/main" id="{6D6233A2-3447-B27D-E49E-464D8A4F1E1C}"/>
                </a:ext>
              </a:extLst>
            </p:cNvPr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724;p62">
              <a:extLst>
                <a:ext uri="{FF2B5EF4-FFF2-40B4-BE49-F238E27FC236}">
                  <a16:creationId xmlns:a16="http://schemas.microsoft.com/office/drawing/2014/main" id="{F1AB9EC9-EF0A-E905-3893-23EF41ECF9E9}"/>
                </a:ext>
              </a:extLst>
            </p:cNvPr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725;p62">
              <a:extLst>
                <a:ext uri="{FF2B5EF4-FFF2-40B4-BE49-F238E27FC236}">
                  <a16:creationId xmlns:a16="http://schemas.microsoft.com/office/drawing/2014/main" id="{53D433A5-5FEE-12A0-FFE3-23F66719F1FA}"/>
                </a:ext>
              </a:extLst>
            </p:cNvPr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726;p62">
              <a:extLst>
                <a:ext uri="{FF2B5EF4-FFF2-40B4-BE49-F238E27FC236}">
                  <a16:creationId xmlns:a16="http://schemas.microsoft.com/office/drawing/2014/main" id="{15102A54-A5AF-AA26-C3BE-CC13CDA5EA8E}"/>
                </a:ext>
              </a:extLst>
            </p:cNvPr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9736;p62">
            <a:extLst>
              <a:ext uri="{FF2B5EF4-FFF2-40B4-BE49-F238E27FC236}">
                <a16:creationId xmlns:a16="http://schemas.microsoft.com/office/drawing/2014/main" id="{E2603761-3E10-2B92-DEA5-677F51BA390B}"/>
              </a:ext>
            </a:extLst>
          </p:cNvPr>
          <p:cNvGrpSpPr/>
          <p:nvPr/>
        </p:nvGrpSpPr>
        <p:grpSpPr>
          <a:xfrm>
            <a:off x="8733844" y="3697370"/>
            <a:ext cx="1070469" cy="941481"/>
            <a:chOff x="5778676" y="3826972"/>
            <a:chExt cx="349052" cy="313055"/>
          </a:xfrm>
          <a:solidFill>
            <a:srgbClr val="1C60A9"/>
          </a:solidFill>
        </p:grpSpPr>
        <p:sp>
          <p:nvSpPr>
            <p:cNvPr id="41" name="Google Shape;9737;p62">
              <a:extLst>
                <a:ext uri="{FF2B5EF4-FFF2-40B4-BE49-F238E27FC236}">
                  <a16:creationId xmlns:a16="http://schemas.microsoft.com/office/drawing/2014/main" id="{79568E75-18A2-FCC4-F010-7EA86F8613D5}"/>
                </a:ext>
              </a:extLst>
            </p:cNvPr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738;p62">
              <a:extLst>
                <a:ext uri="{FF2B5EF4-FFF2-40B4-BE49-F238E27FC236}">
                  <a16:creationId xmlns:a16="http://schemas.microsoft.com/office/drawing/2014/main" id="{9C891B2B-F43A-36CB-AA26-49E529332AD1}"/>
                </a:ext>
              </a:extLst>
            </p:cNvPr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739;p62">
              <a:extLst>
                <a:ext uri="{FF2B5EF4-FFF2-40B4-BE49-F238E27FC236}">
                  <a16:creationId xmlns:a16="http://schemas.microsoft.com/office/drawing/2014/main" id="{4FA8796F-BBC7-C687-4387-142074A23721}"/>
                </a:ext>
              </a:extLst>
            </p:cNvPr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740;p62">
              <a:extLst>
                <a:ext uri="{FF2B5EF4-FFF2-40B4-BE49-F238E27FC236}">
                  <a16:creationId xmlns:a16="http://schemas.microsoft.com/office/drawing/2014/main" id="{A69A45E0-FFFA-1A8C-F7FE-FE32627C670D}"/>
                </a:ext>
              </a:extLst>
            </p:cNvPr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741;p62">
              <a:extLst>
                <a:ext uri="{FF2B5EF4-FFF2-40B4-BE49-F238E27FC236}">
                  <a16:creationId xmlns:a16="http://schemas.microsoft.com/office/drawing/2014/main" id="{0B5823C7-331B-730A-5801-81928F531CAB}"/>
                </a:ext>
              </a:extLst>
            </p:cNvPr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8840;p61">
            <a:extLst>
              <a:ext uri="{FF2B5EF4-FFF2-40B4-BE49-F238E27FC236}">
                <a16:creationId xmlns:a16="http://schemas.microsoft.com/office/drawing/2014/main" id="{3AB73C61-2092-CABF-6099-FCAEE939B4EB}"/>
              </a:ext>
            </a:extLst>
          </p:cNvPr>
          <p:cNvGrpSpPr/>
          <p:nvPr/>
        </p:nvGrpSpPr>
        <p:grpSpPr>
          <a:xfrm>
            <a:off x="2951090" y="2987840"/>
            <a:ext cx="1070469" cy="1164538"/>
            <a:chOff x="852385" y="1510916"/>
            <a:chExt cx="353145" cy="351998"/>
          </a:xfrm>
          <a:solidFill>
            <a:srgbClr val="1C60A9"/>
          </a:solidFill>
        </p:grpSpPr>
        <p:sp>
          <p:nvSpPr>
            <p:cNvPr id="47" name="Google Shape;8841;p61">
              <a:extLst>
                <a:ext uri="{FF2B5EF4-FFF2-40B4-BE49-F238E27FC236}">
                  <a16:creationId xmlns:a16="http://schemas.microsoft.com/office/drawing/2014/main" id="{399BFD79-D546-2AA3-BD74-8C4F7EB84765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842;p61">
              <a:extLst>
                <a:ext uri="{FF2B5EF4-FFF2-40B4-BE49-F238E27FC236}">
                  <a16:creationId xmlns:a16="http://schemas.microsoft.com/office/drawing/2014/main" id="{8A34ABFA-0AF5-2732-E6EF-4DCCBA8833E7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843;p61">
              <a:extLst>
                <a:ext uri="{FF2B5EF4-FFF2-40B4-BE49-F238E27FC236}">
                  <a16:creationId xmlns:a16="http://schemas.microsoft.com/office/drawing/2014/main" id="{1079EC86-A04B-E2A6-028C-3A15E7474E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8363;p60">
            <a:extLst>
              <a:ext uri="{FF2B5EF4-FFF2-40B4-BE49-F238E27FC236}">
                <a16:creationId xmlns:a16="http://schemas.microsoft.com/office/drawing/2014/main" id="{08C790DD-D246-811B-B409-289DD4191A21}"/>
              </a:ext>
            </a:extLst>
          </p:cNvPr>
          <p:cNvGrpSpPr/>
          <p:nvPr/>
        </p:nvGrpSpPr>
        <p:grpSpPr>
          <a:xfrm>
            <a:off x="4216952" y="2797155"/>
            <a:ext cx="1101394" cy="992715"/>
            <a:chOff x="1404617" y="3226962"/>
            <a:chExt cx="370169" cy="325966"/>
          </a:xfrm>
          <a:solidFill>
            <a:srgbClr val="1C60A9"/>
          </a:solidFill>
        </p:grpSpPr>
        <p:sp>
          <p:nvSpPr>
            <p:cNvPr id="51" name="Google Shape;8364;p60">
              <a:extLst>
                <a:ext uri="{FF2B5EF4-FFF2-40B4-BE49-F238E27FC236}">
                  <a16:creationId xmlns:a16="http://schemas.microsoft.com/office/drawing/2014/main" id="{D86ACDC4-90AF-0AD7-6C9A-7FF586499A0B}"/>
                </a:ext>
              </a:extLst>
            </p:cNvPr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365;p60">
              <a:extLst>
                <a:ext uri="{FF2B5EF4-FFF2-40B4-BE49-F238E27FC236}">
                  <a16:creationId xmlns:a16="http://schemas.microsoft.com/office/drawing/2014/main" id="{493B878A-2DEA-5D36-EADA-0C8779BC6EF1}"/>
                </a:ext>
              </a:extLst>
            </p:cNvPr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366;p60">
              <a:extLst>
                <a:ext uri="{FF2B5EF4-FFF2-40B4-BE49-F238E27FC236}">
                  <a16:creationId xmlns:a16="http://schemas.microsoft.com/office/drawing/2014/main" id="{06941634-E354-CE20-7FD9-0E01FA956C69}"/>
                </a:ext>
              </a:extLst>
            </p:cNvPr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367;p60">
              <a:extLst>
                <a:ext uri="{FF2B5EF4-FFF2-40B4-BE49-F238E27FC236}">
                  <a16:creationId xmlns:a16="http://schemas.microsoft.com/office/drawing/2014/main" id="{D3E03EE8-C931-F5EE-BC44-9B7DD7F55425}"/>
                </a:ext>
              </a:extLst>
            </p:cNvPr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368;p60">
              <a:extLst>
                <a:ext uri="{FF2B5EF4-FFF2-40B4-BE49-F238E27FC236}">
                  <a16:creationId xmlns:a16="http://schemas.microsoft.com/office/drawing/2014/main" id="{9DBB00E3-E4B9-44B6-B4C9-D6B2D8822E6D}"/>
                </a:ext>
              </a:extLst>
            </p:cNvPr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369;p60">
              <a:extLst>
                <a:ext uri="{FF2B5EF4-FFF2-40B4-BE49-F238E27FC236}">
                  <a16:creationId xmlns:a16="http://schemas.microsoft.com/office/drawing/2014/main" id="{F825EBAD-5929-5143-1479-00BF3DFB93A2}"/>
                </a:ext>
              </a:extLst>
            </p:cNvPr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370;p60">
              <a:extLst>
                <a:ext uri="{FF2B5EF4-FFF2-40B4-BE49-F238E27FC236}">
                  <a16:creationId xmlns:a16="http://schemas.microsoft.com/office/drawing/2014/main" id="{C6168B47-3E9D-B09F-2CDD-9DFD75B7B7D6}"/>
                </a:ext>
              </a:extLst>
            </p:cNvPr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371;p60">
              <a:extLst>
                <a:ext uri="{FF2B5EF4-FFF2-40B4-BE49-F238E27FC236}">
                  <a16:creationId xmlns:a16="http://schemas.microsoft.com/office/drawing/2014/main" id="{B4F498FA-4576-BFBC-72A0-44938D5D54AB}"/>
                </a:ext>
              </a:extLst>
            </p:cNvPr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8372;p60">
              <a:extLst>
                <a:ext uri="{FF2B5EF4-FFF2-40B4-BE49-F238E27FC236}">
                  <a16:creationId xmlns:a16="http://schemas.microsoft.com/office/drawing/2014/main" id="{F33460B0-B63B-B4A4-D74B-6BBEFB6AAF66}"/>
                </a:ext>
              </a:extLst>
            </p:cNvPr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5" name="Google Shape;740;p54">
            <a:extLst>
              <a:ext uri="{FF2B5EF4-FFF2-40B4-BE49-F238E27FC236}">
                <a16:creationId xmlns:a16="http://schemas.microsoft.com/office/drawing/2014/main" id="{D8A7BBED-77B6-73CA-F211-FC4C9AE37A1A}"/>
              </a:ext>
            </a:extLst>
          </p:cNvPr>
          <p:cNvGrpSpPr/>
          <p:nvPr/>
        </p:nvGrpSpPr>
        <p:grpSpPr>
          <a:xfrm>
            <a:off x="5954388" y="3755997"/>
            <a:ext cx="1070469" cy="470200"/>
            <a:chOff x="4920150" y="1977875"/>
            <a:chExt cx="68525" cy="33800"/>
          </a:xfrm>
          <a:solidFill>
            <a:schemeClr val="bg1">
              <a:lumMod val="85000"/>
            </a:schemeClr>
          </a:solidFill>
        </p:grpSpPr>
        <p:sp>
          <p:nvSpPr>
            <p:cNvPr id="2096" name="Google Shape;741;p54">
              <a:extLst>
                <a:ext uri="{FF2B5EF4-FFF2-40B4-BE49-F238E27FC236}">
                  <a16:creationId xmlns:a16="http://schemas.microsoft.com/office/drawing/2014/main" id="{965B97C2-C815-DC0B-09E0-F09E52D6BB38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742;p54">
              <a:extLst>
                <a:ext uri="{FF2B5EF4-FFF2-40B4-BE49-F238E27FC236}">
                  <a16:creationId xmlns:a16="http://schemas.microsoft.com/office/drawing/2014/main" id="{0165B252-76ED-2683-B01A-FAB13336CC56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743;p54">
              <a:extLst>
                <a:ext uri="{FF2B5EF4-FFF2-40B4-BE49-F238E27FC236}">
                  <a16:creationId xmlns:a16="http://schemas.microsoft.com/office/drawing/2014/main" id="{FCB41427-B857-4FC2-A1D5-82E191BB7700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382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6537E-A276-10BF-52D7-2BB755360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14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BBC216F9-8BED-390C-8BD7-B636F3A1FC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8811" y="1396128"/>
            <a:ext cx="8034377" cy="516388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94B5DDA-258F-E678-BE8A-28F06BB52FD2}"/>
                  </a:ext>
                </a:extLst>
              </p14:cNvPr>
              <p14:cNvContentPartPr/>
              <p14:nvPr/>
            </p14:nvContentPartPr>
            <p14:xfrm>
              <a:off x="8997828" y="2031695"/>
              <a:ext cx="810217" cy="719983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94B5DDA-258F-E678-BE8A-28F06BB52FD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43838" y="1923698"/>
                <a:ext cx="917838" cy="9356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83314EA-503A-4450-5277-82A76FBF16E9}"/>
                  </a:ext>
                </a:extLst>
              </p14:cNvPr>
              <p14:cNvContentPartPr/>
              <p14:nvPr/>
            </p14:nvContentPartPr>
            <p14:xfrm>
              <a:off x="8620389" y="2581663"/>
              <a:ext cx="257470" cy="205655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83314EA-503A-4450-5277-82A76FBF16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566374" y="2473424"/>
                <a:ext cx="365139" cy="4217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EE0D9867-9E6D-B074-FCD9-26FE975CC5B2}"/>
                  </a:ext>
                </a:extLst>
              </p14:cNvPr>
              <p14:cNvContentPartPr/>
              <p14:nvPr/>
            </p14:nvContentPartPr>
            <p14:xfrm>
              <a:off x="8331700" y="2351505"/>
              <a:ext cx="507000" cy="363413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EE0D9867-9E6D-B074-FCD9-26FE975CC5B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277687" y="2243454"/>
                <a:ext cx="614665" cy="5791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60B3511-F544-678D-70B5-2601259DF5FA}"/>
                  </a:ext>
                </a:extLst>
              </p14:cNvPr>
              <p14:cNvContentPartPr/>
              <p14:nvPr/>
            </p14:nvContentPartPr>
            <p14:xfrm>
              <a:off x="7473089" y="2275827"/>
              <a:ext cx="626850" cy="467571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60B3511-F544-678D-70B5-2601259DF5F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419050" y="2167843"/>
                <a:ext cx="734567" cy="6831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6F6053F0-0099-A0BB-3DB8-5FD30FC9B32F}"/>
                  </a:ext>
                </a:extLst>
              </p14:cNvPr>
              <p14:cNvContentPartPr/>
              <p14:nvPr/>
            </p14:nvContentPartPr>
            <p14:xfrm>
              <a:off x="7234868" y="2153719"/>
              <a:ext cx="637059" cy="597959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6F6053F0-0099-A0BB-3DB8-5FD30FC9B32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180880" y="2045719"/>
                <a:ext cx="744675" cy="8135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7764618A-C615-7F08-15D7-6B9475EACC78}"/>
                  </a:ext>
                </a:extLst>
              </p14:cNvPr>
              <p14:cNvContentPartPr/>
              <p14:nvPr/>
            </p14:nvContentPartPr>
            <p14:xfrm>
              <a:off x="5069709" y="2320996"/>
              <a:ext cx="527416" cy="498362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7764618A-C615-7F08-15D7-6B9475EACC7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015707" y="2212970"/>
                <a:ext cx="635059" cy="7140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E4F582A-1EFE-A082-3569-051796C9E454}"/>
                  </a:ext>
                </a:extLst>
              </p14:cNvPr>
              <p14:cNvContentPartPr/>
              <p14:nvPr/>
            </p14:nvContentPartPr>
            <p14:xfrm>
              <a:off x="4774508" y="2045123"/>
              <a:ext cx="716833" cy="697555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E4F582A-1EFE-A082-3569-051796C9E45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720503" y="1937087"/>
                <a:ext cx="824484" cy="91326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5C66BB43-F1BF-21FF-0C3D-7CEA2668F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630165-E8DE-7D55-47D0-47E7E7129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3</a:t>
            </a:fld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B776344B-2CA6-9729-FD77-B31B1605282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2" name="Graphic 11" descr="Line arrow: Counter-clockwise curve with solid fill">
            <a:extLst>
              <a:ext uri="{FF2B5EF4-FFF2-40B4-BE49-F238E27FC236}">
                <a16:creationId xmlns:a16="http://schemas.microsoft.com/office/drawing/2014/main" id="{B2EC6A4F-8BC4-146B-9DE6-F0DD733DCBB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1841549" flipH="1">
            <a:off x="5399630" y="1283131"/>
            <a:ext cx="677030" cy="66188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59E811D5-AF4D-7CBF-A759-E4B63CC7179C}"/>
                  </a:ext>
                </a:extLst>
              </p14:cNvPr>
              <p14:cNvContentPartPr/>
              <p14:nvPr/>
            </p14:nvContentPartPr>
            <p14:xfrm>
              <a:off x="7956200" y="2244316"/>
              <a:ext cx="527416" cy="498362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59E811D5-AF4D-7CBF-A759-E4B63CC7179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902198" y="2136290"/>
                <a:ext cx="635059" cy="714055"/>
              </a:xfrm>
              <a:prstGeom prst="rect">
                <a:avLst/>
              </a:prstGeom>
            </p:spPr>
          </p:pic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E5EEEC8-860E-8A4C-6F44-9EA6BF983B20}"/>
              </a:ext>
            </a:extLst>
          </p:cNvPr>
          <p:cNvSpPr txBox="1"/>
          <p:nvPr/>
        </p:nvSpPr>
        <p:spPr>
          <a:xfrm>
            <a:off x="5973703" y="1101924"/>
            <a:ext cx="2864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from given data</a:t>
            </a:r>
            <a:endParaRPr lang="en-GB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A0A9D4-FD17-6B41-4061-4995BD7AAD70}"/>
              </a:ext>
            </a:extLst>
          </p:cNvPr>
          <p:cNvSpPr txBox="1"/>
          <p:nvPr/>
        </p:nvSpPr>
        <p:spPr>
          <a:xfrm>
            <a:off x="10446964" y="1303877"/>
            <a:ext cx="2864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new variables</a:t>
            </a:r>
            <a:endParaRPr lang="en-GB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28" name="Graphic 27" descr="Line arrow: Counter-clockwise curve with solid fill">
            <a:extLst>
              <a:ext uri="{FF2B5EF4-FFF2-40B4-BE49-F238E27FC236}">
                <a16:creationId xmlns:a16="http://schemas.microsoft.com/office/drawing/2014/main" id="{CE8F1840-EE9B-DEB0-120C-1D1DA448C1C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2833819" flipH="1">
            <a:off x="9803306" y="1332003"/>
            <a:ext cx="677030" cy="661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355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431FE91-EA5E-08BE-4954-76A8F8806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 – Option 2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74611-7965-0D8E-93BB-6465D8837F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97251" y="2399781"/>
            <a:ext cx="4198861" cy="1995319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New variables from given data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Weekend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New Years Eve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AE5D-D67E-1CD8-3CF8-3B21CC860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4</a:t>
            </a:fld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7284C433-A643-362B-43A1-BEE4815EE24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" name="Grafik 14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49768F3A-13E9-3C77-8EB2-623D9DE250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20" y="1594373"/>
            <a:ext cx="7608731" cy="489031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AE03D4C1-FF55-741C-334D-D6A742813CB4}"/>
                  </a:ext>
                </a:extLst>
              </p14:cNvPr>
              <p14:cNvContentPartPr/>
              <p14:nvPr/>
            </p14:nvContentPartPr>
            <p14:xfrm>
              <a:off x="6624438" y="2169021"/>
              <a:ext cx="771480" cy="6818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AE03D4C1-FF55-741C-334D-D6A742813CB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70438" y="2061021"/>
                <a:ext cx="879120" cy="89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07C82C1-7633-7631-180A-E3A397B76B0D}"/>
                  </a:ext>
                </a:extLst>
              </p14:cNvPr>
              <p14:cNvContentPartPr/>
              <p14:nvPr/>
            </p14:nvContentPartPr>
            <p14:xfrm>
              <a:off x="6221598" y="2691741"/>
              <a:ext cx="245160" cy="1947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07C82C1-7633-7631-180A-E3A397B76B0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167598" y="2584101"/>
                <a:ext cx="352800" cy="41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C3B3DDE-2E61-DD69-0723-B0CCEA6CAB75}"/>
                  </a:ext>
                </a:extLst>
              </p14:cNvPr>
              <p14:cNvContentPartPr/>
              <p14:nvPr/>
            </p14:nvContentPartPr>
            <p14:xfrm>
              <a:off x="5925678" y="2497701"/>
              <a:ext cx="482760" cy="3441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C3B3DDE-2E61-DD69-0723-B0CCEA6CAB7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71678" y="2389701"/>
                <a:ext cx="590400" cy="55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C9A36FB-C097-9560-C468-E4E1D2733421}"/>
                  </a:ext>
                </a:extLst>
              </p14:cNvPr>
              <p14:cNvContentPartPr/>
              <p14:nvPr/>
            </p14:nvContentPartPr>
            <p14:xfrm>
              <a:off x="5163198" y="2399781"/>
              <a:ext cx="596880" cy="4428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C9A36FB-C097-9560-C468-E4E1D273342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109558" y="2292141"/>
                <a:ext cx="704520" cy="65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6B36CEC0-7F88-EF4E-D8BD-EFF1FE0CD099}"/>
                  </a:ext>
                </a:extLst>
              </p14:cNvPr>
              <p14:cNvContentPartPr/>
              <p14:nvPr/>
            </p14:nvContentPartPr>
            <p14:xfrm>
              <a:off x="4912278" y="2284581"/>
              <a:ext cx="606600" cy="5662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6B36CEC0-7F88-EF4E-D8BD-EFF1FE0CD09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58278" y="2176941"/>
                <a:ext cx="714240" cy="78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80FE12CB-39A0-E5EE-4756-3C102A2F5199}"/>
                  </a:ext>
                </a:extLst>
              </p14:cNvPr>
              <p14:cNvContentPartPr/>
              <p14:nvPr/>
            </p14:nvContentPartPr>
            <p14:xfrm>
              <a:off x="2670918" y="2446581"/>
              <a:ext cx="502200" cy="47196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80FE12CB-39A0-E5EE-4756-3C102A2F519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617278" y="2338941"/>
                <a:ext cx="609840" cy="68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09DFC49B-1F4D-D09A-E3EC-6728BEF20012}"/>
                  </a:ext>
                </a:extLst>
              </p14:cNvPr>
              <p14:cNvContentPartPr/>
              <p14:nvPr/>
            </p14:nvContentPartPr>
            <p14:xfrm>
              <a:off x="2375718" y="2181261"/>
              <a:ext cx="682560" cy="6606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09DFC49B-1F4D-D09A-E3EC-6728BEF2001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321718" y="2073621"/>
                <a:ext cx="790200" cy="876240"/>
              </a:xfrm>
              <a:prstGeom prst="rect">
                <a:avLst/>
              </a:prstGeom>
            </p:spPr>
          </p:pic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1549D66D-678F-9908-E9C8-EA88C5225543}"/>
              </a:ext>
            </a:extLst>
          </p:cNvPr>
          <p:cNvSpPr txBox="1"/>
          <p:nvPr/>
        </p:nvSpPr>
        <p:spPr>
          <a:xfrm>
            <a:off x="7802274" y="2403318"/>
            <a:ext cx="3890131" cy="3450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New variables from external data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School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Voting 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VPI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Precipitation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3004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0F1-980F-7A77-63B6-88238327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C3C5-6EFD-1B97-9AAA-CF5B412BEA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Working on it now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39D27-0C08-CFD5-F68C-DDF61C86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1609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05696"/>
            <a:ext cx="9298230" cy="597530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57835F-B58A-52D7-C8E6-AEE22F08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F32F49-F7DC-0B5C-D84D-FF46B6A8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F26B-EEDF-1BF1-8C15-F0795980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2FA2429B-E532-AE85-3480-7E523B4796F2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F7EEF2A-24E4-134A-46AC-94E8AD3E4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66332"/>
            <a:ext cx="9298230" cy="585403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60219-8521-0713-2F56-D31622D0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7</a:t>
            </a:fld>
            <a:endParaRPr lang="de-DE"/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4BC40D21-5199-EE84-FCBB-876E1155AA80}"/>
              </a:ext>
            </a:extLst>
          </p:cNvPr>
          <p:cNvSpPr txBox="1">
            <a:spLocks/>
          </p:cNvSpPr>
          <p:nvPr/>
        </p:nvSpPr>
        <p:spPr>
          <a:xfrm>
            <a:off x="229515" y="136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Dealing with missing values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007710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66555"/>
            <a:ext cx="9878660" cy="648610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B44934-BC28-F8ED-5A8B-24681CB3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E7BCC090-C36A-89F7-6166-983AA319B98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2"/>
          <a:stretch>
            <a:fillRect/>
          </a:stretch>
        </p:blipFill>
        <p:spPr>
          <a:xfrm>
            <a:off x="1925782" y="0"/>
            <a:ext cx="9357306" cy="661221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9EA7D-2944-F8BB-0790-D8DDA37C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9</a:t>
            </a:fld>
            <a:endParaRPr lang="de-DE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A58E2A5-3356-6A14-2858-DE769781C175}"/>
              </a:ext>
            </a:extLst>
          </p:cNvPr>
          <p:cNvSpPr/>
          <p:nvPr/>
        </p:nvSpPr>
        <p:spPr>
          <a:xfrm>
            <a:off x="1475507" y="1939634"/>
            <a:ext cx="378036" cy="2499893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D68E482B-25D3-BFFD-5058-9F8CCFD17552}"/>
              </a:ext>
            </a:extLst>
          </p:cNvPr>
          <p:cNvSpPr/>
          <p:nvPr/>
        </p:nvSpPr>
        <p:spPr>
          <a:xfrm>
            <a:off x="1544822" y="5618019"/>
            <a:ext cx="310248" cy="738331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C5493EA-DEB7-819D-7281-6B735A768E18}"/>
              </a:ext>
            </a:extLst>
          </p:cNvPr>
          <p:cNvSpPr/>
          <p:nvPr/>
        </p:nvSpPr>
        <p:spPr>
          <a:xfrm>
            <a:off x="1543295" y="4558749"/>
            <a:ext cx="310248" cy="940048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049DF-BB52-0205-2974-D21A3E754FED}"/>
              </a:ext>
            </a:extLst>
          </p:cNvPr>
          <p:cNvSpPr txBox="1"/>
          <p:nvPr/>
        </p:nvSpPr>
        <p:spPr>
          <a:xfrm>
            <a:off x="497911" y="3004914"/>
            <a:ext cx="977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11579-C895-7DF8-1988-703A8AA4EBB0}"/>
              </a:ext>
            </a:extLst>
          </p:cNvPr>
          <p:cNvSpPr txBox="1"/>
          <p:nvPr/>
        </p:nvSpPr>
        <p:spPr>
          <a:xfrm>
            <a:off x="322253" y="4844107"/>
            <a:ext cx="1208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Validation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71FED-4548-AEA1-975F-4AB58A7DCE8B}"/>
              </a:ext>
            </a:extLst>
          </p:cNvPr>
          <p:cNvSpPr txBox="1"/>
          <p:nvPr/>
        </p:nvSpPr>
        <p:spPr>
          <a:xfrm>
            <a:off x="921084" y="5802518"/>
            <a:ext cx="608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5B894-46ED-89DF-D13F-791365A0EE07}"/>
              </a:ext>
            </a:extLst>
          </p:cNvPr>
          <p:cNvSpPr txBox="1"/>
          <p:nvPr/>
        </p:nvSpPr>
        <p:spPr>
          <a:xfrm>
            <a:off x="57533" y="132318"/>
            <a:ext cx="170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dataset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659" y="0"/>
            <a:ext cx="9671823" cy="6481981"/>
          </a:xfrm>
          <a:prstGeom prst="rect">
            <a:avLst/>
          </a:prstGeom>
        </p:spPr>
      </p:pic>
      <p:sp>
        <p:nvSpPr>
          <p:cNvPr id="3" name="TextBox 4">
            <a:extLst>
              <a:ext uri="{FF2B5EF4-FFF2-40B4-BE49-F238E27FC236}">
                <a16:creationId xmlns:a16="http://schemas.microsoft.com/office/drawing/2014/main" id="{AA969668-41C2-2371-36BB-952A209FC55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32A68-DF30-BC59-EC1F-A33CEECBE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484" y="0"/>
            <a:ext cx="11263031" cy="6858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9C6682-84CB-F038-85C4-D1C6DCB1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A0711C-F0D9-1923-8FB4-A707908C1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679775-37E7-FC6D-85B4-1280FF07D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ADBEA1-31EF-4EE4-0BB8-AD1312F0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023DCC-0A33-6888-F9D2-759E9829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443</Words>
  <Application>Microsoft Office PowerPoint</Application>
  <PresentationFormat>Widescreen</PresentationFormat>
  <Paragraphs>71</Paragraphs>
  <Slides>15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 Theme</vt:lpstr>
      <vt:lpstr>Bakery Sales Prediction</vt:lpstr>
      <vt:lpstr>Goal: to predict sales for six bakery product categories</vt:lpstr>
      <vt:lpstr>Additional variables</vt:lpstr>
      <vt:lpstr>Additional variables – Option 2</vt:lpstr>
      <vt:lpstr>2 Bar charts for 1 variable for each category</vt:lpstr>
      <vt:lpstr>Dealing with missing values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Georgia Avgerinou</cp:lastModifiedBy>
  <cp:revision>4</cp:revision>
  <dcterms:created xsi:type="dcterms:W3CDTF">2025-06-28T09:13:20Z</dcterms:created>
  <dcterms:modified xsi:type="dcterms:W3CDTF">2025-06-30T10:04:36Z</dcterms:modified>
</cp:coreProperties>
</file>