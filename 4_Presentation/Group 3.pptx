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9.xml" ContentType="application/vnd.openxmlformats-officedocument.presentationml.notesSlide+xml"/>
  <Override PartName="/ppt/ink/ink3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9"/>
  </p:notesMasterIdLst>
  <p:sldIdLst>
    <p:sldId id="256" r:id="rId2"/>
    <p:sldId id="273" r:id="rId3"/>
    <p:sldId id="277" r:id="rId4"/>
    <p:sldId id="271" r:id="rId5"/>
    <p:sldId id="289" r:id="rId6"/>
    <p:sldId id="290" r:id="rId7"/>
    <p:sldId id="291" r:id="rId8"/>
    <p:sldId id="278" r:id="rId9"/>
    <p:sldId id="279" r:id="rId10"/>
    <p:sldId id="269" r:id="rId11"/>
    <p:sldId id="260" r:id="rId12"/>
    <p:sldId id="283" r:id="rId13"/>
    <p:sldId id="292" r:id="rId14"/>
    <p:sldId id="284" r:id="rId15"/>
    <p:sldId id="285" r:id="rId16"/>
    <p:sldId id="275" r:id="rId17"/>
    <p:sldId id="282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08" autoAdjust="0"/>
    <p:restoredTop sz="93557" autoAdjust="0"/>
  </p:normalViewPr>
  <p:slideViewPr>
    <p:cSldViewPr snapToGrid="0">
      <p:cViewPr varScale="1">
        <p:scale>
          <a:sx n="57" d="100"/>
          <a:sy n="57" d="100"/>
        </p:scale>
        <p:origin x="1068" y="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5:06.8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568 1500 24575,'0'-3'0,"1"0"0,0-1 0,0 1 0,0 0 0,0 0 0,0 0 0,1 0 0,-1 0 0,1 0 0,0 0 0,0 1 0,0-1 0,0 0 0,0 1 0,1 0 0,-1-1 0,1 1 0,0 0 0,-1 1 0,7-4 0,5-3 0,0 1 0,28-10 0,-16 9 0,0 1 0,35-4 0,-31 6 0,34-9 0,-60 12 0,1 0 0,-1 0 0,1 0 0,-1 0 0,0-1 0,0 0 0,0 0 0,0 0 0,-1 0 0,1-1 0,-1 1 0,0-1 0,0 0 0,0 0 0,-1 0 0,1-1 0,-1 1 0,0 0 0,0-1 0,-1 1 0,1-1 0,-1 0 0,0 0 0,0 1 0,0-1 0,-1 0 0,0 0 0,0 0 0,0 0 0,-1 0 0,1 1 0,-1-1 0,-2-7 0,2 10 0,0 0 0,0 0 0,0 0 0,-1 0 0,1 0 0,0 0 0,-1 0 0,1 0 0,-1 0 0,0 1 0,0-1 0,0 0 0,0 1 0,0 0 0,0-1 0,0 1 0,0 0 0,0 0 0,0 0 0,-1 1 0,1-1 0,0 0 0,-1 1 0,1 0 0,0-1 0,-3 1 0,1 0 0,0 0 0,0 0 0,0 1 0,0-1 0,1 1 0,-1 0 0,0 0 0,0 0 0,1 0 0,-1 1 0,1 0 0,-1-1 0,1 1 0,0 1 0,-5 3 0,-24 28 0,23-23 0,-1 0 0,-12 10 0,4-4 0,0 0 0,-24 33 0,-6 6 0,33-41 0,3-2 0,0-1 0,-1 0 0,-21 15 0,-26 15 0,29-19 0,-61 34 0,47-39 0,37-16 0,1 0 0,-1 1 0,1 0 0,0 1 0,0 0 0,0 0 0,1 0 0,-1 1 0,-7 7 0,1-1 0,0 1 0,-26 16 0,4-3 0,30-21 0,1 0 0,-1 0 0,1 1 0,1 0 0,-1 0 0,-5 9 0,-12 16 0,-4-4 0,19-20 0,-1 0 0,1 0 0,1 1 0,-1-1 0,1 1 0,0 1 0,1-1 0,-1 1 0,-2 9 0,3-6 0,1 0 0,0 0 0,-2 22 0,5-30 0,-1 0 0,1 1 0,0-1 0,0 0 0,1 0 0,-1 1 0,1-1 0,-1 0 0,1 0 0,0 1 0,0-1 0,0 0 0,1 0 0,-1 0 0,1-1 0,0 1 0,3 5 0,-4-7 0,1-1 0,-1 1 0,0 0 0,0 0 0,1 0 0,-1-1 0,1 1 0,-1-1 0,0 1 0,1-1 0,-1 1 0,1-1 0,-1 0 0,1 0 0,0 0 0,-1 0 0,1 0 0,-1 0 0,1 0 0,-1 0 0,1-1 0,-1 1 0,1-1 0,-1 1 0,0-1 0,1 1 0,-1-1 0,0 0 0,1 0 0,1-1 0,5-4 0,0 0 0,0-1 0,11-12 0,-5 5 0,6-4 0,-1 0 0,0-2 0,-2 0 0,0-1 0,-1-1 0,-2 0 0,21-41 0,-26 42 0,2 1 0,0 0 0,1 1 0,1 0 0,1 0 0,1 2 0,25-26 0,99-102 0,-135 140 0,13-15 0,21-20 0,-33 36 0,-1 0 0,1 0 0,0 0 0,0 1 0,1-1 0,-1 1 0,0 1 0,1-1 0,0 1 0,10-3 0,-15 5 0,1-1 0,-1 1 0,1 0 0,-1 0 0,1 0 0,-1 0 0,0 0 0,1 0 0,-1 0 0,1 1 0,-1-1 0,1 1 0,-1-1 0,0 1 0,1-1 0,-1 1 0,0 0 0,1-1 0,-1 1 0,0 0 0,0 0 0,0 0 0,0 0 0,0 0 0,0 0 0,0 0 0,0 1 0,0-1 0,0 0 0,-1 0 0,1 1 0,-1-1 0,1 0 0,-1 1 0,1-1 0,-1 1 0,0-1 0,1 0 0,-1 1 0,0 1 0,1 7 0,-1-1 0,0 1 0,-1 0 0,-2 15 0,3-24 0,-2 8 0,-1 0 0,1 0 0,-2 0 0,1 0 0,-1-1 0,0 1 0,-1-1 0,-7 9 0,-52 62 0,24-31 0,2-1 0,-62 83 0,95-121 0,1-1 0,0 1 0,-4 10 0,7-14 0,-1 1 0,0-1 0,0 0 0,0 0 0,-1-1 0,0 1 0,0 0 0,0-1 0,0 0 0,-1 0 0,-7 7 0,10-10 0,0 0 0,0-1 0,0 1 0,0-1 0,0 0 0,1 1 0,-1-1 0,0 0 0,0 1 0,0-1 0,0 0 0,0 0 0,-1 0 0,1 0 0,0 0 0,0 0 0,0 0 0,0 0 0,0-1 0,0 1 0,0 0 0,0 0 0,0-1 0,1 1 0,-1-1 0,0 1 0,0-1 0,0 1 0,0-1 0,0 0 0,1 1 0,-1-1 0,0 0 0,1 0 0,-2-1 0,-2-3 0,0-1 0,1 0 0,-1 0 0,-3-10 0,1 3 0,-6-15 0,0 0 0,2-1 0,1 0 0,1-1 0,1 0 0,-3-50 0,6-188 0,6 157 0,-3 47 0,4 0 0,20-118 0,-17 160 0,1-1 0,1 2 0,1-1 0,1 1 0,1 1 0,22-34 0,-21 36 0,-2-1 0,0 0 0,12-36 0,13-64 0,-22 69 0,-4 17 17,52-207 303,-50 186-888,-2 0 1,2-82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2:53:32.7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1 664 24575,'1'-36'0,"2"1"0,14-70 0,30-66 0,-44 159 0,19-79 0,-17 63 0,2 0 0,1 0 0,16-38 0,-22 62 0,1-1 0,0 1 0,0 0 0,0 0 0,1 0 0,0 0 0,-1 0 0,1 1 0,1 0 0,-1-1 0,0 2 0,1-1 0,-1 0 0,1 1 0,0 0 0,0 0 0,0 0 0,0 1 0,0 0 0,0 0 0,1 0 0,-1 0 0,0 1 0,0 0 0,1 0 0,-1 1 0,0-1 0,0 1 0,0 0 0,1 0 0,-1 1 0,0 0 0,0 0 0,-1 0 0,1 0 0,0 1 0,-1-1 0,1 1 0,-1 1 0,0-1 0,0 0 0,0 1 0,5 7 0,0 2 0,-1 1 0,0 1 0,-1-1 0,-1 1 0,8 27 0,10 23 0,-15-42 0,0 1 0,-1 0 0,-2 1 0,0-1 0,-2 1 0,0 1 0,-1 40 0,-2-44 0,1 0 0,1 0 0,1-1 0,12 42 0,-2-25 0,33 65 0,-40-89 49,0 1-1,-2 0 1,0 0 0,-1 1-1,0-1 1,2 28 0,-2 94-1514,-5-128 1224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07/07/2025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56F8-5CD8-F8B6-9BD7-F33DF2041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ED72-A4E3-AA28-778E-36E3BCBA4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33CED-9617-5AAB-0799-102A08F8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624C15-78B6-8561-FE72-DA1CFC9D6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1979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9742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D0C63-93D3-9978-2C1A-6F681F4F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F074E-EE6A-624B-24CF-B7CE9049E6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58684-4706-03D3-7E4E-0CDFFE2A73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3FF9F-2D31-2BB1-F312-0E11512E3F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835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3DE2-D437-34FF-AAC8-9BA4054B7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1BDFF-6C60-D5A4-D128-15474CA63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58C0AD-830C-B3EB-5078-C7579F35A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 score 2= December 1= November 0=anything else 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CBE2-6426-26A3-730F-C66FAAB52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02167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9BF02-E702-B48A-B80A-D9D841C44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992987-FB66-120D-1DD1-615FBFB3C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4A8CE-226F-89AE-9ADC-AF3A5831F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=(10, 6))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(data=group6_data, x='seasonal_score2',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ci=95)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('Group 6 Sales by 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('Seasonal Score',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Show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data.drop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(columns=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cols_to_remove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pandas as pd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seaborn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matplotlib.pyplot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Assuming your data is in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called 'data'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Melt data to have all groups in one plot for Silvester variable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[]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range(1, 7):  # Assuming 6 groups like your example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Filter data for current group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data[data[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f'Warengruppe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}'] == 1].copy()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f'Group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}'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Select relevant columns including Silvester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# Adjust column names based on your actual data structure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melted_data.append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[['Silvester',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']])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Combine all group data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pd.concat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melted_data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ignore_index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=True)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plt.figure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=(12, 8))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Create grouped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confidence intervals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sns.barplot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(data=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combined_data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x='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Product_Group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y='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hue='Silvester',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ci=95,  # 95% confidence interval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# Cap size for error bars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errwidth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=2)   # Width of error bars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Customize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plt.title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by Product Group and New Year\'s Eve', 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=14,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fontweight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='bold')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('Product Group',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plt.ylabel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('Sales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Umsatz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fontsize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=12)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plt.legend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(title='Silvester',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bbox_to_anchor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=(1.05, 1), loc='upper left')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Rotate x-axis labels if needed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plt.xticks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(rotation=0)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Adjust layout to prevent label cutoff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plt.tight_layout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Display the plot</a:t>
            </a:r>
          </a:p>
          <a:p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plt.show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b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8B65D-06A9-26A2-A942-52820CC1E1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1702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62BA-275E-ED3C-503B-602DB2EB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81780-0695-C625-C9A1-6B6BB6400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76-CA38-E115-C0FB-070596656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  <a:p>
            <a:r>
              <a:rPr lang="en-US" dirty="0"/>
              <a:t>Suggestion is to keep only the missing values columns we worked on  and next to talk about wetter code </a:t>
            </a:r>
          </a:p>
          <a:p>
            <a:endParaRPr lang="en-US" dirty="0"/>
          </a:p>
          <a:p>
            <a:r>
              <a:rPr lang="en-US" dirty="0"/>
              <a:t>Prev slides saved in the end of the presentation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B1627-4A9C-B930-A008-40DA8CDB9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270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6DA3C-7F4B-A86D-DEF4-340963E8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6EDDE-05C4-D394-BDDC-5FECD2115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A61B-3DB8-2898-1177-E09990948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228FF-C3FB-82A6-7644-2DF9CB6CE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6394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(initial) dataset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491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86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148AA-51BB-2E5E-6EE1-F37CD096A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50495-648A-2B66-72AC-6019E6AABC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46D17-55C3-AD37-4A06-FF43784CE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A22CE-658F-BAEB-22F0-92F75E17A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8806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6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63968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A59C-214E-3CE4-25F6-24FD5D270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AA0A43-913C-D15D-CAFA-9AA2BC5F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6CD0E-87C3-83FC-092B-F5B4E2239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9B197-3FD5-5FAF-46EB-BB71A17F5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267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07.07.2025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07.07.2025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07.07.2025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07.07.2025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07.07.2025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07.07.2025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07.07.2025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07.07.2025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07.07.2025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07.07.2025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07.07.2025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07.07.2025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1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2.xml"/><Relationship Id="rId5" Type="http://schemas.openxmlformats.org/officeDocument/2006/relationships/image" Target="../media/image70.png"/><Relationship Id="rId4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3050"/>
            <a:ext cx="9144000" cy="2387600"/>
          </a:xfrm>
        </p:spPr>
        <p:txBody>
          <a:bodyPr>
            <a:normAutofit/>
          </a:bodyPr>
          <a:lstStyle/>
          <a:p>
            <a:r>
              <a:rPr lang="en-GB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924" y="1276509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6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DE323-E2FC-88D1-3C0C-957B1B66F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EC8700-FF2E-137C-FB12-87BAFCCD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FFE61-3864-B6AD-9F89-33383883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8FBA0F-0509-31F8-2020-06698BB83648}"/>
              </a:ext>
            </a:extLst>
          </p:cNvPr>
          <p:cNvSpPr txBox="1"/>
          <p:nvPr/>
        </p:nvSpPr>
        <p:spPr>
          <a:xfrm>
            <a:off x="6760799" y="1547809"/>
            <a:ext cx="3890131" cy="306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From external data: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lvl="0">
              <a:lnSpc>
                <a:spcPct val="90000"/>
              </a:lnSpc>
              <a:spcBef>
                <a:spcPts val="10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 (</a:t>
            </a:r>
            <a:r>
              <a:rPr lang="en-GB" dirty="0">
                <a:solidFill>
                  <a:schemeClr val="bg2"/>
                </a:solidFill>
              </a:rPr>
              <a:t>Consumer Price Index </a:t>
            </a:r>
            <a:r>
              <a:rPr lang="en-GB" sz="2800" dirty="0">
                <a:solidFill>
                  <a:schemeClr val="bg2"/>
                </a:solidFill>
                <a:latin typeface="Aptos" panose="02110004020202020204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7D1B86-1B18-0EB4-975D-E3928A23DE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93345" y="1547809"/>
            <a:ext cx="38901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From given data: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 of the week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Saturday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Sunday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Days until NYE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Group 6 Season Score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BCD2A-18DC-3E97-67D9-91008E963526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7018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27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28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33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1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2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5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5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6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animClr clrSpc="rgb" dir="cw">
                                      <p:cBhvr>
                                        <p:cTn id="72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0D0D0"/>
                                      </p:to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7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0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1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89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0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3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9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9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6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00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21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22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3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5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26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27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8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0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1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2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3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35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animClr clrSpc="rgb" dir="cw">
                                      <p:cBhvr>
                                        <p:cTn id="136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4D94D8"/>
                                      </p:to>
                                    </p:animClr>
                                    <p:set>
                                      <p:cBhvr>
                                        <p:cTn id="137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299683-6A2E-9766-C092-9F38A873A9E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D2F842-E89B-1B52-F36F-3706BB779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8917" y="1527859"/>
            <a:ext cx="6497007" cy="430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3A76A-71B5-D5DB-280F-3B9DEBFD5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2754-5819-C8C8-0159-3B17F5825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D7FE0-9CFD-9FD5-ED65-FAC5FF64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57B6D-427C-AF27-F76A-092DDAB6F7B7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40C698A-57E2-2C05-1755-199BF4F66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502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1C85-FFF0-52DF-ADFA-BDC5CAE3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D46A8-F0FA-F91B-9B4E-470CBA888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8DCEEB-2604-9421-4090-89611B861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8771DA-3DF8-6CA4-B88E-FB4465A116F5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3969061-67BD-A028-F5FA-5AEE0445A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B23017-09C7-8322-AD40-E9738E7E8C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6814" y="1690688"/>
            <a:ext cx="7463825" cy="4452636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97247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129B-5BE8-FF01-E5CD-8F5D080D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308F7-DBAA-9EDC-3790-E903318A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98440-7DBF-FF1C-4ABE-ABF226839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11C8F-3B47-AC60-4A16-F305C7441ACA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3BEEF6-5EE1-6E49-8498-1E42DBC85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274" y="2548328"/>
            <a:ext cx="5507276" cy="328543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CB2461-6E42-B666-2570-7FB8B998B5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3" y="2404761"/>
            <a:ext cx="5173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069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976D5-C7B4-E40F-5BDC-AA62E4D05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983CE159-AB5E-3564-ADCC-3586A6348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8" r="32418"/>
          <a:stretch>
            <a:fillRect/>
          </a:stretch>
        </p:blipFill>
        <p:spPr>
          <a:xfrm>
            <a:off x="1564711" y="1042220"/>
            <a:ext cx="2509983" cy="542645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DA1677B-1775-2F66-B2C7-4AAA35253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E15E52-F87E-EFBD-34EA-F7F059C8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14:cNvPr>
              <p14:cNvContentPartPr/>
              <p14:nvPr/>
            </p14:nvContentPartPr>
            <p14:xfrm>
              <a:off x="1647527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01AD2ED-3A51-9DE5-49E5-75B7FCA04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84887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203F17B-14B3-F46F-A831-3C1CA77BA052}"/>
              </a:ext>
            </a:extLst>
          </p:cNvPr>
          <p:cNvSpPr/>
          <p:nvPr/>
        </p:nvSpPr>
        <p:spPr>
          <a:xfrm>
            <a:off x="3080466" y="2595145"/>
            <a:ext cx="1077701" cy="36702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14:cNvPr>
              <p14:cNvContentPartPr/>
              <p14:nvPr/>
            </p14:nvContentPartPr>
            <p14:xfrm>
              <a:off x="1434047" y="1657764"/>
              <a:ext cx="347040" cy="747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5C3E1A-4F1A-8274-73BC-085F537593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71047" y="1595124"/>
                <a:ext cx="472680" cy="8726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EAD83F74-96A3-975A-76D9-342F87F0688A}"/>
              </a:ext>
            </a:extLst>
          </p:cNvPr>
          <p:cNvSpPr/>
          <p:nvPr/>
        </p:nvSpPr>
        <p:spPr>
          <a:xfrm rot="19278674">
            <a:off x="3256161" y="1955350"/>
            <a:ext cx="1198112" cy="6014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2D58D3-291A-AE3E-1819-3061AAF3FEAD}"/>
              </a:ext>
            </a:extLst>
          </p:cNvPr>
          <p:cNvGrpSpPr/>
          <p:nvPr/>
        </p:nvGrpSpPr>
        <p:grpSpPr>
          <a:xfrm>
            <a:off x="4040027" y="1038183"/>
            <a:ext cx="6901606" cy="5437232"/>
            <a:chOff x="3546733" y="1038183"/>
            <a:chExt cx="6901606" cy="5437232"/>
          </a:xfrm>
        </p:grpSpPr>
        <p:grpSp>
          <p:nvGrpSpPr>
            <p:cNvPr id="18" name="Google Shape;740;p54">
              <a:extLst>
                <a:ext uri="{FF2B5EF4-FFF2-40B4-BE49-F238E27FC236}">
                  <a16:creationId xmlns:a16="http://schemas.microsoft.com/office/drawing/2014/main" id="{2A36DE71-3B58-E6D1-BF9E-050E328235D0}"/>
                </a:ext>
              </a:extLst>
            </p:cNvPr>
            <p:cNvGrpSpPr/>
            <p:nvPr/>
          </p:nvGrpSpPr>
          <p:grpSpPr>
            <a:xfrm>
              <a:off x="4040948" y="3952992"/>
              <a:ext cx="1070454" cy="470200"/>
              <a:chOff x="4920150" y="1977875"/>
              <a:chExt cx="68524" cy="33800"/>
            </a:xfrm>
            <a:solidFill>
              <a:schemeClr val="bg1">
                <a:lumMod val="85000"/>
              </a:schemeClr>
            </a:solidFill>
          </p:grpSpPr>
          <p:sp>
            <p:nvSpPr>
              <p:cNvPr id="19" name="Google Shape;741;p54">
                <a:extLst>
                  <a:ext uri="{FF2B5EF4-FFF2-40B4-BE49-F238E27FC236}">
                    <a16:creationId xmlns:a16="http://schemas.microsoft.com/office/drawing/2014/main" id="{70EDAB0E-C43F-4EA6-B5A9-44081DC251BF}"/>
                  </a:ext>
                </a:extLst>
              </p:cNvPr>
              <p:cNvSpPr/>
              <p:nvPr/>
            </p:nvSpPr>
            <p:spPr>
              <a:xfrm>
                <a:off x="4949174" y="1977875"/>
                <a:ext cx="39500" cy="33800"/>
              </a:xfrm>
              <a:custGeom>
                <a:avLst/>
                <a:gdLst/>
                <a:ahLst/>
                <a:cxnLst/>
                <a:rect l="l" t="t" r="r" b="b"/>
                <a:pathLst>
                  <a:path w="1580" h="1352" extrusionOk="0">
                    <a:moveTo>
                      <a:pt x="891" y="1"/>
                    </a:moveTo>
                    <a:cubicBezTo>
                      <a:pt x="859" y="1"/>
                      <a:pt x="828" y="12"/>
                      <a:pt x="801" y="32"/>
                    </a:cubicBezTo>
                    <a:cubicBezTo>
                      <a:pt x="743" y="89"/>
                      <a:pt x="743" y="176"/>
                      <a:pt x="801" y="226"/>
                    </a:cubicBezTo>
                    <a:lnTo>
                      <a:pt x="1039" y="472"/>
                    </a:lnTo>
                    <a:cubicBezTo>
                      <a:pt x="1068" y="493"/>
                      <a:pt x="1046" y="544"/>
                      <a:pt x="1010" y="544"/>
                    </a:cubicBezTo>
                    <a:lnTo>
                      <a:pt x="152" y="544"/>
                    </a:lnTo>
                    <a:cubicBezTo>
                      <a:pt x="147" y="543"/>
                      <a:pt x="143" y="543"/>
                      <a:pt x="139" y="543"/>
                    </a:cubicBezTo>
                    <a:cubicBezTo>
                      <a:pt x="66" y="543"/>
                      <a:pt x="14" y="598"/>
                      <a:pt x="8" y="666"/>
                    </a:cubicBezTo>
                    <a:cubicBezTo>
                      <a:pt x="0" y="746"/>
                      <a:pt x="65" y="811"/>
                      <a:pt x="145" y="811"/>
                    </a:cubicBezTo>
                    <a:lnTo>
                      <a:pt x="1010" y="811"/>
                    </a:lnTo>
                    <a:cubicBezTo>
                      <a:pt x="1046" y="811"/>
                      <a:pt x="1068" y="854"/>
                      <a:pt x="1039" y="883"/>
                    </a:cubicBezTo>
                    <a:lnTo>
                      <a:pt x="808" y="1113"/>
                    </a:lnTo>
                    <a:cubicBezTo>
                      <a:pt x="758" y="1164"/>
                      <a:pt x="751" y="1251"/>
                      <a:pt x="794" y="1308"/>
                    </a:cubicBezTo>
                    <a:cubicBezTo>
                      <a:pt x="823" y="1337"/>
                      <a:pt x="859" y="1351"/>
                      <a:pt x="895" y="1351"/>
                    </a:cubicBezTo>
                    <a:cubicBezTo>
                      <a:pt x="931" y="1351"/>
                      <a:pt x="967" y="1337"/>
                      <a:pt x="996" y="1308"/>
                    </a:cubicBezTo>
                    <a:lnTo>
                      <a:pt x="1522" y="774"/>
                    </a:lnTo>
                    <a:cubicBezTo>
                      <a:pt x="1580" y="717"/>
                      <a:pt x="1573" y="630"/>
                      <a:pt x="1522" y="573"/>
                    </a:cubicBezTo>
                    <a:lnTo>
                      <a:pt x="996" y="46"/>
                    </a:lnTo>
                    <a:cubicBezTo>
                      <a:pt x="965" y="15"/>
                      <a:pt x="928" y="1"/>
                      <a:pt x="89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42;p54">
                <a:extLst>
                  <a:ext uri="{FF2B5EF4-FFF2-40B4-BE49-F238E27FC236}">
                    <a16:creationId xmlns:a16="http://schemas.microsoft.com/office/drawing/2014/main" id="{28DBEFDC-52FD-0E02-1F06-3E3ABE2721C9}"/>
                  </a:ext>
                </a:extLst>
              </p:cNvPr>
              <p:cNvSpPr/>
              <p:nvPr/>
            </p:nvSpPr>
            <p:spPr>
              <a:xfrm>
                <a:off x="4931875" y="1991450"/>
                <a:ext cx="128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513" h="268" extrusionOk="0">
                    <a:moveTo>
                      <a:pt x="180" y="1"/>
                    </a:moveTo>
                    <a:cubicBezTo>
                      <a:pt x="0" y="1"/>
                      <a:pt x="0" y="268"/>
                      <a:pt x="180" y="268"/>
                    </a:cubicBezTo>
                    <a:lnTo>
                      <a:pt x="332" y="268"/>
                    </a:lnTo>
                    <a:cubicBezTo>
                      <a:pt x="512" y="268"/>
                      <a:pt x="512" y="1"/>
                      <a:pt x="33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43;p54">
                <a:extLst>
                  <a:ext uri="{FF2B5EF4-FFF2-40B4-BE49-F238E27FC236}">
                    <a16:creationId xmlns:a16="http://schemas.microsoft.com/office/drawing/2014/main" id="{CF91E581-077F-2DF6-9411-A2E652FE9C0D}"/>
                  </a:ext>
                </a:extLst>
              </p:cNvPr>
              <p:cNvSpPr/>
              <p:nvPr/>
            </p:nvSpPr>
            <p:spPr>
              <a:xfrm>
                <a:off x="4920150" y="1991450"/>
                <a:ext cx="9225" cy="6700"/>
              </a:xfrm>
              <a:custGeom>
                <a:avLst/>
                <a:gdLst/>
                <a:ahLst/>
                <a:cxnLst/>
                <a:rect l="l" t="t" r="r" b="b"/>
                <a:pathLst>
                  <a:path w="369" h="268" extrusionOk="0">
                    <a:moveTo>
                      <a:pt x="181" y="1"/>
                    </a:moveTo>
                    <a:cubicBezTo>
                      <a:pt x="0" y="1"/>
                      <a:pt x="0" y="268"/>
                      <a:pt x="181" y="268"/>
                    </a:cubicBezTo>
                    <a:lnTo>
                      <a:pt x="195" y="268"/>
                    </a:lnTo>
                    <a:cubicBezTo>
                      <a:pt x="368" y="268"/>
                      <a:pt x="368" y="1"/>
                      <a:pt x="19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F75847-BF53-EFE2-2184-37039C5C6E7D}"/>
                </a:ext>
              </a:extLst>
            </p:cNvPr>
            <p:cNvGrpSpPr/>
            <p:nvPr/>
          </p:nvGrpSpPr>
          <p:grpSpPr>
            <a:xfrm>
              <a:off x="5751199" y="1038183"/>
              <a:ext cx="4697140" cy="5437232"/>
              <a:chOff x="3698850" y="985966"/>
              <a:chExt cx="4697140" cy="5437232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FBD6FF7-781E-2ECE-CCEA-E502A60CDDB5}"/>
                  </a:ext>
                </a:extLst>
              </p:cNvPr>
              <p:cNvGrpSpPr/>
              <p:nvPr/>
            </p:nvGrpSpPr>
            <p:grpSpPr>
              <a:xfrm>
                <a:off x="3698850" y="996742"/>
                <a:ext cx="3393640" cy="5426456"/>
                <a:chOff x="3698850" y="996742"/>
                <a:chExt cx="3393640" cy="5426456"/>
              </a:xfrm>
            </p:grpSpPr>
            <p:pic>
              <p:nvPicPr>
                <p:cNvPr id="22" name="Grafik 14">
                  <a:extLst>
                    <a:ext uri="{FF2B5EF4-FFF2-40B4-BE49-F238E27FC236}">
                      <a16:creationId xmlns:a16="http://schemas.microsoft.com/office/drawing/2014/main" id="{6B8FA9B1-23E5-4010-10C3-C7BB34D8B7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2070" r="50936"/>
                <a:stretch>
                  <a:fillRect/>
                </a:stretch>
              </p:blipFill>
              <p:spPr>
                <a:xfrm>
                  <a:off x="4070619" y="996742"/>
                  <a:ext cx="2326654" cy="5426456"/>
                </a:xfrm>
                <a:prstGeom prst="rect">
                  <a:avLst/>
                </a:prstGeom>
              </p:spPr>
            </p:pic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3AA9D39-95D0-7F02-02CA-D5259C397047}"/>
                    </a:ext>
                  </a:extLst>
                </p:cNvPr>
                <p:cNvSpPr/>
                <p:nvPr/>
              </p:nvSpPr>
              <p:spPr>
                <a:xfrm>
                  <a:off x="5419169" y="2492877"/>
                  <a:ext cx="1040458" cy="386063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8FAB814-79D4-D09D-C974-1BED32BBDA72}"/>
                    </a:ext>
                  </a:extLst>
                </p:cNvPr>
                <p:cNvSpPr/>
                <p:nvPr/>
              </p:nvSpPr>
              <p:spPr>
                <a:xfrm rot="2812795">
                  <a:off x="5857525" y="1670389"/>
                  <a:ext cx="1058779" cy="14111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61CEB394-F168-3373-E3FA-4B3B05E7F93D}"/>
                    </a:ext>
                  </a:extLst>
                </p:cNvPr>
                <p:cNvSpPr/>
                <p:nvPr/>
              </p:nvSpPr>
              <p:spPr>
                <a:xfrm rot="2812795">
                  <a:off x="3995515" y="1184665"/>
                  <a:ext cx="670216" cy="126354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243E862-DD4C-12F0-C941-70CA2E4CF4B1}"/>
                  </a:ext>
                </a:extLst>
              </p:cNvPr>
              <p:cNvGrpSpPr/>
              <p:nvPr/>
            </p:nvGrpSpPr>
            <p:grpSpPr>
              <a:xfrm>
                <a:off x="5650982" y="985966"/>
                <a:ext cx="2745008" cy="5426456"/>
                <a:chOff x="5650982" y="985966"/>
                <a:chExt cx="2745008" cy="5426456"/>
              </a:xfrm>
            </p:grpSpPr>
            <p:sp>
              <p:nvSpPr>
                <p:cNvPr id="29" name="Plus Sign 28">
                  <a:extLst>
                    <a:ext uri="{FF2B5EF4-FFF2-40B4-BE49-F238E27FC236}">
                      <a16:creationId xmlns:a16="http://schemas.microsoft.com/office/drawing/2014/main" id="{8DCB5702-F720-C462-93B8-BBA751F9B8C1}"/>
                    </a:ext>
                  </a:extLst>
                </p:cNvPr>
                <p:cNvSpPr/>
                <p:nvPr/>
              </p:nvSpPr>
              <p:spPr>
                <a:xfrm>
                  <a:off x="5650982" y="4086202"/>
                  <a:ext cx="432975" cy="378772"/>
                </a:xfrm>
                <a:prstGeom prst="mathPlus">
                  <a:avLst/>
                </a:prstGeom>
                <a:solidFill>
                  <a:srgbClr val="1C60A9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02AE34B9-428E-93E3-3CDF-04AF1068ACB8}"/>
                    </a:ext>
                  </a:extLst>
                </p:cNvPr>
                <p:cNvGrpSpPr/>
                <p:nvPr/>
              </p:nvGrpSpPr>
              <p:grpSpPr>
                <a:xfrm>
                  <a:off x="6179611" y="985966"/>
                  <a:ext cx="2216379" cy="5426456"/>
                  <a:chOff x="6179611" y="985966"/>
                  <a:chExt cx="2216379" cy="5426456"/>
                </a:xfrm>
              </p:grpSpPr>
              <p:pic>
                <p:nvPicPr>
                  <p:cNvPr id="30" name="Grafik 14">
                    <a:extLst>
                      <a:ext uri="{FF2B5EF4-FFF2-40B4-BE49-F238E27FC236}">
                        <a16:creationId xmlns:a16="http://schemas.microsoft.com/office/drawing/2014/main" id="{055E1642-1D52-4B0D-AC94-8D7CC308F30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8551"/>
                  <a:stretch>
                    <a:fillRect/>
                  </a:stretch>
                </p:blipFill>
                <p:spPr>
                  <a:xfrm>
                    <a:off x="6474590" y="985966"/>
                    <a:ext cx="1921400" cy="5426456"/>
                  </a:xfrm>
                  <a:prstGeom prst="rect">
                    <a:avLst/>
                  </a:prstGeom>
                </p:spPr>
              </p:pic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422767F-AF32-06D8-09C0-D1F5262CD09A}"/>
                      </a:ext>
                    </a:extLst>
                  </p:cNvPr>
                  <p:cNvSpPr/>
                  <p:nvPr/>
                </p:nvSpPr>
                <p:spPr>
                  <a:xfrm rot="2812795">
                    <a:off x="6810034" y="1103430"/>
                    <a:ext cx="225360" cy="1486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6DEC262C-E918-EBE0-D2F4-AE85CAA34CB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291951" y="2460777"/>
                    <a:ext cx="1002457" cy="37996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9A6702-8210-70BE-6C63-0FBE4E42E758}"/>
                </a:ext>
              </a:extLst>
            </p:cNvPr>
            <p:cNvSpPr txBox="1"/>
            <p:nvPr/>
          </p:nvSpPr>
          <p:spPr>
            <a:xfrm>
              <a:off x="3546733" y="3539887"/>
              <a:ext cx="19821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Imputation</a:t>
              </a:r>
              <a:endParaRPr lang="en-GB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365EC40-4383-E05F-1116-971DFDA7AF03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06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5C09-80A5-2AAD-E849-D44AE127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A0FE8B-EBF8-F253-14B5-51C406AC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3894" y="6356350"/>
            <a:ext cx="2743200" cy="365125"/>
          </a:xfrm>
        </p:spPr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14:cNvPr>
              <p14:cNvContentPartPr/>
              <p14:nvPr/>
            </p14:nvContentPartPr>
            <p14:xfrm>
              <a:off x="2369426" y="1718669"/>
              <a:ext cx="213840" cy="371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F1D86-F054-C0C7-0C83-B5E08974F03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06426" y="1655669"/>
                <a:ext cx="339480" cy="497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35B6ECA-E31F-6054-6D62-93D14E62DE45}"/>
              </a:ext>
            </a:extLst>
          </p:cNvPr>
          <p:cNvGrpSpPr/>
          <p:nvPr/>
        </p:nvGrpSpPr>
        <p:grpSpPr>
          <a:xfrm>
            <a:off x="897389" y="929894"/>
            <a:ext cx="4595558" cy="5426456"/>
            <a:chOff x="3698850" y="996742"/>
            <a:chExt cx="4595558" cy="542645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A4FC97-2A4B-11A3-4A00-947FFDE92E6E}"/>
                </a:ext>
              </a:extLst>
            </p:cNvPr>
            <p:cNvGrpSpPr/>
            <p:nvPr/>
          </p:nvGrpSpPr>
          <p:grpSpPr>
            <a:xfrm>
              <a:off x="3698850" y="996742"/>
              <a:ext cx="3393640" cy="5426456"/>
              <a:chOff x="3698850" y="996742"/>
              <a:chExt cx="3393640" cy="5426456"/>
            </a:xfrm>
          </p:grpSpPr>
          <p:pic>
            <p:nvPicPr>
              <p:cNvPr id="22" name="Grafik 14">
                <a:extLst>
                  <a:ext uri="{FF2B5EF4-FFF2-40B4-BE49-F238E27FC236}">
                    <a16:creationId xmlns:a16="http://schemas.microsoft.com/office/drawing/2014/main" id="{D43F8B25-925B-E708-7000-77875C38C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070" r="50936"/>
              <a:stretch>
                <a:fillRect/>
              </a:stretch>
            </p:blipFill>
            <p:spPr>
              <a:xfrm>
                <a:off x="4070619" y="996742"/>
                <a:ext cx="2326654" cy="5426456"/>
              </a:xfrm>
              <a:prstGeom prst="rect">
                <a:avLst/>
              </a:prstGeom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33ACC6B-D50F-78D3-40E3-664258D4EAFB}"/>
                  </a:ext>
                </a:extLst>
              </p:cNvPr>
              <p:cNvSpPr/>
              <p:nvPr/>
            </p:nvSpPr>
            <p:spPr>
              <a:xfrm>
                <a:off x="5419169" y="2492877"/>
                <a:ext cx="1040458" cy="38606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577B111-BB54-2CD4-BB94-F942146706A5}"/>
                  </a:ext>
                </a:extLst>
              </p:cNvPr>
              <p:cNvSpPr/>
              <p:nvPr/>
            </p:nvSpPr>
            <p:spPr>
              <a:xfrm rot="2812795">
                <a:off x="5857525" y="1670389"/>
                <a:ext cx="1058779" cy="1411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549EDED-B7D3-EDFD-8AAB-4A0793DBE78E}"/>
                  </a:ext>
                </a:extLst>
              </p:cNvPr>
              <p:cNvSpPr/>
              <p:nvPr/>
            </p:nvSpPr>
            <p:spPr>
              <a:xfrm rot="2812795">
                <a:off x="3995515" y="1184665"/>
                <a:ext cx="670216" cy="1263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286413E-EAD1-1B7D-5FD7-1A7CD9E456DF}"/>
                </a:ext>
              </a:extLst>
            </p:cNvPr>
            <p:cNvGrpSpPr/>
            <p:nvPr/>
          </p:nvGrpSpPr>
          <p:grpSpPr>
            <a:xfrm>
              <a:off x="6179611" y="1733853"/>
              <a:ext cx="2114797" cy="4526605"/>
              <a:chOff x="6179611" y="1733853"/>
              <a:chExt cx="2114797" cy="4526605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B2F1729-197C-A2AF-AB1E-8333AAA1692C}"/>
                  </a:ext>
                </a:extLst>
              </p:cNvPr>
              <p:cNvSpPr/>
              <p:nvPr/>
            </p:nvSpPr>
            <p:spPr>
              <a:xfrm rot="2812795">
                <a:off x="6810034" y="1103430"/>
                <a:ext cx="225360" cy="1486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979381A-B618-2062-8189-AAF5A27847B0}"/>
                  </a:ext>
                </a:extLst>
              </p:cNvPr>
              <p:cNvSpPr/>
              <p:nvPr/>
            </p:nvSpPr>
            <p:spPr>
              <a:xfrm rot="10800000">
                <a:off x="7291951" y="2460777"/>
                <a:ext cx="1002457" cy="379968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" name="Grafik 14">
            <a:extLst>
              <a:ext uri="{FF2B5EF4-FFF2-40B4-BE49-F238E27FC236}">
                <a16:creationId xmlns:a16="http://schemas.microsoft.com/office/drawing/2014/main" id="{AA2031BB-7E68-561C-793D-7D875B0DC2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/>
          <a:stretch>
            <a:fillRect/>
          </a:stretch>
        </p:blipFill>
        <p:spPr>
          <a:xfrm>
            <a:off x="3926063" y="2812387"/>
            <a:ext cx="4305143" cy="2689781"/>
          </a:xfrm>
          <a:prstGeom prst="rect">
            <a:avLst/>
          </a:prstGeom>
        </p:spPr>
      </p:pic>
      <p:sp>
        <p:nvSpPr>
          <p:cNvPr id="7" name="Google Shape;741;p54">
            <a:extLst>
              <a:ext uri="{FF2B5EF4-FFF2-40B4-BE49-F238E27FC236}">
                <a16:creationId xmlns:a16="http://schemas.microsoft.com/office/drawing/2014/main" id="{B8964C78-2DD9-204D-D6A9-B1ABD6C716FE}"/>
              </a:ext>
            </a:extLst>
          </p:cNvPr>
          <p:cNvSpPr/>
          <p:nvPr/>
        </p:nvSpPr>
        <p:spPr>
          <a:xfrm>
            <a:off x="3172803" y="3971180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41;p54">
            <a:extLst>
              <a:ext uri="{FF2B5EF4-FFF2-40B4-BE49-F238E27FC236}">
                <a16:creationId xmlns:a16="http://schemas.microsoft.com/office/drawing/2014/main" id="{63C354AE-1F67-0CA3-0632-73EB24BDD573}"/>
              </a:ext>
            </a:extLst>
          </p:cNvPr>
          <p:cNvSpPr/>
          <p:nvPr/>
        </p:nvSpPr>
        <p:spPr>
          <a:xfrm>
            <a:off x="8442063" y="3786444"/>
            <a:ext cx="617053" cy="470200"/>
          </a:xfrm>
          <a:custGeom>
            <a:avLst/>
            <a:gdLst/>
            <a:ahLst/>
            <a:cxnLst/>
            <a:rect l="l" t="t" r="r" b="b"/>
            <a:pathLst>
              <a:path w="1580" h="1352" extrusionOk="0">
                <a:moveTo>
                  <a:pt x="891" y="1"/>
                </a:moveTo>
                <a:cubicBezTo>
                  <a:pt x="859" y="1"/>
                  <a:pt x="828" y="12"/>
                  <a:pt x="801" y="32"/>
                </a:cubicBezTo>
                <a:cubicBezTo>
                  <a:pt x="743" y="89"/>
                  <a:pt x="743" y="176"/>
                  <a:pt x="801" y="226"/>
                </a:cubicBezTo>
                <a:lnTo>
                  <a:pt x="1039" y="472"/>
                </a:lnTo>
                <a:cubicBezTo>
                  <a:pt x="1068" y="493"/>
                  <a:pt x="1046" y="544"/>
                  <a:pt x="1010" y="544"/>
                </a:cubicBezTo>
                <a:lnTo>
                  <a:pt x="152" y="544"/>
                </a:lnTo>
                <a:cubicBezTo>
                  <a:pt x="147" y="543"/>
                  <a:pt x="143" y="543"/>
                  <a:pt x="139" y="543"/>
                </a:cubicBezTo>
                <a:cubicBezTo>
                  <a:pt x="66" y="543"/>
                  <a:pt x="14" y="598"/>
                  <a:pt x="8" y="666"/>
                </a:cubicBezTo>
                <a:cubicBezTo>
                  <a:pt x="0" y="746"/>
                  <a:pt x="65" y="811"/>
                  <a:pt x="145" y="811"/>
                </a:cubicBezTo>
                <a:lnTo>
                  <a:pt x="1010" y="811"/>
                </a:lnTo>
                <a:cubicBezTo>
                  <a:pt x="1046" y="811"/>
                  <a:pt x="1068" y="854"/>
                  <a:pt x="1039" y="883"/>
                </a:cubicBezTo>
                <a:lnTo>
                  <a:pt x="808" y="1113"/>
                </a:lnTo>
                <a:cubicBezTo>
                  <a:pt x="758" y="1164"/>
                  <a:pt x="751" y="1251"/>
                  <a:pt x="794" y="1308"/>
                </a:cubicBezTo>
                <a:cubicBezTo>
                  <a:pt x="823" y="1337"/>
                  <a:pt x="859" y="1351"/>
                  <a:pt x="895" y="1351"/>
                </a:cubicBezTo>
                <a:cubicBezTo>
                  <a:pt x="931" y="1351"/>
                  <a:pt x="967" y="1337"/>
                  <a:pt x="996" y="1308"/>
                </a:cubicBezTo>
                <a:lnTo>
                  <a:pt x="1522" y="774"/>
                </a:lnTo>
                <a:cubicBezTo>
                  <a:pt x="1580" y="717"/>
                  <a:pt x="1573" y="630"/>
                  <a:pt x="1522" y="573"/>
                </a:cubicBezTo>
                <a:lnTo>
                  <a:pt x="996" y="46"/>
                </a:lnTo>
                <a:cubicBezTo>
                  <a:pt x="965" y="15"/>
                  <a:pt x="928" y="1"/>
                  <a:pt x="891" y="1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97BE1-FC5D-7442-24C2-FDEAEC49F58A}"/>
              </a:ext>
            </a:extLst>
          </p:cNvPr>
          <p:cNvSpPr txBox="1"/>
          <p:nvPr/>
        </p:nvSpPr>
        <p:spPr>
          <a:xfrm>
            <a:off x="9389367" y="2923235"/>
            <a:ext cx="21722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Wettercode_0</a:t>
            </a:r>
          </a:p>
          <a:p>
            <a:r>
              <a:rPr lang="en-GB" dirty="0"/>
              <a:t>Wettercode_5</a:t>
            </a:r>
          </a:p>
          <a:p>
            <a:r>
              <a:rPr lang="en-GB" dirty="0"/>
              <a:t>Wettercode_10</a:t>
            </a:r>
          </a:p>
          <a:p>
            <a:r>
              <a:rPr lang="en-GB" dirty="0"/>
              <a:t>Wettercode_21</a:t>
            </a:r>
          </a:p>
          <a:p>
            <a:r>
              <a:rPr lang="en-GB" dirty="0"/>
              <a:t>Wettercode_61</a:t>
            </a:r>
          </a:p>
          <a:p>
            <a:r>
              <a:rPr lang="en-GB" dirty="0"/>
              <a:t>Wettercode_63</a:t>
            </a:r>
          </a:p>
          <a:p>
            <a:r>
              <a:rPr lang="en-GB" dirty="0" err="1"/>
              <a:t>Wettercode_NAN</a:t>
            </a:r>
            <a:endParaRPr lang="en-GB" dirty="0"/>
          </a:p>
          <a:p>
            <a:r>
              <a:rPr lang="en-GB" dirty="0" err="1"/>
              <a:t>Wettercode_REST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DB7B1AB-58C3-1E8F-8D9F-A984EC8E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FC25D8-D11B-A7CE-BD9D-6C8275F0289E}"/>
              </a:ext>
            </a:extLst>
          </p:cNvPr>
          <p:cNvSpPr txBox="1"/>
          <p:nvPr/>
        </p:nvSpPr>
        <p:spPr>
          <a:xfrm>
            <a:off x="4740681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Weather code distribution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05B253-4052-6ABC-53FA-6AF69E3CDA79}"/>
              </a:ext>
            </a:extLst>
          </p:cNvPr>
          <p:cNvSpPr txBox="1"/>
          <p:nvPr/>
        </p:nvSpPr>
        <p:spPr>
          <a:xfrm>
            <a:off x="9134373" y="1948859"/>
            <a:ext cx="305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One-Hot Encoding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1BC01-A05E-750F-C2DE-497CA9583F5D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58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/>
      <p:bldP spid="44" grpId="0"/>
      <p:bldP spid="4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61792" y="2960839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Training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Validation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C60A9"/>
                </a:solidFill>
              </a:rPr>
              <a:t>Test</a:t>
            </a:r>
            <a:endParaRPr lang="en-GB" dirty="0">
              <a:solidFill>
                <a:srgbClr val="1C60A9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150785" y="155195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1C60A9"/>
                </a:solidFill>
              </a:rPr>
              <a:t>Full dataset</a:t>
            </a:r>
            <a:endParaRPr lang="en-GB" b="1" dirty="0">
              <a:solidFill>
                <a:srgbClr val="1C60A9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9083A-BE9E-C0CF-FE77-0E29A0512F8C}"/>
              </a:ext>
            </a:extLst>
          </p:cNvPr>
          <p:cNvSpPr txBox="1"/>
          <p:nvPr/>
        </p:nvSpPr>
        <p:spPr>
          <a:xfrm>
            <a:off x="3778474" y="6538912"/>
            <a:ext cx="44400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088" y="136525"/>
            <a:ext cx="9671823" cy="648198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1033C-67BC-9764-3CEC-05688F5CF210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DDC5B1-13D0-3AC0-D3C9-8EE3879DB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7" t="8222" r="4424" b="8765"/>
          <a:stretch>
            <a:fillRect/>
          </a:stretch>
        </p:blipFill>
        <p:spPr>
          <a:xfrm>
            <a:off x="667167" y="691696"/>
            <a:ext cx="10857664" cy="547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B400-4531-965B-0FD5-CF4AAA00F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8B247F-76E9-DEE9-CA7F-0A59B568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4E58EE-AC79-B367-77AB-BC04DD1F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297CAB-61F1-1C7C-66B3-09BA0BBB0A31}"/>
              </a:ext>
            </a:extLst>
          </p:cNvPr>
          <p:cNvSpPr/>
          <p:nvPr/>
        </p:nvSpPr>
        <p:spPr>
          <a:xfrm>
            <a:off x="196375" y="2953463"/>
            <a:ext cx="2060293" cy="29494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Day of the Week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+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One Hot encoded sales groups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3AA277-D541-DE90-66F5-A68FDC064C74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BD9003-8AD4-D5FB-41BC-91B720CD5C6D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F71682-02EA-F19A-3E6C-75AA394FC281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90E0F4-DC7B-FB01-B08C-F930D3D2B032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2DCCB91-F3A7-D5E5-EEB8-6956B3E4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013" y="2699700"/>
            <a:ext cx="7744906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701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04798-6F91-C626-3D41-B8A07C5A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C690BF5-2E27-00EC-E2A3-1D35CB1B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26D018-6B91-C180-2095-7D1AA029E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EE30DCB-8A18-10B6-C326-B639AEA071B8}"/>
              </a:ext>
            </a:extLst>
          </p:cNvPr>
          <p:cNvSpPr/>
          <p:nvPr/>
        </p:nvSpPr>
        <p:spPr>
          <a:xfrm>
            <a:off x="196375" y="2953463"/>
            <a:ext cx="2060293" cy="29494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dirty="0"/>
              <a:t>Temperature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School Holidays</a:t>
            </a:r>
          </a:p>
          <a:p>
            <a:pPr algn="ctr">
              <a:lnSpc>
                <a:spcPct val="150000"/>
              </a:lnSpc>
            </a:pPr>
            <a:r>
              <a:rPr lang="en-GB" dirty="0"/>
              <a:t>Day of the Week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Days till NYE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+</a:t>
            </a:r>
          </a:p>
          <a:p>
            <a:pPr algn="ctr">
              <a:lnSpc>
                <a:spcPct val="150000"/>
              </a:lnSpc>
              <a:buNone/>
            </a:pPr>
            <a:r>
              <a:rPr lang="en-GB" dirty="0"/>
              <a:t>One Hot encoded sales groups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0EC071-3A0B-1C12-84A0-08A7453F8F90}"/>
              </a:ext>
            </a:extLst>
          </p:cNvPr>
          <p:cNvSpPr txBox="1"/>
          <p:nvPr/>
        </p:nvSpPr>
        <p:spPr>
          <a:xfrm>
            <a:off x="196374" y="2515034"/>
            <a:ext cx="206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Features</a:t>
            </a:r>
            <a:r>
              <a:rPr lang="en-GB" b="1" dirty="0"/>
              <a:t>: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B1AA7F-89FD-EED1-E5E4-1086D4B541AF}"/>
              </a:ext>
            </a:extLst>
          </p:cNvPr>
          <p:cNvCxnSpPr>
            <a:cxnSpLocks/>
          </p:cNvCxnSpPr>
          <p:nvPr/>
        </p:nvCxnSpPr>
        <p:spPr>
          <a:xfrm>
            <a:off x="2453833" y="3507912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A27E7AE-FA91-651E-7757-D13A1E22791B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2437D5-2932-56B6-9363-01A69E9D8737}"/>
              </a:ext>
            </a:extLst>
          </p:cNvPr>
          <p:cNvCxnSpPr>
            <a:cxnSpLocks/>
          </p:cNvCxnSpPr>
          <p:nvPr/>
        </p:nvCxnSpPr>
        <p:spPr>
          <a:xfrm>
            <a:off x="8527530" y="3555229"/>
            <a:ext cx="3826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912FCF7-6E48-6230-33F5-7A4E2198B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617" y="437459"/>
            <a:ext cx="6613796" cy="2041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C30588-46DA-7B4B-D47B-49E8D5D6F9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3599" y="2628794"/>
            <a:ext cx="8602814" cy="3121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713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186-8DD2-F2F3-41CA-BE44A61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B8699-E311-9187-C1AC-56C9719D6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29A91-8570-BD06-B796-F9EC9935E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14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42BF3-911B-A19B-2353-A151027BAD55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BFC92FE-CA2C-ED19-2DC4-4C360470C863}"/>
              </a:ext>
            </a:extLst>
          </p:cNvPr>
          <p:cNvGrpSpPr/>
          <p:nvPr/>
        </p:nvGrpSpPr>
        <p:grpSpPr>
          <a:xfrm>
            <a:off x="355109" y="2142715"/>
            <a:ext cx="2640059" cy="2905369"/>
            <a:chOff x="9139345" y="1842912"/>
            <a:chExt cx="2640059" cy="2905369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2FAF9E-1FFA-DA77-35CD-2C61E5B0CA7D}"/>
                </a:ext>
              </a:extLst>
            </p:cNvPr>
            <p:cNvSpPr txBox="1"/>
            <p:nvPr/>
          </p:nvSpPr>
          <p:spPr>
            <a:xfrm>
              <a:off x="9739510" y="4378949"/>
              <a:ext cx="1439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0.18081</a:t>
              </a:r>
              <a:endParaRPr lang="en-GB" b="1" dirty="0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05625916-4F74-97B2-CA33-FED8ADFE5C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49429" y="3985911"/>
              <a:ext cx="1019892" cy="3956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DFB0E2C-9FD8-79D9-69B0-9DF171AE3039}"/>
                </a:ext>
              </a:extLst>
            </p:cNvPr>
            <p:cNvSpPr/>
            <p:nvPr/>
          </p:nvSpPr>
          <p:spPr>
            <a:xfrm>
              <a:off x="9139345" y="1842912"/>
              <a:ext cx="2640059" cy="1792313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GB" sz="2400" b="1" dirty="0"/>
                <a:t>MAPE</a:t>
              </a:r>
            </a:p>
            <a:p>
              <a:pPr algn="ctr">
                <a:lnSpc>
                  <a:spcPct val="150000"/>
                </a:lnSpc>
              </a:pPr>
              <a:r>
                <a:rPr lang="en-GB" dirty="0"/>
                <a:t>Validation Data : 20.28%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0F9E39B-E5F2-B8FE-493E-7BEE99B16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2880" y="1890938"/>
            <a:ext cx="7645717" cy="408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666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64AD-5C9C-B64F-ACB0-3B9B5747E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4">
            <a:extLst>
              <a:ext uri="{FF2B5EF4-FFF2-40B4-BE49-F238E27FC236}">
                <a16:creationId xmlns:a16="http://schemas.microsoft.com/office/drawing/2014/main" id="{6A3DCC3C-6E46-8D08-E5D0-19B827906B36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444C1B-9106-107A-1D4A-BD7B375C4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</a:t>
            </a:r>
            <a:r>
              <a:rPr lang="en-US" sz="2400" dirty="0"/>
              <a:t>– Validation Dataset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32D0B0-2DA6-0D44-E1A2-50AE3E404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8E0325-FA2E-8937-2771-8B89B3D9E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757401"/>
              </p:ext>
            </p:extLst>
          </p:nvPr>
        </p:nvGraphicFramePr>
        <p:xfrm>
          <a:off x="514009" y="2582874"/>
          <a:ext cx="3264465" cy="267835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47584">
                  <a:extLst>
                    <a:ext uri="{9D8B030D-6E8A-4147-A177-3AD203B41FA5}">
                      <a16:colId xmlns:a16="http://schemas.microsoft.com/office/drawing/2014/main" val="241538181"/>
                    </a:ext>
                  </a:extLst>
                </a:gridCol>
                <a:gridCol w="1516881">
                  <a:extLst>
                    <a:ext uri="{9D8B030D-6E8A-4147-A177-3AD203B41FA5}">
                      <a16:colId xmlns:a16="http://schemas.microsoft.com/office/drawing/2014/main" val="1421997003"/>
                    </a:ext>
                  </a:extLst>
                </a:gridCol>
              </a:tblGrid>
              <a:tr h="4125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MAPE in %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346026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6522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15.52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336285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0930"/>
                  </a:ext>
                </a:extLst>
              </a:tr>
              <a:tr h="3835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22.85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8154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51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50.12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06744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443FC44C-1194-8DEA-1578-33A199AC4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590" y="2142675"/>
            <a:ext cx="7753493" cy="34219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074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567442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 Prevent overfitting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 Predict Group 6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Biggest Improvement: Removing variables, simplifying the model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D92427E-BECE-FD08-4379-58F3CDFB7E67}"/>
              </a:ext>
            </a:extLst>
          </p:cNvPr>
          <p:cNvSpPr txBox="1"/>
          <p:nvPr/>
        </p:nvSpPr>
        <p:spPr>
          <a:xfrm>
            <a:off x="3778474" y="6538912"/>
            <a:ext cx="46350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b="1" dirty="0">
                <a:latin typeface="Calibri" panose="020F0502020204030204" pitchFamily="34" charset="0"/>
                <a:cs typeface="Calibri" panose="020F0502020204030204" pitchFamily="34" charset="0"/>
              </a:rPr>
              <a:t>Challenges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175437-8C7C-BB7F-11BE-9634A9F03D77}"/>
              </a:ext>
            </a:extLst>
          </p:cNvPr>
          <p:cNvGrpSpPr/>
          <p:nvPr/>
        </p:nvGrpSpPr>
        <p:grpSpPr>
          <a:xfrm>
            <a:off x="9097729" y="1177488"/>
            <a:ext cx="1595548" cy="1756414"/>
            <a:chOff x="5966837" y="4599935"/>
            <a:chExt cx="1595548" cy="175641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6D9126-266E-3DB6-1D11-ECE38E8A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395"/>
            <a:stretch>
              <a:fillRect/>
            </a:stretch>
          </p:blipFill>
          <p:spPr>
            <a:xfrm>
              <a:off x="5966837" y="4894728"/>
              <a:ext cx="1595548" cy="146162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5F0E0502-D00B-2C08-CA98-AAB364AFDD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5708" y="4599935"/>
              <a:ext cx="737806" cy="2861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9E71C30-8BFE-4796-341A-734ED67524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4362" y="750326"/>
            <a:ext cx="4232977" cy="2905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D0084-D7A7-62F1-062E-5C42CD41E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43FBD30-F6D2-0D6E-D6C2-EEDB360D7B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r="4849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266;p38">
            <a:extLst>
              <a:ext uri="{FF2B5EF4-FFF2-40B4-BE49-F238E27FC236}">
                <a16:creationId xmlns:a16="http://schemas.microsoft.com/office/drawing/2014/main" id="{124B0421-0034-C78B-6D27-9C5A86FB8D51}"/>
              </a:ext>
            </a:extLst>
          </p:cNvPr>
          <p:cNvSpPr txBox="1">
            <a:spLocks/>
          </p:cNvSpPr>
          <p:nvPr/>
        </p:nvSpPr>
        <p:spPr>
          <a:xfrm>
            <a:off x="2548062" y="2548685"/>
            <a:ext cx="7095875" cy="1505957"/>
          </a:xfrm>
          <a:prstGeom prst="rect">
            <a:avLst/>
          </a:prstGeom>
          <a:noFill/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867" b="0" i="0" u="none" strike="noStrike" kern="1200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8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1" name="Google Shape;266;p38">
            <a:extLst>
              <a:ext uri="{FF2B5EF4-FFF2-40B4-BE49-F238E27FC236}">
                <a16:creationId xmlns:a16="http://schemas.microsoft.com/office/drawing/2014/main" id="{0FB18EF1-BF79-8F49-B29D-3EEC09589374}"/>
              </a:ext>
            </a:extLst>
          </p:cNvPr>
          <p:cNvSpPr txBox="1">
            <a:spLocks/>
          </p:cNvSpPr>
          <p:nvPr/>
        </p:nvSpPr>
        <p:spPr>
          <a:xfrm>
            <a:off x="2548062" y="3856752"/>
            <a:ext cx="7095875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4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00316-09E9-72E5-CDDB-B463A913335B}"/>
              </a:ext>
            </a:extLst>
          </p:cNvPr>
          <p:cNvSpPr txBox="1"/>
          <p:nvPr/>
        </p:nvSpPr>
        <p:spPr>
          <a:xfrm>
            <a:off x="2044364" y="6418661"/>
            <a:ext cx="81032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Introduction to Data Science and Machine Learning • </a:t>
            </a:r>
            <a:r>
              <a:rPr lang="en-GB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SoSe</a:t>
            </a:r>
            <a:r>
              <a:rPr lang="en-GB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2025 • Group 3</a:t>
            </a:r>
          </a:p>
        </p:txBody>
      </p:sp>
    </p:spTree>
    <p:extLst>
      <p:ext uri="{BB962C8B-B14F-4D97-AF65-F5344CB8AC3E}">
        <p14:creationId xmlns:p14="http://schemas.microsoft.com/office/powerpoint/2010/main" val="17991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2400</Words>
  <Application>Microsoft Office PowerPoint</Application>
  <PresentationFormat>Widescreen</PresentationFormat>
  <Paragraphs>371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Office Theme</vt:lpstr>
      <vt:lpstr>Bakery Sales Prediction</vt:lpstr>
      <vt:lpstr>Goal: to predict sales for 6 bakery product categories</vt:lpstr>
      <vt:lpstr>Additional variables</vt:lpstr>
      <vt:lpstr>Additional variables</vt:lpstr>
      <vt:lpstr>Additional variables</vt:lpstr>
      <vt:lpstr>Additional variables</vt:lpstr>
      <vt:lpstr>Additional variables</vt:lpstr>
      <vt:lpstr>Dealing with missing values</vt:lpstr>
      <vt:lpstr>Dealing with missing values</vt:lpstr>
      <vt:lpstr>PowerPoint Presentation</vt:lpstr>
      <vt:lpstr>PowerPoint Presentation</vt:lpstr>
      <vt:lpstr>Neural Network</vt:lpstr>
      <vt:lpstr>Neural Network</vt:lpstr>
      <vt:lpstr>Neural Network</vt:lpstr>
      <vt:lpstr>Neural Network – Validation Dataset</vt:lpstr>
      <vt:lpstr>Challenges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19</cp:revision>
  <dcterms:created xsi:type="dcterms:W3CDTF">2025-06-28T09:13:20Z</dcterms:created>
  <dcterms:modified xsi:type="dcterms:W3CDTF">2025-07-07T12:27:40Z</dcterms:modified>
</cp:coreProperties>
</file>